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5" r:id="rId1"/>
  </p:sldMasterIdLst>
  <p:notesMasterIdLst>
    <p:notesMasterId r:id="rId30"/>
  </p:notesMasterIdLst>
  <p:handoutMasterIdLst>
    <p:handoutMasterId r:id="rId31"/>
  </p:handoutMasterIdLst>
  <p:sldIdLst>
    <p:sldId id="328" r:id="rId2"/>
    <p:sldId id="405" r:id="rId3"/>
    <p:sldId id="410" r:id="rId4"/>
    <p:sldId id="406" r:id="rId5"/>
    <p:sldId id="425" r:id="rId6"/>
    <p:sldId id="411" r:id="rId7"/>
    <p:sldId id="412" r:id="rId8"/>
    <p:sldId id="426" r:id="rId9"/>
    <p:sldId id="413" r:id="rId10"/>
    <p:sldId id="356" r:id="rId11"/>
    <p:sldId id="353" r:id="rId12"/>
    <p:sldId id="414" r:id="rId13"/>
    <p:sldId id="409" r:id="rId14"/>
    <p:sldId id="415" r:id="rId15"/>
    <p:sldId id="416" r:id="rId16"/>
    <p:sldId id="418" r:id="rId17"/>
    <p:sldId id="417" r:id="rId18"/>
    <p:sldId id="419" r:id="rId19"/>
    <p:sldId id="421" r:id="rId20"/>
    <p:sldId id="422" r:id="rId21"/>
    <p:sldId id="423" r:id="rId22"/>
    <p:sldId id="424" r:id="rId23"/>
    <p:sldId id="427" r:id="rId24"/>
    <p:sldId id="428" r:id="rId25"/>
    <p:sldId id="354" r:id="rId26"/>
    <p:sldId id="397" r:id="rId27"/>
    <p:sldId id="429" r:id="rId28"/>
    <p:sldId id="407" r:id="rId29"/>
  </p:sldIdLst>
  <p:sldSz cx="6858000" cy="5143500"/>
  <p:notesSz cx="6858000" cy="9144000"/>
  <p:embeddedFontLst>
    <p:embeddedFont>
      <p:font typeface="Palatino Linotype" panose="02040502050505030304" pitchFamily="18" charset="0"/>
      <p:regular r:id="rId32"/>
      <p:bold r:id="rId33"/>
      <p:italic r:id="rId34"/>
      <p:boldItalic r:id="rId35"/>
    </p:embeddedFont>
    <p:embeddedFont>
      <p:font typeface="Roboto Condensed" panose="02000000000000000000" pitchFamily="2" charset="0"/>
      <p:regular r:id="rId36"/>
      <p:bold r:id="rId37"/>
      <p:italic r:id="rId38"/>
      <p:boldItalic r:id="rId39"/>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orient="horz" pos="3162" userDrawn="1">
          <p15:clr>
            <a:srgbClr val="A4A3A4"/>
          </p15:clr>
        </p15:guide>
        <p15:guide id="3" orient="horz" pos="2414" userDrawn="1">
          <p15:clr>
            <a:srgbClr val="A4A3A4"/>
          </p15:clr>
        </p15:guide>
        <p15:guide id="5" orient="horz" pos="2867" userDrawn="1">
          <p15:clr>
            <a:srgbClr val="A4A3A4"/>
          </p15:clr>
        </p15:guide>
        <p15:guide id="6" orient="horz" pos="214" userDrawn="1">
          <p15:clr>
            <a:srgbClr val="A4A3A4"/>
          </p15:clr>
        </p15:guide>
        <p15:guide id="7" orient="horz" pos="696" userDrawn="1">
          <p15:clr>
            <a:srgbClr val="A4A3A4"/>
          </p15:clr>
        </p15:guide>
        <p15:guide id="8" orient="horz" pos="2709" userDrawn="1">
          <p15:clr>
            <a:srgbClr val="A4A3A4"/>
          </p15:clr>
        </p15:guide>
        <p15:guide id="9" pos="1514" userDrawn="1">
          <p15:clr>
            <a:srgbClr val="A4A3A4"/>
          </p15:clr>
        </p15:guide>
        <p15:guide id="10" pos="1292" userDrawn="1">
          <p15:clr>
            <a:srgbClr val="A4A3A4"/>
          </p15:clr>
        </p15:guide>
        <p15:guide id="11" pos="4106" userDrawn="1">
          <p15:clr>
            <a:srgbClr val="A4A3A4"/>
          </p15:clr>
        </p15:guide>
        <p15:guide id="12" pos="221" userDrawn="1">
          <p15:clr>
            <a:srgbClr val="A4A3A4"/>
          </p15:clr>
        </p15:guide>
        <p15:guide id="13" pos="3025" userDrawn="1">
          <p15:clr>
            <a:srgbClr val="A4A3A4"/>
          </p15:clr>
        </p15:guide>
        <p15:guide id="14" pos="2809" userDrawn="1">
          <p15:clr>
            <a:srgbClr val="A4A3A4"/>
          </p15:clr>
        </p15:guide>
        <p15:guide id="15" pos="2378" userDrawn="1">
          <p15:clr>
            <a:srgbClr val="A4A3A4"/>
          </p15:clr>
        </p15:guide>
        <p15:guide id="16" pos="433" userDrawn="1">
          <p15:clr>
            <a:srgbClr val="A4A3A4"/>
          </p15:clr>
        </p15:guide>
        <p15:guide id="17" pos="648" userDrawn="1">
          <p15:clr>
            <a:srgbClr val="A4A3A4"/>
          </p15:clr>
        </p15:guide>
        <p15:guide id="18" pos="867" userDrawn="1">
          <p15:clr>
            <a:srgbClr val="A4A3A4"/>
          </p15:clr>
        </p15:guide>
        <p15:guide id="19" pos="1082" userDrawn="1">
          <p15:clr>
            <a:srgbClr val="A4A3A4"/>
          </p15:clr>
        </p15:guide>
        <p15:guide id="20" pos="1734" userDrawn="1">
          <p15:clr>
            <a:srgbClr val="A4A3A4"/>
          </p15:clr>
        </p15:guide>
        <p15:guide id="21" pos="1946" userDrawn="1">
          <p15:clr>
            <a:srgbClr val="A4A3A4"/>
          </p15:clr>
        </p15:guide>
        <p15:guide id="22" pos="2160" userDrawn="1">
          <p15:clr>
            <a:srgbClr val="A4A3A4"/>
          </p15:clr>
        </p15:guide>
        <p15:guide id="23" pos="2594" userDrawn="1">
          <p15:clr>
            <a:srgbClr val="A4A3A4"/>
          </p15:clr>
        </p15:guide>
        <p15:guide id="25" pos="3453" userDrawn="1">
          <p15:clr>
            <a:srgbClr val="A4A3A4"/>
          </p15:clr>
        </p15:guide>
        <p15:guide id="26" pos="3674" userDrawn="1">
          <p15:clr>
            <a:srgbClr val="A4A3A4"/>
          </p15:clr>
        </p15:guide>
        <p15:guide id="27" pos="3890" userDrawn="1">
          <p15:clr>
            <a:srgbClr val="A4A3A4"/>
          </p15:clr>
        </p15:guide>
        <p15:guide id="28" orient="horz" pos="3153" userDrawn="1">
          <p15:clr>
            <a:srgbClr val="A4A3A4"/>
          </p15:clr>
        </p15:guide>
        <p15:guide id="29" orient="horz" pos="2836" userDrawn="1">
          <p15:clr>
            <a:srgbClr val="A4A3A4"/>
          </p15:clr>
        </p15:guide>
        <p15:guide id="30" pos="324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2F5D"/>
    <a:srgbClr val="5B0503"/>
    <a:srgbClr val="6C7921"/>
    <a:srgbClr val="384519"/>
    <a:srgbClr val="104E28"/>
    <a:srgbClr val="FFFFFF"/>
    <a:srgbClr val="BD9F21"/>
    <a:srgbClr val="FFC864"/>
    <a:srgbClr val="FFBE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839" autoAdjust="0"/>
    <p:restoredTop sz="95033" autoAdjust="0"/>
  </p:normalViewPr>
  <p:slideViewPr>
    <p:cSldViewPr snapToGrid="0" snapToObjects="1">
      <p:cViewPr varScale="1">
        <p:scale>
          <a:sx n="167" d="100"/>
          <a:sy n="167" d="100"/>
        </p:scale>
        <p:origin x="1062" y="138"/>
      </p:cViewPr>
      <p:guideLst>
        <p:guide orient="horz" pos="1620"/>
        <p:guide orient="horz" pos="3162"/>
        <p:guide orient="horz" pos="2414"/>
        <p:guide orient="horz" pos="2867"/>
        <p:guide orient="horz" pos="214"/>
        <p:guide orient="horz" pos="696"/>
        <p:guide orient="horz" pos="2709"/>
        <p:guide pos="1514"/>
        <p:guide pos="1292"/>
        <p:guide pos="4106"/>
        <p:guide pos="221"/>
        <p:guide pos="3025"/>
        <p:guide pos="2809"/>
        <p:guide pos="2378"/>
        <p:guide pos="433"/>
        <p:guide pos="648"/>
        <p:guide pos="867"/>
        <p:guide pos="1082"/>
        <p:guide pos="1734"/>
        <p:guide pos="1946"/>
        <p:guide pos="2160"/>
        <p:guide pos="2594"/>
        <p:guide pos="3453"/>
        <p:guide pos="3674"/>
        <p:guide pos="3890"/>
        <p:guide orient="horz" pos="3153"/>
        <p:guide orient="horz" pos="2836"/>
        <p:guide pos="3241"/>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2772"/>
    </p:cViewPr>
  </p:sorterViewPr>
  <p:notesViewPr>
    <p:cSldViewPr snapToGrid="0" snapToObjects="1" showGuides="1">
      <p:cViewPr varScale="1">
        <p:scale>
          <a:sx n="98" d="100"/>
          <a:sy n="98" d="100"/>
        </p:scale>
        <p:origin x="3594" y="96"/>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52642F8-4030-468B-846F-DE3B6AB6CE0D}" type="datetimeFigureOut">
              <a:rPr lang="de-DE" smtClean="0"/>
              <a:t>07.10.2026</a:t>
            </a:fld>
            <a:endParaRPr 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6AA542-7317-4AC6-A4A4-9C0CA7435764}" type="slidenum">
              <a:rPr lang="de-DE" smtClean="0"/>
              <a:t>‹Nr.›</a:t>
            </a:fld>
            <a:endParaRPr lang="de-DE"/>
          </a:p>
        </p:txBody>
      </p:sp>
    </p:spTree>
    <p:extLst>
      <p:ext uri="{BB962C8B-B14F-4D97-AF65-F5344CB8AC3E}">
        <p14:creationId xmlns:p14="http://schemas.microsoft.com/office/powerpoint/2010/main" val="26024962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AB2040-EA4D-4002-BC41-13AC0377AF84}" type="datetimeFigureOut">
              <a:rPr lang="de-DE" smtClean="0"/>
              <a:t>07.10.2026</a:t>
            </a:fld>
            <a:endParaRPr lang="de-DE"/>
          </a:p>
        </p:txBody>
      </p:sp>
      <p:sp>
        <p:nvSpPr>
          <p:cNvPr id="4" name="Folienbildplatzhalt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DADD7A-5464-40FD-B5CC-4CA36D7CC1F5}" type="slidenum">
              <a:rPr lang="de-DE" smtClean="0"/>
              <a:t>‹Nr.›</a:t>
            </a:fld>
            <a:endParaRPr lang="de-DE"/>
          </a:p>
        </p:txBody>
      </p:sp>
    </p:spTree>
    <p:extLst>
      <p:ext uri="{BB962C8B-B14F-4D97-AF65-F5344CB8AC3E}">
        <p14:creationId xmlns:p14="http://schemas.microsoft.com/office/powerpoint/2010/main" val="149530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143000" y="685800"/>
            <a:ext cx="4572000" cy="3429000"/>
          </a:xfrm>
        </p:spPr>
      </p:sp>
      <p:sp>
        <p:nvSpPr>
          <p:cNvPr id="3" name="Notizenplatzhalter 2"/>
          <p:cNvSpPr>
            <a:spLocks noGrp="1"/>
          </p:cNvSpPr>
          <p:nvPr>
            <p:ph type="body" idx="1"/>
          </p:nvPr>
        </p:nvSpPr>
        <p:spPr/>
        <p:txBody>
          <a:bodyPr/>
          <a:lstStyle/>
          <a:p>
            <a:pPr marL="0" indent="0">
              <a:buFontTx/>
              <a:buNone/>
            </a:pPr>
            <a:endParaRPr lang="de-DE" dirty="0"/>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DADD7A-5464-40FD-B5CC-4CA36D7CC1F5}"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0517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5BDADD7A-5464-40FD-B5CC-4CA36D7CC1F5}" type="slidenum">
              <a:rPr lang="de-DE" smtClean="0"/>
              <a:t>2</a:t>
            </a:fld>
            <a:endParaRPr lang="de-DE"/>
          </a:p>
        </p:txBody>
      </p:sp>
    </p:spTree>
    <p:extLst>
      <p:ext uri="{BB962C8B-B14F-4D97-AF65-F5344CB8AC3E}">
        <p14:creationId xmlns:p14="http://schemas.microsoft.com/office/powerpoint/2010/main" val="3621695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5BDADD7A-5464-40FD-B5CC-4CA36D7CC1F5}" type="slidenum">
              <a:rPr lang="de-DE" smtClean="0"/>
              <a:t>3</a:t>
            </a:fld>
            <a:endParaRPr lang="de-DE"/>
          </a:p>
        </p:txBody>
      </p:sp>
    </p:spTree>
    <p:extLst>
      <p:ext uri="{BB962C8B-B14F-4D97-AF65-F5344CB8AC3E}">
        <p14:creationId xmlns:p14="http://schemas.microsoft.com/office/powerpoint/2010/main" val="1169524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Foliennummernplatzhalter 3"/>
          <p:cNvSpPr>
            <a:spLocks noGrp="1"/>
          </p:cNvSpPr>
          <p:nvPr>
            <p:ph type="sldNum" sz="quarter" idx="5"/>
          </p:nvPr>
        </p:nvSpPr>
        <p:spPr/>
        <p:txBody>
          <a:bodyPr/>
          <a:lstStyle/>
          <a:p>
            <a:fld id="{5BDADD7A-5464-40FD-B5CC-4CA36D7CC1F5}" type="slidenum">
              <a:rPr lang="de-DE" smtClean="0"/>
              <a:t>4</a:t>
            </a:fld>
            <a:endParaRPr lang="de-DE"/>
          </a:p>
        </p:txBody>
      </p:sp>
    </p:spTree>
    <p:extLst>
      <p:ext uri="{BB962C8B-B14F-4D97-AF65-F5344CB8AC3E}">
        <p14:creationId xmlns:p14="http://schemas.microsoft.com/office/powerpoint/2010/main" val="626399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r>
              <a:rPr lang="de-DE" dirty="0" err="1"/>
              <a:t>ToDo</a:t>
            </a:r>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5</a:t>
            </a:fld>
            <a:endParaRPr lang="de-DE"/>
          </a:p>
        </p:txBody>
      </p:sp>
    </p:spTree>
    <p:extLst>
      <p:ext uri="{BB962C8B-B14F-4D97-AF65-F5344CB8AC3E}">
        <p14:creationId xmlns:p14="http://schemas.microsoft.com/office/powerpoint/2010/main" val="3889863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6</a:t>
            </a:fld>
            <a:endParaRPr lang="de-DE"/>
          </a:p>
        </p:txBody>
      </p:sp>
    </p:spTree>
    <p:extLst>
      <p:ext uri="{BB962C8B-B14F-4D97-AF65-F5344CB8AC3E}">
        <p14:creationId xmlns:p14="http://schemas.microsoft.com/office/powerpoint/2010/main" val="2110808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7</a:t>
            </a:fld>
            <a:endParaRPr lang="de-DE"/>
          </a:p>
        </p:txBody>
      </p:sp>
    </p:spTree>
    <p:extLst>
      <p:ext uri="{BB962C8B-B14F-4D97-AF65-F5344CB8AC3E}">
        <p14:creationId xmlns:p14="http://schemas.microsoft.com/office/powerpoint/2010/main" val="1008132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8</a:t>
            </a:fld>
            <a:endParaRPr lang="de-DE"/>
          </a:p>
        </p:txBody>
      </p:sp>
    </p:spTree>
    <p:extLst>
      <p:ext uri="{BB962C8B-B14F-4D97-AF65-F5344CB8AC3E}">
        <p14:creationId xmlns:p14="http://schemas.microsoft.com/office/powerpoint/2010/main" val="3364390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9</a:t>
            </a:fld>
            <a:endParaRPr lang="de-DE"/>
          </a:p>
        </p:txBody>
      </p:sp>
    </p:spTree>
    <p:extLst>
      <p:ext uri="{BB962C8B-B14F-4D97-AF65-F5344CB8AC3E}">
        <p14:creationId xmlns:p14="http://schemas.microsoft.com/office/powerpoint/2010/main" val="38101460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 Deviation-</a:t>
            </a:r>
            <a:r>
              <a:rPr lang="de-DE" dirty="0" err="1"/>
              <a:t>based</a:t>
            </a:r>
            <a:r>
              <a:rPr lang="de-DE" dirty="0"/>
              <a:t> </a:t>
            </a:r>
          </a:p>
          <a:p>
            <a:pPr marL="0" indent="0">
              <a:buFontTx/>
              <a:buNone/>
            </a:pPr>
            <a:r>
              <a:rPr lang="de-DE" dirty="0"/>
              <a:t>- </a:t>
            </a:r>
            <a:r>
              <a:rPr lang="de-DE" dirty="0" err="1"/>
              <a:t>Category-based</a:t>
            </a:r>
            <a:endParaRPr lang="de-DE" dirty="0"/>
          </a:p>
          <a:p>
            <a:pPr marL="0" indent="0">
              <a:buFontTx/>
              <a:buNone/>
            </a:pPr>
            <a:endParaRPr lang="de-DE" dirty="0"/>
          </a:p>
          <a:p>
            <a:pPr marL="171450" indent="-171450">
              <a:buFontTx/>
              <a:buChar char="-"/>
            </a:pPr>
            <a:r>
              <a:rPr lang="de-DE" dirty="0" err="1"/>
              <a:t>Agree</a:t>
            </a:r>
            <a:r>
              <a:rPr lang="de-DE" dirty="0"/>
              <a:t> on </a:t>
            </a:r>
            <a:r>
              <a:rPr lang="de-DE" dirty="0" err="1"/>
              <a:t>two</a:t>
            </a:r>
            <a:r>
              <a:rPr lang="de-DE" dirty="0"/>
              <a:t> </a:t>
            </a:r>
            <a:r>
              <a:rPr lang="de-DE" dirty="0" err="1"/>
              <a:t>things</a:t>
            </a:r>
            <a:r>
              <a:rPr lang="de-DE" dirty="0"/>
              <a:t>: </a:t>
            </a:r>
          </a:p>
          <a:p>
            <a:pPr marL="171450" indent="-171450">
              <a:buFontTx/>
              <a:buChar char="-"/>
            </a:pPr>
            <a:r>
              <a:rPr lang="de-DE" dirty="0" err="1"/>
              <a:t>Subjective</a:t>
            </a:r>
            <a:r>
              <a:rPr lang="de-DE" dirty="0"/>
              <a:t> and </a:t>
            </a:r>
            <a:r>
              <a:rPr lang="de-DE" dirty="0" err="1"/>
              <a:t>multifactorial</a:t>
            </a:r>
            <a:r>
              <a:rPr lang="de-DE" dirty="0"/>
              <a:t>/multidimensional (</a:t>
            </a:r>
            <a:r>
              <a:rPr lang="de-DE" dirty="0" err="1"/>
              <a:t>you</a:t>
            </a:r>
            <a:r>
              <a:rPr lang="de-DE" dirty="0"/>
              <a:t> </a:t>
            </a:r>
            <a:r>
              <a:rPr lang="de-DE" dirty="0" err="1"/>
              <a:t>dont</a:t>
            </a:r>
            <a:r>
              <a:rPr lang="de-DE" dirty="0"/>
              <a:t> </a:t>
            </a:r>
            <a:r>
              <a:rPr lang="de-DE" dirty="0" err="1"/>
              <a:t>know</a:t>
            </a:r>
            <a:r>
              <a:rPr lang="de-DE" dirty="0"/>
              <a:t> </a:t>
            </a:r>
            <a:r>
              <a:rPr lang="de-DE" dirty="0" err="1"/>
              <a:t>whic</a:t>
            </a:r>
            <a:r>
              <a:rPr lang="de-DE" dirty="0"/>
              <a:t> </a:t>
            </a:r>
            <a:r>
              <a:rPr lang="de-DE" dirty="0" err="1"/>
              <a:t>acoustic</a:t>
            </a:r>
            <a:r>
              <a:rPr lang="de-DE" dirty="0"/>
              <a:t> </a:t>
            </a:r>
            <a:r>
              <a:rPr lang="de-DE" dirty="0" err="1"/>
              <a:t>features</a:t>
            </a:r>
            <a:r>
              <a:rPr lang="de-DE" dirty="0"/>
              <a:t> </a:t>
            </a:r>
            <a:r>
              <a:rPr lang="de-DE" dirty="0" err="1"/>
              <a:t>listeners</a:t>
            </a:r>
            <a:r>
              <a:rPr lang="de-DE" dirty="0"/>
              <a:t> </a:t>
            </a:r>
            <a:r>
              <a:rPr lang="de-DE" dirty="0" err="1"/>
              <a:t>attend</a:t>
            </a:r>
            <a:r>
              <a:rPr lang="de-DE" dirty="0"/>
              <a:t> </a:t>
            </a:r>
            <a:r>
              <a:rPr lang="de-DE" dirty="0" err="1"/>
              <a:t>to</a:t>
            </a:r>
            <a:r>
              <a:rPr lang="de-DE" dirty="0"/>
              <a:t>)</a:t>
            </a:r>
          </a:p>
        </p:txBody>
      </p:sp>
      <p:sp>
        <p:nvSpPr>
          <p:cNvPr id="4" name="Foliennummernplatzhalter 3"/>
          <p:cNvSpPr>
            <a:spLocks noGrp="1"/>
          </p:cNvSpPr>
          <p:nvPr>
            <p:ph type="sldNum" sz="quarter" idx="5"/>
          </p:nvPr>
        </p:nvSpPr>
        <p:spPr/>
        <p:txBody>
          <a:bodyPr/>
          <a:lstStyle/>
          <a:p>
            <a:fld id="{5BDADD7A-5464-40FD-B5CC-4CA36D7CC1F5}" type="slidenum">
              <a:rPr lang="de-DE" smtClean="0"/>
              <a:t>10</a:t>
            </a:fld>
            <a:endParaRPr lang="de-DE"/>
          </a:p>
        </p:txBody>
      </p:sp>
    </p:spTree>
    <p:extLst>
      <p:ext uri="{BB962C8B-B14F-4D97-AF65-F5344CB8AC3E}">
        <p14:creationId xmlns:p14="http://schemas.microsoft.com/office/powerpoint/2010/main" val="3165254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buFontTx/>
              <a:buNone/>
            </a:pPr>
            <a:endParaRPr lang="de-DE" dirty="0"/>
          </a:p>
        </p:txBody>
      </p:sp>
      <p:sp>
        <p:nvSpPr>
          <p:cNvPr id="4" name="Foliennummernplatzhalter 3"/>
          <p:cNvSpPr>
            <a:spLocks noGrp="1"/>
          </p:cNvSpPr>
          <p:nvPr>
            <p:ph type="sldNum" sz="quarter" idx="5"/>
          </p:nvPr>
        </p:nvSpPr>
        <p:spPr/>
        <p:txBody>
          <a:bodyPr/>
          <a:lstStyle/>
          <a:p>
            <a:fld id="{5BDADD7A-5464-40FD-B5CC-4CA36D7CC1F5}" type="slidenum">
              <a:rPr lang="de-DE" smtClean="0"/>
              <a:t>11</a:t>
            </a:fld>
            <a:endParaRPr lang="de-DE"/>
          </a:p>
        </p:txBody>
      </p:sp>
    </p:spTree>
    <p:extLst>
      <p:ext uri="{BB962C8B-B14F-4D97-AF65-F5344CB8AC3E}">
        <p14:creationId xmlns:p14="http://schemas.microsoft.com/office/powerpoint/2010/main" val="626399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buFontTx/>
              <a:buNone/>
            </a:pPr>
            <a:endParaRPr lang="de-DE" dirty="0"/>
          </a:p>
        </p:txBody>
      </p:sp>
      <p:sp>
        <p:nvSpPr>
          <p:cNvPr id="4" name="Foliennummernplatzhalter 3"/>
          <p:cNvSpPr>
            <a:spLocks noGrp="1"/>
          </p:cNvSpPr>
          <p:nvPr>
            <p:ph type="sldNum" sz="quarter" idx="5"/>
          </p:nvPr>
        </p:nvSpPr>
        <p:spPr/>
        <p:txBody>
          <a:bodyPr/>
          <a:lstStyle/>
          <a:p>
            <a:fld id="{5BDADD7A-5464-40FD-B5CC-4CA36D7CC1F5}" type="slidenum">
              <a:rPr lang="de-DE" smtClean="0"/>
              <a:t>12</a:t>
            </a:fld>
            <a:endParaRPr lang="de-DE"/>
          </a:p>
        </p:txBody>
      </p:sp>
    </p:spTree>
    <p:extLst>
      <p:ext uri="{BB962C8B-B14F-4D97-AF65-F5344CB8AC3E}">
        <p14:creationId xmlns:p14="http://schemas.microsoft.com/office/powerpoint/2010/main" val="17393972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p:txBody>
      </p:sp>
      <p:sp>
        <p:nvSpPr>
          <p:cNvPr id="4" name="Foliennummernplatzhalter 3"/>
          <p:cNvSpPr>
            <a:spLocks noGrp="1"/>
          </p:cNvSpPr>
          <p:nvPr>
            <p:ph type="sldNum" sz="quarter" idx="5"/>
          </p:nvPr>
        </p:nvSpPr>
        <p:spPr/>
        <p:txBody>
          <a:bodyPr/>
          <a:lstStyle/>
          <a:p>
            <a:fld id="{5BDADD7A-5464-40FD-B5CC-4CA36D7CC1F5}" type="slidenum">
              <a:rPr lang="de-DE" smtClean="0"/>
              <a:t>13</a:t>
            </a:fld>
            <a:endParaRPr lang="de-DE"/>
          </a:p>
        </p:txBody>
      </p:sp>
    </p:spTree>
    <p:extLst>
      <p:ext uri="{BB962C8B-B14F-4D97-AF65-F5344CB8AC3E}">
        <p14:creationId xmlns:p14="http://schemas.microsoft.com/office/powerpoint/2010/main" val="2992073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r>
              <a:rPr lang="de-DE" dirty="0" err="1"/>
              <a:t>ToDo</a:t>
            </a:r>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14</a:t>
            </a:fld>
            <a:endParaRPr lang="de-DE"/>
          </a:p>
        </p:txBody>
      </p:sp>
    </p:spTree>
    <p:extLst>
      <p:ext uri="{BB962C8B-B14F-4D97-AF65-F5344CB8AC3E}">
        <p14:creationId xmlns:p14="http://schemas.microsoft.com/office/powerpoint/2010/main" val="2199466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15</a:t>
            </a:fld>
            <a:endParaRPr lang="de-DE"/>
          </a:p>
        </p:txBody>
      </p:sp>
    </p:spTree>
    <p:extLst>
      <p:ext uri="{BB962C8B-B14F-4D97-AF65-F5344CB8AC3E}">
        <p14:creationId xmlns:p14="http://schemas.microsoft.com/office/powerpoint/2010/main" val="1819133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16</a:t>
            </a:fld>
            <a:endParaRPr lang="de-DE"/>
          </a:p>
        </p:txBody>
      </p:sp>
    </p:spTree>
    <p:extLst>
      <p:ext uri="{BB962C8B-B14F-4D97-AF65-F5344CB8AC3E}">
        <p14:creationId xmlns:p14="http://schemas.microsoft.com/office/powerpoint/2010/main" val="336869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17</a:t>
            </a:fld>
            <a:endParaRPr lang="de-DE"/>
          </a:p>
        </p:txBody>
      </p:sp>
    </p:spTree>
    <p:extLst>
      <p:ext uri="{BB962C8B-B14F-4D97-AF65-F5344CB8AC3E}">
        <p14:creationId xmlns:p14="http://schemas.microsoft.com/office/powerpoint/2010/main" val="725327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r>
              <a:rPr lang="de-DE" dirty="0" err="1"/>
              <a:t>ToDo</a:t>
            </a:r>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18</a:t>
            </a:fld>
            <a:endParaRPr lang="de-DE"/>
          </a:p>
        </p:txBody>
      </p:sp>
    </p:spTree>
    <p:extLst>
      <p:ext uri="{BB962C8B-B14F-4D97-AF65-F5344CB8AC3E}">
        <p14:creationId xmlns:p14="http://schemas.microsoft.com/office/powerpoint/2010/main" val="36817859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r>
              <a:rPr lang="de-DE" dirty="0" err="1"/>
              <a:t>ToDo</a:t>
            </a:r>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19</a:t>
            </a:fld>
            <a:endParaRPr lang="de-DE"/>
          </a:p>
        </p:txBody>
      </p:sp>
    </p:spTree>
    <p:extLst>
      <p:ext uri="{BB962C8B-B14F-4D97-AF65-F5344CB8AC3E}">
        <p14:creationId xmlns:p14="http://schemas.microsoft.com/office/powerpoint/2010/main" val="75339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r>
              <a:rPr lang="de-DE" dirty="0" err="1"/>
              <a:t>ToDo</a:t>
            </a:r>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20</a:t>
            </a:fld>
            <a:endParaRPr lang="de-DE"/>
          </a:p>
        </p:txBody>
      </p:sp>
    </p:spTree>
    <p:extLst>
      <p:ext uri="{BB962C8B-B14F-4D97-AF65-F5344CB8AC3E}">
        <p14:creationId xmlns:p14="http://schemas.microsoft.com/office/powerpoint/2010/main" val="24600856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r>
              <a:rPr lang="de-DE" dirty="0" err="1"/>
              <a:t>ToDo</a:t>
            </a:r>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21</a:t>
            </a:fld>
            <a:endParaRPr lang="de-DE"/>
          </a:p>
        </p:txBody>
      </p:sp>
    </p:spTree>
    <p:extLst>
      <p:ext uri="{BB962C8B-B14F-4D97-AF65-F5344CB8AC3E}">
        <p14:creationId xmlns:p14="http://schemas.microsoft.com/office/powerpoint/2010/main" val="40600157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22</a:t>
            </a:fld>
            <a:endParaRPr lang="de-DE"/>
          </a:p>
        </p:txBody>
      </p:sp>
    </p:spTree>
    <p:extLst>
      <p:ext uri="{BB962C8B-B14F-4D97-AF65-F5344CB8AC3E}">
        <p14:creationId xmlns:p14="http://schemas.microsoft.com/office/powerpoint/2010/main" val="41042573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BD0F7-3EA9-3E40-1E1D-63DA6169471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94D3364-51A3-A1A4-70D4-6ECCE7A4822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38C39D7-5EE5-536D-5E84-7FD78AC6AC18}"/>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2E2E0EF-F69E-B87C-9F73-4B4AAF08E94B}"/>
              </a:ext>
            </a:extLst>
          </p:cNvPr>
          <p:cNvSpPr>
            <a:spLocks noGrp="1"/>
          </p:cNvSpPr>
          <p:nvPr>
            <p:ph type="sldNum" sz="quarter" idx="5"/>
          </p:nvPr>
        </p:nvSpPr>
        <p:spPr/>
        <p:txBody>
          <a:bodyPr/>
          <a:lstStyle/>
          <a:p>
            <a:fld id="{5BDADD7A-5464-40FD-B5CC-4CA36D7CC1F5}" type="slidenum">
              <a:rPr lang="de-DE" smtClean="0"/>
              <a:t>23</a:t>
            </a:fld>
            <a:endParaRPr lang="de-DE"/>
          </a:p>
        </p:txBody>
      </p:sp>
    </p:spTree>
    <p:extLst>
      <p:ext uri="{BB962C8B-B14F-4D97-AF65-F5344CB8AC3E}">
        <p14:creationId xmlns:p14="http://schemas.microsoft.com/office/powerpoint/2010/main" val="18554532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08C26-3A38-7F5A-562B-35388DCC731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D2C5E9B-AE0F-00B9-C76B-F042E1FADB5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4933849-D8BE-7B45-55F6-E5B5C3321BDF}"/>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1B151728-795B-50AD-D52B-4C13CFBA452C}"/>
              </a:ext>
            </a:extLst>
          </p:cNvPr>
          <p:cNvSpPr>
            <a:spLocks noGrp="1"/>
          </p:cNvSpPr>
          <p:nvPr>
            <p:ph type="sldNum" sz="quarter" idx="5"/>
          </p:nvPr>
        </p:nvSpPr>
        <p:spPr/>
        <p:txBody>
          <a:bodyPr/>
          <a:lstStyle/>
          <a:p>
            <a:fld id="{5BDADD7A-5464-40FD-B5CC-4CA36D7CC1F5}" type="slidenum">
              <a:rPr lang="de-DE" smtClean="0"/>
              <a:t>24</a:t>
            </a:fld>
            <a:endParaRPr lang="de-DE"/>
          </a:p>
        </p:txBody>
      </p:sp>
    </p:spTree>
    <p:extLst>
      <p:ext uri="{BB962C8B-B14F-4D97-AF65-F5344CB8AC3E}">
        <p14:creationId xmlns:p14="http://schemas.microsoft.com/office/powerpoint/2010/main" val="41438725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5BDADD7A-5464-40FD-B5CC-4CA36D7CC1F5}" type="slidenum">
              <a:rPr lang="de-DE" smtClean="0"/>
              <a:t>25</a:t>
            </a:fld>
            <a:endParaRPr lang="de-DE"/>
          </a:p>
        </p:txBody>
      </p:sp>
    </p:spTree>
    <p:extLst>
      <p:ext uri="{BB962C8B-B14F-4D97-AF65-F5344CB8AC3E}">
        <p14:creationId xmlns:p14="http://schemas.microsoft.com/office/powerpoint/2010/main" val="245413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F5EB3-E294-FFEC-BE71-24E4DB4DF96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346B5F-071C-825F-B6FC-187BF6906CD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6A1BD15-BC48-A1EE-BE5E-65EB58ED2A75}"/>
              </a:ext>
            </a:extLst>
          </p:cNvPr>
          <p:cNvSpPr>
            <a:spLocks noGrp="1"/>
          </p:cNvSpPr>
          <p:nvPr>
            <p:ph type="body" idx="1"/>
          </p:nvPr>
        </p:nvSpPr>
        <p:spPr/>
        <p:txBody>
          <a:bodyPr/>
          <a:lstStyle/>
          <a:p>
            <a:pPr marL="171450" indent="-171450">
              <a:buFont typeface="Wingdings" panose="05000000000000000000" pitchFamily="2" charset="2"/>
              <a:buChar char="è"/>
            </a:pPr>
            <a:r>
              <a:rPr lang="de-DE" dirty="0" err="1"/>
              <a:t>Where</a:t>
            </a:r>
            <a:r>
              <a:rPr lang="de-DE" dirty="0"/>
              <a:t> </a:t>
            </a:r>
            <a:r>
              <a:rPr lang="de-DE" dirty="0" err="1"/>
              <a:t>does</a:t>
            </a:r>
            <a:r>
              <a:rPr lang="de-DE" dirty="0"/>
              <a:t> </a:t>
            </a:r>
            <a:r>
              <a:rPr lang="de-DE" dirty="0" err="1"/>
              <a:t>naturalness</a:t>
            </a:r>
            <a:r>
              <a:rPr lang="de-DE" dirty="0"/>
              <a:t> </a:t>
            </a:r>
            <a:r>
              <a:rPr lang="de-DE" dirty="0" err="1"/>
              <a:t>affect</a:t>
            </a:r>
            <a:r>
              <a:rPr lang="de-DE" dirty="0"/>
              <a:t> </a:t>
            </a:r>
            <a:r>
              <a:rPr lang="de-DE" dirty="0" err="1"/>
              <a:t>the</a:t>
            </a:r>
            <a:r>
              <a:rPr lang="de-DE" dirty="0"/>
              <a:t> </a:t>
            </a:r>
            <a:r>
              <a:rPr lang="de-DE" dirty="0" err="1"/>
              <a:t>processing</a:t>
            </a:r>
            <a:r>
              <a:rPr lang="de-DE" dirty="0"/>
              <a:t> </a:t>
            </a:r>
            <a:r>
              <a:rPr lang="de-DE" dirty="0" err="1"/>
              <a:t>pipeline</a:t>
            </a:r>
            <a:r>
              <a:rPr lang="de-DE" dirty="0"/>
              <a:t>?</a:t>
            </a:r>
          </a:p>
        </p:txBody>
      </p:sp>
      <p:sp>
        <p:nvSpPr>
          <p:cNvPr id="4" name="Foliennummernplatzhalter 3">
            <a:extLst>
              <a:ext uri="{FF2B5EF4-FFF2-40B4-BE49-F238E27FC236}">
                <a16:creationId xmlns:a16="http://schemas.microsoft.com/office/drawing/2014/main" id="{BE9E9BEA-8EFC-1170-B87A-673061B009B6}"/>
              </a:ext>
            </a:extLst>
          </p:cNvPr>
          <p:cNvSpPr>
            <a:spLocks noGrp="1"/>
          </p:cNvSpPr>
          <p:nvPr>
            <p:ph type="sldNum" sz="quarter" idx="5"/>
          </p:nvPr>
        </p:nvSpPr>
        <p:spPr/>
        <p:txBody>
          <a:bodyPr/>
          <a:lstStyle/>
          <a:p>
            <a:fld id="{5BDADD7A-5464-40FD-B5CC-4CA36D7CC1F5}" type="slidenum">
              <a:rPr lang="de-DE" smtClean="0"/>
              <a:t>26</a:t>
            </a:fld>
            <a:endParaRPr lang="de-DE"/>
          </a:p>
        </p:txBody>
      </p:sp>
    </p:spTree>
    <p:extLst>
      <p:ext uri="{BB962C8B-B14F-4D97-AF65-F5344CB8AC3E}">
        <p14:creationId xmlns:p14="http://schemas.microsoft.com/office/powerpoint/2010/main" val="27017415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86302-78E3-2FB2-2F2D-7752ACFF29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022094E-97F4-4C5A-67F9-8F06B3A275E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ADCD5D5-569C-9455-060E-996F1B3F86E2}"/>
              </a:ext>
            </a:extLst>
          </p:cNvPr>
          <p:cNvSpPr>
            <a:spLocks noGrp="1"/>
          </p:cNvSpPr>
          <p:nvPr>
            <p:ph type="body" idx="1"/>
          </p:nvPr>
        </p:nvSpPr>
        <p:spPr/>
        <p:txBody>
          <a:bodyPr/>
          <a:lstStyle/>
          <a:p>
            <a:pPr marL="171450" indent="-171450">
              <a:buFont typeface="Wingdings" panose="05000000000000000000" pitchFamily="2" charset="2"/>
              <a:buChar char="è"/>
            </a:pPr>
            <a:r>
              <a:rPr lang="de-DE" dirty="0" err="1"/>
              <a:t>Where</a:t>
            </a:r>
            <a:r>
              <a:rPr lang="de-DE" dirty="0"/>
              <a:t> </a:t>
            </a:r>
            <a:r>
              <a:rPr lang="de-DE" dirty="0" err="1"/>
              <a:t>does</a:t>
            </a:r>
            <a:r>
              <a:rPr lang="de-DE" dirty="0"/>
              <a:t> </a:t>
            </a:r>
            <a:r>
              <a:rPr lang="de-DE" dirty="0" err="1"/>
              <a:t>naturalness</a:t>
            </a:r>
            <a:r>
              <a:rPr lang="de-DE" dirty="0"/>
              <a:t> </a:t>
            </a:r>
            <a:r>
              <a:rPr lang="de-DE" dirty="0" err="1"/>
              <a:t>affect</a:t>
            </a:r>
            <a:r>
              <a:rPr lang="de-DE" dirty="0"/>
              <a:t> </a:t>
            </a:r>
            <a:r>
              <a:rPr lang="de-DE" dirty="0" err="1"/>
              <a:t>the</a:t>
            </a:r>
            <a:r>
              <a:rPr lang="de-DE" dirty="0"/>
              <a:t> </a:t>
            </a:r>
            <a:r>
              <a:rPr lang="de-DE" dirty="0" err="1"/>
              <a:t>processing</a:t>
            </a:r>
            <a:r>
              <a:rPr lang="de-DE" dirty="0"/>
              <a:t> </a:t>
            </a:r>
            <a:r>
              <a:rPr lang="de-DE" dirty="0" err="1"/>
              <a:t>pipeline</a:t>
            </a:r>
            <a:r>
              <a:rPr lang="de-DE" dirty="0"/>
              <a:t>?</a:t>
            </a:r>
          </a:p>
        </p:txBody>
      </p:sp>
      <p:sp>
        <p:nvSpPr>
          <p:cNvPr id="4" name="Foliennummernplatzhalter 3">
            <a:extLst>
              <a:ext uri="{FF2B5EF4-FFF2-40B4-BE49-F238E27FC236}">
                <a16:creationId xmlns:a16="http://schemas.microsoft.com/office/drawing/2014/main" id="{07205825-012B-70EE-5C6C-588A125DCCF4}"/>
              </a:ext>
            </a:extLst>
          </p:cNvPr>
          <p:cNvSpPr>
            <a:spLocks noGrp="1"/>
          </p:cNvSpPr>
          <p:nvPr>
            <p:ph type="sldNum" sz="quarter" idx="5"/>
          </p:nvPr>
        </p:nvSpPr>
        <p:spPr/>
        <p:txBody>
          <a:bodyPr/>
          <a:lstStyle/>
          <a:p>
            <a:fld id="{5BDADD7A-5464-40FD-B5CC-4CA36D7CC1F5}" type="slidenum">
              <a:rPr lang="de-DE" smtClean="0"/>
              <a:t>27</a:t>
            </a:fld>
            <a:endParaRPr lang="de-DE"/>
          </a:p>
        </p:txBody>
      </p:sp>
    </p:spTree>
    <p:extLst>
      <p:ext uri="{BB962C8B-B14F-4D97-AF65-F5344CB8AC3E}">
        <p14:creationId xmlns:p14="http://schemas.microsoft.com/office/powerpoint/2010/main" val="30291810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err="1"/>
              <a:t>Good</a:t>
            </a:r>
            <a:r>
              <a:rPr lang="de-DE" dirty="0"/>
              <a:t> </a:t>
            </a:r>
            <a:r>
              <a:rPr lang="de-DE" dirty="0" err="1"/>
              <a:t>starting</a:t>
            </a:r>
            <a:r>
              <a:rPr lang="de-DE" dirty="0"/>
              <a:t> </a:t>
            </a:r>
            <a:r>
              <a:rPr lang="de-DE" dirty="0" err="1"/>
              <a:t>point</a:t>
            </a:r>
            <a:endParaRPr lang="de-DE"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err="1"/>
              <a:t>We</a:t>
            </a:r>
            <a:r>
              <a:rPr lang="de-DE" dirty="0"/>
              <a:t> form </a:t>
            </a:r>
            <a:r>
              <a:rPr lang="de-DE" dirty="0" err="1"/>
              <a:t>impressions</a:t>
            </a:r>
            <a:r>
              <a:rPr lang="de-DE" dirty="0"/>
              <a:t> </a:t>
            </a:r>
            <a:r>
              <a:rPr lang="de-DE" dirty="0" err="1"/>
              <a:t>about</a:t>
            </a:r>
            <a:r>
              <a:rPr lang="de-DE" dirty="0"/>
              <a:t> </a:t>
            </a:r>
            <a:r>
              <a:rPr lang="de-DE" dirty="0" err="1"/>
              <a:t>voices</a:t>
            </a:r>
            <a:r>
              <a:rPr lang="de-DE" dirty="0"/>
              <a:t> </a:t>
            </a:r>
            <a:r>
              <a:rPr lang="de-DE" dirty="0" err="1"/>
              <a:t>the</a:t>
            </a:r>
            <a:r>
              <a:rPr lang="de-DE" dirty="0"/>
              <a:t> </a:t>
            </a:r>
            <a:r>
              <a:rPr lang="de-DE" dirty="0" err="1"/>
              <a:t>moment</a:t>
            </a:r>
            <a:r>
              <a:rPr lang="de-DE" dirty="0"/>
              <a:t> </a:t>
            </a:r>
            <a:r>
              <a:rPr lang="de-DE" dirty="0" err="1"/>
              <a:t>we</a:t>
            </a:r>
            <a:r>
              <a:rPr lang="de-DE" dirty="0"/>
              <a:t> </a:t>
            </a:r>
            <a:r>
              <a:rPr lang="de-DE" dirty="0" err="1"/>
              <a:t>hear</a:t>
            </a:r>
            <a:r>
              <a:rPr lang="de-DE" dirty="0"/>
              <a:t> </a:t>
            </a:r>
            <a:r>
              <a:rPr lang="de-DE" dirty="0" err="1"/>
              <a:t>them</a:t>
            </a:r>
            <a:endParaRPr lang="de-DE"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err="1"/>
              <a:t>Manifold</a:t>
            </a:r>
            <a:r>
              <a:rPr lang="de-DE" dirty="0"/>
              <a:t>, and </a:t>
            </a:r>
            <a:r>
              <a:rPr lang="de-DE" dirty="0" err="1"/>
              <a:t>they</a:t>
            </a:r>
            <a:r>
              <a:rPr lang="de-DE" dirty="0"/>
              <a:t> </a:t>
            </a:r>
            <a:r>
              <a:rPr lang="de-DE" dirty="0" err="1"/>
              <a:t>interact</a:t>
            </a:r>
            <a:endParaRPr lang="de-DE"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a:t>I </a:t>
            </a:r>
            <a:r>
              <a:rPr lang="de-DE" dirty="0" err="1"/>
              <a:t>added</a:t>
            </a:r>
            <a:r>
              <a:rPr lang="de-DE" dirty="0"/>
              <a:t> </a:t>
            </a:r>
            <a:r>
              <a:rPr lang="de-DE" dirty="0" err="1"/>
              <a:t>two</a:t>
            </a:r>
            <a:r>
              <a:rPr lang="de-DE" dirty="0"/>
              <a:t>…</a:t>
            </a:r>
          </a:p>
          <a:p>
            <a:pPr marL="171450" indent="-171450">
              <a:buFontTx/>
              <a:buChar char="-"/>
            </a:pPr>
            <a:r>
              <a:rPr lang="de-DE" dirty="0"/>
              <a:t>„</a:t>
            </a:r>
            <a:r>
              <a:rPr lang="en-US" sz="1200" b="0" i="0" u="none" strike="noStrike" kern="1200" baseline="0" dirty="0">
                <a:solidFill>
                  <a:schemeClr val="tx1"/>
                </a:solidFill>
                <a:latin typeface="+mn-lt"/>
                <a:ea typeface="+mn-ea"/>
                <a:cs typeface="+mn-cs"/>
              </a:rPr>
              <a:t>When hearing a voice, listeners can form a detailed impression of the person behind the </a:t>
            </a:r>
            <a:r>
              <a:rPr lang="de-DE" sz="1200" b="0" i="0" u="none" strike="noStrike" kern="1200" baseline="0" dirty="0" err="1">
                <a:solidFill>
                  <a:schemeClr val="tx1"/>
                </a:solidFill>
                <a:latin typeface="+mn-lt"/>
                <a:ea typeface="+mn-ea"/>
                <a:cs typeface="+mn-cs"/>
              </a:rPr>
              <a:t>voice</a:t>
            </a:r>
            <a:r>
              <a:rPr lang="de-DE" sz="1200" b="0" i="0" u="none" strike="noStrike" kern="1200" baseline="0" dirty="0">
                <a:solidFill>
                  <a:schemeClr val="tx1"/>
                </a:solidFill>
                <a:latin typeface="+mn-lt"/>
                <a:ea typeface="+mn-ea"/>
                <a:cs typeface="+mn-cs"/>
              </a:rPr>
              <a:t>. </a:t>
            </a:r>
            <a:r>
              <a:rPr lang="de-DE" dirty="0"/>
              <a:t>“</a:t>
            </a:r>
          </a:p>
          <a:p>
            <a:r>
              <a:rPr lang="de-DE" dirty="0"/>
              <a:t>- “</a:t>
            </a:r>
            <a:r>
              <a:rPr lang="de-DE" sz="1200" b="0" i="0" u="none" strike="noStrike" kern="1200" baseline="0" dirty="0" err="1">
                <a:solidFill>
                  <a:schemeClr val="tx1"/>
                </a:solidFill>
                <a:latin typeface="+mn-lt"/>
                <a:ea typeface="+mn-ea"/>
                <a:cs typeface="+mn-cs"/>
              </a:rPr>
              <a:t>how</a:t>
            </a:r>
            <a:r>
              <a:rPr lang="de-DE" sz="1200" b="0" i="0" u="none" strike="noStrike" kern="1200" baseline="0" dirty="0">
                <a:solidFill>
                  <a:schemeClr val="tx1"/>
                </a:solidFill>
                <a:latin typeface="+mn-lt"/>
                <a:ea typeface="+mn-ea"/>
                <a:cs typeface="+mn-cs"/>
              </a:rPr>
              <a:t> </a:t>
            </a:r>
            <a:r>
              <a:rPr lang="de-DE" sz="1200" b="0" i="0" u="none" strike="noStrike" kern="1200" baseline="0" dirty="0" err="1">
                <a:solidFill>
                  <a:schemeClr val="tx1"/>
                </a:solidFill>
                <a:latin typeface="+mn-lt"/>
                <a:ea typeface="+mn-ea"/>
                <a:cs typeface="+mn-cs"/>
              </a:rPr>
              <a:t>the</a:t>
            </a:r>
            <a:r>
              <a:rPr lang="de-DE"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perception of different person characteristics may interact and </a:t>
            </a:r>
            <a:r>
              <a:rPr lang="de-DE" sz="1200" b="0" i="0" u="none" strike="noStrike" kern="1200" baseline="0" dirty="0" err="1">
                <a:solidFill>
                  <a:schemeClr val="tx1"/>
                </a:solidFill>
                <a:latin typeface="+mn-lt"/>
                <a:ea typeface="+mn-ea"/>
                <a:cs typeface="+mn-cs"/>
              </a:rPr>
              <a:t>inform</a:t>
            </a:r>
            <a:r>
              <a:rPr lang="de-DE" sz="1200" b="0" i="0" u="none" strike="noStrike" kern="1200" baseline="0" dirty="0">
                <a:solidFill>
                  <a:schemeClr val="tx1"/>
                </a:solidFill>
                <a:latin typeface="+mn-lt"/>
                <a:ea typeface="+mn-ea"/>
                <a:cs typeface="+mn-cs"/>
              </a:rPr>
              <a:t> </a:t>
            </a:r>
            <a:r>
              <a:rPr lang="de-DE" sz="1200" b="0" i="0" u="none" strike="noStrike" kern="1200" baseline="0" dirty="0" err="1">
                <a:solidFill>
                  <a:schemeClr val="tx1"/>
                </a:solidFill>
                <a:latin typeface="+mn-lt"/>
                <a:ea typeface="+mn-ea"/>
                <a:cs typeface="+mn-cs"/>
              </a:rPr>
              <a:t>each</a:t>
            </a:r>
            <a:r>
              <a:rPr lang="de-DE" sz="1200" b="0" i="0" u="none" strike="noStrike" kern="1200" baseline="0" dirty="0">
                <a:solidFill>
                  <a:schemeClr val="tx1"/>
                </a:solidFill>
                <a:latin typeface="+mn-lt"/>
                <a:ea typeface="+mn-ea"/>
                <a:cs typeface="+mn-cs"/>
              </a:rPr>
              <a:t> </a:t>
            </a:r>
            <a:r>
              <a:rPr lang="de-DE" sz="1200" b="0" i="0" u="none" strike="noStrike" kern="1200" baseline="0" dirty="0" err="1">
                <a:solidFill>
                  <a:schemeClr val="tx1"/>
                </a:solidFill>
                <a:latin typeface="+mn-lt"/>
                <a:ea typeface="+mn-ea"/>
                <a:cs typeface="+mn-cs"/>
              </a:rPr>
              <a:t>other</a:t>
            </a:r>
            <a:r>
              <a:rPr lang="de-DE" sz="1200" b="0" i="0" u="none" strike="noStrike" kern="1200" baseline="0" dirty="0">
                <a:solidFill>
                  <a:schemeClr val="tx1"/>
                </a:solidFill>
                <a:latin typeface="+mn-lt"/>
                <a:ea typeface="+mn-ea"/>
                <a:cs typeface="+mn-cs"/>
              </a:rPr>
              <a:t>,</a:t>
            </a:r>
            <a:r>
              <a:rPr lang="de-DE"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-&gt; Theory </a:t>
            </a:r>
            <a:r>
              <a:rPr lang="de-DE" dirty="0" err="1"/>
              <a:t>driven</a:t>
            </a:r>
            <a:r>
              <a:rPr lang="de-DE" dirty="0"/>
              <a:t> </a:t>
            </a:r>
            <a:r>
              <a:rPr lang="de-DE" dirty="0" err="1"/>
              <a:t>thinking</a:t>
            </a:r>
            <a:r>
              <a:rPr lang="de-DE" dirty="0"/>
              <a:t> </a:t>
            </a:r>
            <a:r>
              <a:rPr lang="de-DE" dirty="0" err="1"/>
              <a:t>may</a:t>
            </a:r>
            <a:r>
              <a:rPr lang="de-DE" dirty="0"/>
              <a:t> prompt </a:t>
            </a:r>
            <a:r>
              <a:rPr lang="de-DE" dirty="0" err="1"/>
              <a:t>some</a:t>
            </a:r>
            <a:r>
              <a:rPr lang="de-DE" dirty="0"/>
              <a:t> </a:t>
            </a:r>
            <a:r>
              <a:rPr lang="de-DE" dirty="0" err="1"/>
              <a:t>obvious</a:t>
            </a:r>
            <a:r>
              <a:rPr lang="de-DE" dirty="0"/>
              <a:t> </a:t>
            </a:r>
            <a:r>
              <a:rPr lang="de-DE" dirty="0" err="1"/>
              <a:t>research</a:t>
            </a:r>
            <a:r>
              <a:rPr lang="de-DE" dirty="0"/>
              <a:t> </a:t>
            </a:r>
            <a:r>
              <a:rPr lang="de-DE" dirty="0" err="1"/>
              <a:t>questions</a:t>
            </a:r>
            <a:r>
              <a:rPr lang="de-DE" dirty="0"/>
              <a:t> </a:t>
            </a:r>
            <a:r>
              <a:rPr lang="de-DE" dirty="0" err="1"/>
              <a:t>that</a:t>
            </a:r>
            <a:r>
              <a:rPr lang="de-DE" dirty="0"/>
              <a:t> </a:t>
            </a:r>
            <a:r>
              <a:rPr lang="de-DE" dirty="0" err="1"/>
              <a:t>have</a:t>
            </a:r>
            <a:r>
              <a:rPr lang="de-DE" dirty="0"/>
              <a:t> not </a:t>
            </a:r>
            <a:r>
              <a:rPr lang="de-DE" dirty="0" err="1"/>
              <a:t>been</a:t>
            </a:r>
            <a:r>
              <a:rPr lang="de-DE" dirty="0"/>
              <a:t> </a:t>
            </a:r>
            <a:r>
              <a:rPr lang="de-DE" dirty="0" err="1"/>
              <a:t>answered</a:t>
            </a:r>
            <a:r>
              <a:rPr lang="de-DE" dirty="0"/>
              <a:t> </a:t>
            </a:r>
            <a:r>
              <a:rPr lang="de-DE" dirty="0" err="1"/>
              <a:t>yet</a:t>
            </a:r>
            <a:endParaRPr lang="de-DE" dirty="0"/>
          </a:p>
          <a:p>
            <a:pPr marL="0" indent="0">
              <a:buFontTx/>
              <a:buNone/>
            </a:pPr>
            <a:endParaRPr lang="de-DE" dirty="0"/>
          </a:p>
        </p:txBody>
      </p:sp>
      <p:sp>
        <p:nvSpPr>
          <p:cNvPr id="4" name="Foliennummernplatzhalter 3"/>
          <p:cNvSpPr>
            <a:spLocks noGrp="1"/>
          </p:cNvSpPr>
          <p:nvPr>
            <p:ph type="sldNum" sz="quarter" idx="5"/>
          </p:nvPr>
        </p:nvSpPr>
        <p:spPr/>
        <p:txBody>
          <a:bodyPr/>
          <a:lstStyle/>
          <a:p>
            <a:fld id="{5BDADD7A-5464-40FD-B5CC-4CA36D7CC1F5}" type="slidenum">
              <a:rPr lang="de-DE" smtClean="0"/>
              <a:t>28</a:t>
            </a:fld>
            <a:endParaRPr lang="de-DE"/>
          </a:p>
        </p:txBody>
      </p:sp>
    </p:spTree>
    <p:extLst>
      <p:ext uri="{BB962C8B-B14F-4D97-AF65-F5344CB8AC3E}">
        <p14:creationId xmlns:p14="http://schemas.microsoft.com/office/powerpoint/2010/main" val="6263998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haltsseite">
    <p:spTree>
      <p:nvGrpSpPr>
        <p:cNvPr id="1" name=""/>
        <p:cNvGrpSpPr/>
        <p:nvPr/>
      </p:nvGrpSpPr>
      <p:grpSpPr>
        <a:xfrm>
          <a:off x="0" y="0"/>
          <a:ext cx="0" cy="0"/>
          <a:chOff x="0" y="0"/>
          <a:chExt cx="0" cy="0"/>
        </a:xfrm>
      </p:grpSpPr>
      <p:sp>
        <p:nvSpPr>
          <p:cNvPr id="2" name="Rechteck 1"/>
          <p:cNvSpPr/>
          <p:nvPr userDrawn="1"/>
        </p:nvSpPr>
        <p:spPr>
          <a:xfrm flipV="1">
            <a:off x="-1" y="4500000"/>
            <a:ext cx="3442500" cy="396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pic>
        <p:nvPicPr>
          <p:cNvPr id="7" name="Grafik 6"/>
          <p:cNvPicPr preferRelativeResize="0">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3430787" y="4500000"/>
            <a:ext cx="3429000" cy="39600"/>
          </a:xfrm>
          <a:prstGeom prst="rect">
            <a:avLst/>
          </a:prstGeom>
        </p:spPr>
      </p:pic>
      <p:sp>
        <p:nvSpPr>
          <p:cNvPr id="9" name="Textplatzhalter 24"/>
          <p:cNvSpPr>
            <a:spLocks noGrp="1"/>
          </p:cNvSpPr>
          <p:nvPr>
            <p:ph type="body" sz="quarter" idx="11" hasCustomPrompt="1"/>
          </p:nvPr>
        </p:nvSpPr>
        <p:spPr>
          <a:xfrm>
            <a:off x="2249685" y="4719770"/>
            <a:ext cx="4266010" cy="144000"/>
          </a:xfrm>
        </p:spPr>
        <p:txBody>
          <a:bodyPr>
            <a:noAutofit/>
          </a:bodyPr>
          <a:lstStyle>
            <a:lvl1pPr marL="0" indent="0" algn="r">
              <a:buFontTx/>
              <a:buNone/>
              <a:defRPr lang="de-DE" sz="75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r>
              <a:rPr lang="en-US" sz="800" dirty="0" err="1"/>
              <a:t>Natürlichkeit</a:t>
            </a:r>
            <a:r>
              <a:rPr lang="en-US" sz="800" dirty="0"/>
              <a:t> von </a:t>
            </a:r>
            <a:r>
              <a:rPr lang="en-US" sz="800" dirty="0" err="1"/>
              <a:t>Stimmen</a:t>
            </a:r>
            <a:endParaRPr lang="de-DE" dirty="0"/>
          </a:p>
        </p:txBody>
      </p:sp>
      <p:sp>
        <p:nvSpPr>
          <p:cNvPr id="6" name="Textplatzhalter 24"/>
          <p:cNvSpPr txBox="1">
            <a:spLocks/>
          </p:cNvSpPr>
          <p:nvPr userDrawn="1"/>
        </p:nvSpPr>
        <p:spPr>
          <a:xfrm>
            <a:off x="2641231" y="4884575"/>
            <a:ext cx="3874464" cy="154205"/>
          </a:xfrm>
          <a:prstGeom prst="rect">
            <a:avLst/>
          </a:prstGeom>
        </p:spPr>
        <p:txBody>
          <a:bodyPr lIns="0" tIns="0" rIns="0" bIns="0">
            <a:noAutofit/>
          </a:bodyPr>
          <a:lstStyle>
            <a:lvl1pPr marL="0" marR="0" indent="0" algn="r" defTabSz="914400" rtl="0" eaLnBrk="1" fontAlgn="auto" latinLnBrk="0" hangingPunct="1">
              <a:lnSpc>
                <a:spcPct val="100000"/>
              </a:lnSpc>
              <a:spcBef>
                <a:spcPct val="20000"/>
              </a:spcBef>
              <a:spcAft>
                <a:spcPts val="0"/>
              </a:spcAft>
              <a:buClrTx/>
              <a:buSzTx/>
              <a:buFontTx/>
              <a:buNone/>
              <a:tabLst/>
              <a:defRPr lang="de-DE" sz="1000" kern="1200" baseline="0" dirty="0">
                <a:solidFill>
                  <a:schemeClr val="tx2"/>
                </a:solidFill>
                <a:latin typeface="Roboto Condensed" panose="02000000000000000000" pitchFamily="2" charset="0"/>
                <a:ea typeface="Roboto Condensed" panose="02000000000000000000" pitchFamily="2" charset="0"/>
                <a:cs typeface="Roboto Condensed" panose="02000000000000000000" pitchFamily="2"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fld id="{822FCD78-D96D-4F80-9AD7-6954839C45E1}" type="slidenum">
              <a:rPr lang="de-DE" sz="750" smtClean="0">
                <a:solidFill>
                  <a:schemeClr val="bg1"/>
                </a:solidFill>
                <a:latin typeface="Roboto Condensed" pitchFamily="2" charset="0"/>
                <a:ea typeface="Roboto Condensed" pitchFamily="2" charset="0"/>
              </a:rPr>
              <a:pPr>
                <a:defRPr/>
              </a:pPr>
              <a:t>‹Nr.›</a:t>
            </a:fld>
            <a:r>
              <a:rPr lang="de-DE" sz="750" dirty="0">
                <a:solidFill>
                  <a:schemeClr val="bg1"/>
                </a:solidFill>
                <a:latin typeface="Roboto Condensed" pitchFamily="2" charset="0"/>
                <a:ea typeface="Roboto Condensed" pitchFamily="2" charset="0"/>
              </a:rPr>
              <a:t> / 25</a:t>
            </a:r>
          </a:p>
        </p:txBody>
      </p:sp>
    </p:spTree>
    <p:extLst>
      <p:ext uri="{BB962C8B-B14F-4D97-AF65-F5344CB8AC3E}">
        <p14:creationId xmlns:p14="http://schemas.microsoft.com/office/powerpoint/2010/main" val="63193198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Inhaltsseite">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92DAAA6B-CED7-218B-3BCB-3A4298BA5AE3}"/>
              </a:ext>
            </a:extLst>
          </p:cNvPr>
          <p:cNvSpPr/>
          <p:nvPr userDrawn="1"/>
        </p:nvSpPr>
        <p:spPr>
          <a:xfrm>
            <a:off x="3251200" y="0"/>
            <a:ext cx="3606800" cy="4502398"/>
          </a:xfrm>
          <a:prstGeom prst="rect">
            <a:avLst/>
          </a:prstGeom>
          <a:gradFill flip="none" rotWithShape="1">
            <a:gsLst>
              <a:gs pos="46000">
                <a:schemeClr val="bg1"/>
              </a:gs>
              <a:gs pos="64000">
                <a:schemeClr val="accent2">
                  <a:lumMod val="45000"/>
                  <a:lumOff val="55000"/>
                </a:schemeClr>
              </a:gs>
              <a:gs pos="83000">
                <a:schemeClr val="tx1"/>
              </a:gs>
              <a:gs pos="99000">
                <a:schemeClr val="tx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hteck 1"/>
          <p:cNvSpPr/>
          <p:nvPr userDrawn="1"/>
        </p:nvSpPr>
        <p:spPr>
          <a:xfrm flipV="1">
            <a:off x="-1" y="4500000"/>
            <a:ext cx="3442500" cy="396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pic>
        <p:nvPicPr>
          <p:cNvPr id="7" name="Grafik 6"/>
          <p:cNvPicPr preferRelativeResize="0">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3430787" y="4500000"/>
            <a:ext cx="3429000" cy="39600"/>
          </a:xfrm>
          <a:prstGeom prst="rect">
            <a:avLst/>
          </a:prstGeom>
        </p:spPr>
      </p:pic>
      <p:sp>
        <p:nvSpPr>
          <p:cNvPr id="9" name="Textplatzhalter 24"/>
          <p:cNvSpPr>
            <a:spLocks noGrp="1"/>
          </p:cNvSpPr>
          <p:nvPr>
            <p:ph type="body" sz="quarter" idx="11" hasCustomPrompt="1"/>
          </p:nvPr>
        </p:nvSpPr>
        <p:spPr>
          <a:xfrm>
            <a:off x="2249685" y="4719770"/>
            <a:ext cx="4266010" cy="144000"/>
          </a:xfrm>
        </p:spPr>
        <p:txBody>
          <a:bodyPr>
            <a:noAutofit/>
          </a:bodyPr>
          <a:lstStyle>
            <a:lvl1pPr marL="0" indent="0" algn="r">
              <a:buFontTx/>
              <a:buNone/>
              <a:defRPr lang="de-DE" sz="75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r>
              <a:rPr lang="en-US" sz="800" dirty="0" err="1"/>
              <a:t>Natürlichkeit</a:t>
            </a:r>
            <a:r>
              <a:rPr lang="en-US" sz="800" dirty="0"/>
              <a:t> von </a:t>
            </a:r>
            <a:r>
              <a:rPr lang="en-US" sz="800" dirty="0" err="1"/>
              <a:t>Stimmen</a:t>
            </a:r>
            <a:endParaRPr lang="de-DE" dirty="0"/>
          </a:p>
        </p:txBody>
      </p:sp>
      <p:sp>
        <p:nvSpPr>
          <p:cNvPr id="6" name="Textplatzhalter 24"/>
          <p:cNvSpPr txBox="1">
            <a:spLocks/>
          </p:cNvSpPr>
          <p:nvPr userDrawn="1"/>
        </p:nvSpPr>
        <p:spPr>
          <a:xfrm>
            <a:off x="2641231" y="4884575"/>
            <a:ext cx="3874464" cy="154205"/>
          </a:xfrm>
          <a:prstGeom prst="rect">
            <a:avLst/>
          </a:prstGeom>
        </p:spPr>
        <p:txBody>
          <a:bodyPr lIns="0" tIns="0" rIns="0" bIns="0">
            <a:noAutofit/>
          </a:bodyPr>
          <a:lstStyle>
            <a:lvl1pPr marL="0" marR="0" indent="0" algn="r" defTabSz="914400" rtl="0" eaLnBrk="1" fontAlgn="auto" latinLnBrk="0" hangingPunct="1">
              <a:lnSpc>
                <a:spcPct val="100000"/>
              </a:lnSpc>
              <a:spcBef>
                <a:spcPct val="20000"/>
              </a:spcBef>
              <a:spcAft>
                <a:spcPts val="0"/>
              </a:spcAft>
              <a:buClrTx/>
              <a:buSzTx/>
              <a:buFontTx/>
              <a:buNone/>
              <a:tabLst/>
              <a:defRPr lang="de-DE" sz="1000" kern="1200" baseline="0" dirty="0">
                <a:solidFill>
                  <a:schemeClr val="tx2"/>
                </a:solidFill>
                <a:latin typeface="Roboto Condensed" panose="02000000000000000000" pitchFamily="2" charset="0"/>
                <a:ea typeface="Roboto Condensed" panose="02000000000000000000" pitchFamily="2" charset="0"/>
                <a:cs typeface="Roboto Condensed" panose="02000000000000000000" pitchFamily="2"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fld id="{822FCD78-D96D-4F80-9AD7-6954839C45E1}" type="slidenum">
              <a:rPr lang="de-DE" sz="750" smtClean="0">
                <a:solidFill>
                  <a:schemeClr val="bg1"/>
                </a:solidFill>
                <a:latin typeface="Roboto Condensed" pitchFamily="2" charset="0"/>
                <a:ea typeface="Roboto Condensed" pitchFamily="2" charset="0"/>
              </a:rPr>
              <a:pPr>
                <a:defRPr/>
              </a:pPr>
              <a:t>‹Nr.›</a:t>
            </a:fld>
            <a:r>
              <a:rPr lang="de-DE" sz="750" dirty="0">
                <a:solidFill>
                  <a:schemeClr val="bg1"/>
                </a:solidFill>
                <a:latin typeface="Roboto Condensed" pitchFamily="2" charset="0"/>
                <a:ea typeface="Roboto Condensed" pitchFamily="2" charset="0"/>
              </a:rPr>
              <a:t> / 10</a:t>
            </a:r>
          </a:p>
        </p:txBody>
      </p:sp>
      <p:pic>
        <p:nvPicPr>
          <p:cNvPr id="4" name="Grafik 3" descr="Ein Bild, das Kunst, Cartoon, Darstellung enthält.&#10;&#10;KI-generierte Inhalte können fehlerhaft sein.">
            <a:extLst>
              <a:ext uri="{FF2B5EF4-FFF2-40B4-BE49-F238E27FC236}">
                <a16:creationId xmlns:a16="http://schemas.microsoft.com/office/drawing/2014/main" id="{64D630C0-7580-D0F0-6B71-4A9559C0F178}"/>
              </a:ext>
            </a:extLst>
          </p:cNvPr>
          <p:cNvPicPr>
            <a:picLocks noChangeAspect="1"/>
          </p:cNvPicPr>
          <p:nvPr userDrawn="1"/>
        </p:nvPicPr>
        <p:blipFill>
          <a:blip r:embed="rId3"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3394616" y="0"/>
            <a:ext cx="3463384" cy="4502400"/>
          </a:xfrm>
          <a:prstGeom prst="rect">
            <a:avLst/>
          </a:prstGeom>
        </p:spPr>
      </p:pic>
    </p:spTree>
    <p:extLst>
      <p:ext uri="{BB962C8B-B14F-4D97-AF65-F5344CB8AC3E}">
        <p14:creationId xmlns:p14="http://schemas.microsoft.com/office/powerpoint/2010/main" val="2718257920"/>
      </p:ext>
    </p:extLst>
  </p:cSld>
  <p:clrMapOvr>
    <a:masterClrMapping/>
  </p:clrMapOvr>
  <p:extLst>
    <p:ext uri="{DCECCB84-F9BA-43D5-87BE-67443E8EF086}">
      <p15:sldGuideLst xmlns:p15="http://schemas.microsoft.com/office/powerpoint/2012/main">
        <p15:guide id="1" orient="horz" pos="1620">
          <p15:clr>
            <a:srgbClr val="FBAE40"/>
          </p15:clr>
        </p15:guide>
        <p15:guide id="2"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342900" y="205978"/>
            <a:ext cx="6172200" cy="857250"/>
          </a:xfrm>
          <a:prstGeom prst="rect">
            <a:avLst/>
          </a:prstGeom>
        </p:spPr>
        <p:txBody>
          <a:bodyPr vert="horz" lIns="0" tIns="0" rIns="0" bIns="0" rtlCol="0" anchor="ctr">
            <a:normAutofit/>
          </a:bodyPr>
          <a:lstStyle/>
          <a:p>
            <a:r>
              <a:rPr lang="de-DE" dirty="0"/>
              <a:t>Titelmasterformat durch Klicken bearbeiten</a:t>
            </a:r>
          </a:p>
        </p:txBody>
      </p:sp>
      <p:sp>
        <p:nvSpPr>
          <p:cNvPr id="3" name="Textplatzhalter 2"/>
          <p:cNvSpPr>
            <a:spLocks noGrp="1"/>
          </p:cNvSpPr>
          <p:nvPr>
            <p:ph type="body" idx="1"/>
          </p:nvPr>
        </p:nvSpPr>
        <p:spPr>
          <a:xfrm>
            <a:off x="342900" y="1200152"/>
            <a:ext cx="6172200" cy="1875655"/>
          </a:xfrm>
          <a:prstGeom prst="rect">
            <a:avLst/>
          </a:prstGeom>
        </p:spPr>
        <p:txBody>
          <a:bodyPr vert="horz" lIns="0" tIns="0" rIns="0" bIns="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 mit Anführungszeichen«</a:t>
            </a:r>
          </a:p>
        </p:txBody>
      </p:sp>
      <p:sp>
        <p:nvSpPr>
          <p:cNvPr id="11" name="Rechteck 10"/>
          <p:cNvSpPr/>
          <p:nvPr userDrawn="1"/>
        </p:nvSpPr>
        <p:spPr>
          <a:xfrm>
            <a:off x="-1" y="4500000"/>
            <a:ext cx="6858000" cy="64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de-DE" sz="1350" dirty="0"/>
          </a:p>
        </p:txBody>
      </p:sp>
      <p:pic>
        <p:nvPicPr>
          <p:cNvPr id="1026"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tretch>
            <a:fillRect/>
          </a:stretch>
        </p:blipFill>
        <p:spPr bwMode="auto">
          <a:xfrm>
            <a:off x="314619" y="4607704"/>
            <a:ext cx="785700" cy="432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51117"/>
      </p:ext>
    </p:extLst>
  </p:cSld>
  <p:clrMap bg1="lt1" tx1="dk1" bg2="lt2" tx2="dk2" accent1="accent1" accent2="accent2" accent3="accent3" accent4="accent4" accent5="accent5" accent6="accent6" hlink="hlink" folHlink="folHlink"/>
  <p:sldLayoutIdLst>
    <p:sldLayoutId id="2147483656" r:id="rId1"/>
    <p:sldLayoutId id="2147483658" r:id="rId2"/>
  </p:sldLayoutIdLst>
  <p:hf hdr="0" ftr="0" dt="0"/>
  <p:txStyles>
    <p:titleStyle>
      <a:lvl1pPr algn="l" defTabSz="685800" rtl="0" eaLnBrk="1" latinLnBrk="0" hangingPunct="1">
        <a:spcBef>
          <a:spcPct val="0"/>
        </a:spcBef>
        <a:buNone/>
        <a:defRPr sz="1500" kern="1200" spc="15" baseline="0">
          <a:solidFill>
            <a:schemeClr val="tx1"/>
          </a:solidFill>
          <a:latin typeface="Palatino Linotype" panose="02040502050505030304" pitchFamily="18" charset="0"/>
          <a:ea typeface="+mj-ea"/>
          <a:cs typeface="+mj-cs"/>
        </a:defRPr>
      </a:lvl1pPr>
    </p:titleStyle>
    <p:bodyStyle>
      <a:lvl1pPr marL="0" indent="0" algn="l" defTabSz="685800" rtl="0" eaLnBrk="1" latinLnBrk="0" hangingPunct="1">
        <a:spcBef>
          <a:spcPct val="20000"/>
        </a:spcBef>
        <a:buFontTx/>
        <a:buNone/>
        <a:defRPr sz="1650" kern="1200">
          <a:solidFill>
            <a:schemeClr val="tx1"/>
          </a:solidFill>
          <a:latin typeface="Roboto Condensed" pitchFamily="2" charset="0"/>
          <a:ea typeface="Roboto Condensed" pitchFamily="2" charset="0"/>
          <a:cs typeface="+mn-cs"/>
        </a:defRPr>
      </a:lvl1pPr>
      <a:lvl2pPr marL="557213" indent="-214313" algn="l" defTabSz="685800" rtl="0" eaLnBrk="1" latinLnBrk="0" hangingPunct="1">
        <a:spcBef>
          <a:spcPct val="20000"/>
        </a:spcBef>
        <a:buClr>
          <a:schemeClr val="accent1"/>
        </a:buClr>
        <a:buFont typeface="Arial" panose="020B0604020202020204" pitchFamily="34" charset="0"/>
        <a:buChar char="•"/>
        <a:defRPr sz="1350" kern="1200">
          <a:solidFill>
            <a:schemeClr val="tx1"/>
          </a:solidFill>
          <a:latin typeface="Roboto Condensed" pitchFamily="2" charset="0"/>
          <a:ea typeface="Roboto Condensed" pitchFamily="2" charset="0"/>
          <a:cs typeface="+mn-cs"/>
        </a:defRPr>
      </a:lvl2pPr>
      <a:lvl3pPr marL="857250" indent="-171450" algn="l" defTabSz="685800" rtl="0" eaLnBrk="1" latinLnBrk="0" hangingPunct="1">
        <a:spcBef>
          <a:spcPct val="20000"/>
        </a:spcBef>
        <a:buClr>
          <a:schemeClr val="accent3"/>
        </a:buClr>
        <a:buFont typeface="Arial" panose="020B0604020202020204" pitchFamily="34" charset="0"/>
        <a:buChar char="•"/>
        <a:defRPr sz="1050" kern="1200">
          <a:solidFill>
            <a:schemeClr val="tx1"/>
          </a:solidFill>
          <a:latin typeface="Roboto Condensed" pitchFamily="2" charset="0"/>
          <a:ea typeface="Roboto Condensed" pitchFamily="2" charset="0"/>
          <a:cs typeface="+mn-cs"/>
        </a:defRPr>
      </a:lvl3pPr>
      <a:lvl4pPr marL="1028700" indent="0" algn="l" defTabSz="685800" rtl="0" eaLnBrk="1" latinLnBrk="0" hangingPunct="1">
        <a:spcBef>
          <a:spcPct val="20000"/>
        </a:spcBef>
        <a:buFontTx/>
        <a:buNone/>
        <a:defRPr sz="825" kern="1200">
          <a:solidFill>
            <a:schemeClr val="tx1"/>
          </a:solidFill>
          <a:latin typeface="Roboto Condensed" pitchFamily="2" charset="0"/>
          <a:ea typeface="Roboto Condensed" pitchFamily="2" charset="0"/>
          <a:cs typeface="+mn-cs"/>
        </a:defRPr>
      </a:lvl4pPr>
      <a:lvl5pPr marL="1371600" indent="0" algn="l" defTabSz="685800" rtl="0" eaLnBrk="1" latinLnBrk="0" hangingPunct="1">
        <a:spcBef>
          <a:spcPct val="20000"/>
        </a:spcBef>
        <a:buFont typeface="Arial" panose="020B0604020202020204" pitchFamily="34" charset="0"/>
        <a:buNone/>
        <a:defRPr sz="675" kern="1200">
          <a:solidFill>
            <a:schemeClr val="tx1"/>
          </a:solidFill>
          <a:latin typeface="Roboto Condensed" pitchFamily="2" charset="0"/>
          <a:ea typeface="Roboto Condensed" pitchFamily="2" charset="0"/>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160" userDrawn="1">
          <p15:clr>
            <a:srgbClr val="F26B43"/>
          </p15:clr>
        </p15:guide>
        <p15:guide id="3" pos="22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jpe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emf"/><Relationship Id="rId5" Type="http://schemas.openxmlformats.org/officeDocument/2006/relationships/oleObject" Target="../embeddings/oleObject1.bin"/><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2.tiff"/></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jpe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emf"/><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0.emf"/><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descr="Ein Bild, das dunkel, Vorhang, groß, Uhr enthält.&#10;&#10;Automatisch generierte Beschreibung">
            <a:extLst>
              <a:ext uri="{FF2B5EF4-FFF2-40B4-BE49-F238E27FC236}">
                <a16:creationId xmlns:a16="http://schemas.microsoft.com/office/drawing/2014/main" id="{DE4380E1-BC20-451A-842E-D842298480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6858000" cy="4500000"/>
          </a:xfrm>
          <a:prstGeom prst="rect">
            <a:avLst/>
          </a:prstGeom>
        </p:spPr>
      </p:pic>
      <p:sp>
        <p:nvSpPr>
          <p:cNvPr id="7" name="Rechteck 6"/>
          <p:cNvSpPr/>
          <p:nvPr/>
        </p:nvSpPr>
        <p:spPr>
          <a:xfrm>
            <a:off x="351235" y="2767739"/>
            <a:ext cx="6178774" cy="11105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Roboto Condensed"/>
              <a:ea typeface="+mn-ea"/>
              <a:cs typeface="+mn-cs"/>
            </a:endParaRPr>
          </a:p>
        </p:txBody>
      </p:sp>
      <p:sp>
        <p:nvSpPr>
          <p:cNvPr id="8" name="Textfeld 7"/>
          <p:cNvSpPr txBox="1"/>
          <p:nvPr/>
        </p:nvSpPr>
        <p:spPr>
          <a:xfrm>
            <a:off x="508825" y="2998577"/>
            <a:ext cx="5860444" cy="800912"/>
          </a:xfrm>
          <a:prstGeom prst="rect">
            <a:avLst/>
          </a:prstGeom>
          <a:noFill/>
        </p:spPr>
        <p:txBody>
          <a:bodyPr wrap="square" lIns="0" tIns="0" rIns="0" bIns="0" rtlCol="0">
            <a:noAutofit/>
          </a:bodyPr>
          <a:lstStyle/>
          <a:p>
            <a:r>
              <a:rPr lang="en-US" sz="1400" dirty="0"/>
              <a:t>Die </a:t>
            </a:r>
            <a:r>
              <a:rPr lang="en-US" sz="1400" dirty="0" err="1"/>
              <a:t>wahrgenommene</a:t>
            </a:r>
            <a:r>
              <a:rPr lang="en-US" sz="1400" dirty="0"/>
              <a:t> </a:t>
            </a:r>
            <a:r>
              <a:rPr lang="en-US" sz="1400" dirty="0" err="1"/>
              <a:t>Natürlichkeit</a:t>
            </a:r>
            <a:r>
              <a:rPr lang="en-US" sz="1400" dirty="0"/>
              <a:t> von </a:t>
            </a:r>
            <a:r>
              <a:rPr lang="en-US" sz="1400" dirty="0" err="1"/>
              <a:t>Stimmen</a:t>
            </a:r>
            <a:endParaRPr lang="en-US" sz="1400" dirty="0"/>
          </a:p>
          <a:p>
            <a:endParaRPr lang="en-US" sz="1000" dirty="0">
              <a:solidFill>
                <a:srgbClr val="002F5D"/>
              </a:solidFill>
              <a:latin typeface="Roboto Condensed"/>
              <a:ea typeface="Roboto Condensed" panose="02000000000000000000" pitchFamily="2" charset="0"/>
              <a:cs typeface="Roboto Condensed" panose="02000000000000000000" pitchFamily="2" charset="0"/>
            </a:endParaRPr>
          </a:p>
          <a:p>
            <a:r>
              <a:rPr lang="en-US" sz="1000" dirty="0">
                <a:solidFill>
                  <a:srgbClr val="002F5D"/>
                </a:solidFill>
                <a:latin typeface="Roboto Condensed"/>
                <a:ea typeface="Roboto Condensed" panose="02000000000000000000" pitchFamily="2" charset="0"/>
                <a:cs typeface="Roboto Condensed" panose="02000000000000000000" pitchFamily="2" charset="0"/>
              </a:rPr>
              <a:t>Dr. Christine Nussbaum</a:t>
            </a:r>
          </a:p>
          <a:p>
            <a:r>
              <a:rPr lang="en-US" sz="1000" dirty="0">
                <a:solidFill>
                  <a:srgbClr val="002F5D"/>
                </a:solidFill>
                <a:latin typeface="Roboto Condensed"/>
                <a:ea typeface="Roboto Condensed" panose="02000000000000000000" pitchFamily="2" charset="0"/>
                <a:cs typeface="Roboto Condensed" panose="02000000000000000000" pitchFamily="2" charset="0"/>
              </a:rPr>
              <a:t>Friedrich-Schiller-Universität Jena</a:t>
            </a:r>
          </a:p>
          <a:p>
            <a:r>
              <a:rPr lang="de-DE" sz="1000" dirty="0">
                <a:solidFill>
                  <a:srgbClr val="002F5D"/>
                </a:solidFill>
                <a:ea typeface="Roboto Condensed" panose="02000000000000000000" pitchFamily="2" charset="0"/>
                <a:cs typeface="Roboto Condensed" panose="02000000000000000000" pitchFamily="2" charset="0"/>
              </a:rPr>
              <a:t>Lehrstuhl für Allgemeine Psychologie und kognitive Neurowissenschaften</a:t>
            </a:r>
            <a:endParaRPr lang="en-US" sz="1000" dirty="0">
              <a:solidFill>
                <a:srgbClr val="002F5D"/>
              </a:solidFill>
              <a:latin typeface="Roboto Condensed"/>
              <a:ea typeface="Roboto Condensed" panose="02000000000000000000" pitchFamily="2" charset="0"/>
              <a:cs typeface="Roboto Condensed" panose="02000000000000000000" pitchFamily="2" charset="0"/>
            </a:endParaRPr>
          </a:p>
        </p:txBody>
      </p:sp>
      <p:cxnSp>
        <p:nvCxnSpPr>
          <p:cNvPr id="9" name="Gerade Verbindung 8"/>
          <p:cNvCxnSpPr/>
          <p:nvPr/>
        </p:nvCxnSpPr>
        <p:spPr>
          <a:xfrm>
            <a:off x="508825" y="2913969"/>
            <a:ext cx="341709" cy="0"/>
          </a:xfrm>
          <a:prstGeom prst="line">
            <a:avLst/>
          </a:prstGeom>
          <a:ln w="44450">
            <a:solidFill>
              <a:srgbClr val="002F5D"/>
            </a:solidFill>
          </a:ln>
        </p:spPr>
        <p:style>
          <a:lnRef idx="1">
            <a:schemeClr val="accent1"/>
          </a:lnRef>
          <a:fillRef idx="0">
            <a:schemeClr val="accent1"/>
          </a:fillRef>
          <a:effectRef idx="0">
            <a:schemeClr val="accent1"/>
          </a:effectRef>
          <a:fontRef idx="minor">
            <a:schemeClr val="tx1"/>
          </a:fontRef>
        </p:style>
      </p:cxnSp>
      <p:sp>
        <p:nvSpPr>
          <p:cNvPr id="4" name="Textplatzhalter 3">
            <a:extLst>
              <a:ext uri="{FF2B5EF4-FFF2-40B4-BE49-F238E27FC236}">
                <a16:creationId xmlns:a16="http://schemas.microsoft.com/office/drawing/2014/main" id="{4C475DD6-E875-14F4-10B0-ADEE27A64029}"/>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628062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FF498E12-506F-466B-111A-9D919507D08E}"/>
              </a:ext>
            </a:extLst>
          </p:cNvPr>
          <p:cNvSpPr>
            <a:spLocks noGrp="1"/>
          </p:cNvSpPr>
          <p:nvPr>
            <p:ph type="body" sz="quarter" idx="11"/>
          </p:nvPr>
        </p:nvSpPr>
        <p:spPr>
          <a:xfrm>
            <a:off x="5212702" y="4719770"/>
            <a:ext cx="1302993" cy="144000"/>
          </a:xfrm>
        </p:spPr>
        <p:txBody>
          <a:bodyPr/>
          <a:lstStyle/>
          <a:p>
            <a:endParaRPr lang="en-US" dirty="0"/>
          </a:p>
        </p:txBody>
      </p:sp>
      <p:cxnSp>
        <p:nvCxnSpPr>
          <p:cNvPr id="4" name="Gerade Verbindung 9">
            <a:extLst>
              <a:ext uri="{FF2B5EF4-FFF2-40B4-BE49-F238E27FC236}">
                <a16:creationId xmlns:a16="http://schemas.microsoft.com/office/drawing/2014/main" id="{F8B87183-45DE-1556-5E42-7AC8FD85D11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feld 4">
            <a:extLst>
              <a:ext uri="{FF2B5EF4-FFF2-40B4-BE49-F238E27FC236}">
                <a16:creationId xmlns:a16="http://schemas.microsoft.com/office/drawing/2014/main" id="{7F30C240-2BFB-17AD-E8A6-1A42218FF330}"/>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err="1"/>
              <a:t>Wer</a:t>
            </a:r>
            <a:r>
              <a:rPr lang="en-US" sz="1500" dirty="0"/>
              <a:t> bin ich</a:t>
            </a:r>
          </a:p>
        </p:txBody>
      </p:sp>
      <p:sp>
        <p:nvSpPr>
          <p:cNvPr id="6" name="Textfeld 5">
            <a:extLst>
              <a:ext uri="{FF2B5EF4-FFF2-40B4-BE49-F238E27FC236}">
                <a16:creationId xmlns:a16="http://schemas.microsoft.com/office/drawing/2014/main" id="{FC016DDB-3A5C-9FD4-D109-DDCBDB0EF8C4}"/>
              </a:ext>
            </a:extLst>
          </p:cNvPr>
          <p:cNvSpPr txBox="1"/>
          <p:nvPr/>
        </p:nvSpPr>
        <p:spPr>
          <a:xfrm>
            <a:off x="2720898" y="911076"/>
            <a:ext cx="3924268" cy="2954655"/>
          </a:xfrm>
          <a:prstGeom prst="rect">
            <a:avLst/>
          </a:prstGeom>
          <a:noFill/>
        </p:spPr>
        <p:txBody>
          <a:bodyPr wrap="square" rtlCol="0">
            <a:spAutoFit/>
          </a:bodyPr>
          <a:lstStyle/>
          <a:p>
            <a:r>
              <a:rPr lang="de-DE" sz="1400" dirty="0"/>
              <a:t>Dr. Christine Nussbaum</a:t>
            </a:r>
          </a:p>
          <a:p>
            <a:endParaRPr lang="de-DE" sz="1000" dirty="0"/>
          </a:p>
          <a:p>
            <a:endParaRPr lang="de-DE" sz="1100" dirty="0"/>
          </a:p>
          <a:p>
            <a:r>
              <a:rPr lang="de-DE" sz="1000" dirty="0"/>
              <a:t>Schwerpunkte: 	Emotionsverarbeitung in Stimmen </a:t>
            </a:r>
          </a:p>
          <a:p>
            <a:r>
              <a:rPr lang="de-DE" sz="1000" dirty="0"/>
              <a:t>	Natürlichkeit in Stimmen</a:t>
            </a:r>
          </a:p>
          <a:p>
            <a:endParaRPr lang="de-DE" sz="1000" dirty="0"/>
          </a:p>
          <a:p>
            <a:r>
              <a:rPr lang="de-DE" sz="1000" dirty="0"/>
              <a:t>Lehre: 	Neuropsychologie der auditiven Verarbeitung</a:t>
            </a:r>
          </a:p>
          <a:p>
            <a:r>
              <a:rPr lang="de-DE" sz="1000" dirty="0"/>
              <a:t>	Gute Wissenschaftliche Praxis</a:t>
            </a:r>
          </a:p>
          <a:p>
            <a:r>
              <a:rPr lang="de-DE" sz="1000" dirty="0"/>
              <a:t>	Empirische Forschungsmethoden</a:t>
            </a:r>
          </a:p>
          <a:p>
            <a:endParaRPr lang="de-DE" sz="1000" dirty="0"/>
          </a:p>
          <a:p>
            <a:r>
              <a:rPr lang="de-DE" sz="1000" dirty="0"/>
              <a:t>Methoden:	Quantitative Forschung</a:t>
            </a:r>
          </a:p>
          <a:p>
            <a:r>
              <a:rPr lang="de-DE" sz="1000" dirty="0"/>
              <a:t>	Elektroenzephalographie (EEG)</a:t>
            </a:r>
          </a:p>
          <a:p>
            <a:r>
              <a:rPr lang="de-DE" sz="1000" dirty="0"/>
              <a:t>	Voice Morphing</a:t>
            </a:r>
          </a:p>
          <a:p>
            <a:endParaRPr lang="de-DE" sz="1000" dirty="0"/>
          </a:p>
          <a:p>
            <a:r>
              <a:rPr lang="de-DE" sz="1000" dirty="0"/>
              <a:t>Rollen: 	Koordinatorin der Jena Voice Research Unit (VRU)</a:t>
            </a:r>
          </a:p>
          <a:p>
            <a:r>
              <a:rPr lang="de-DE" sz="1000" dirty="0"/>
              <a:t>	Organisation der „</a:t>
            </a:r>
            <a:r>
              <a:rPr lang="de-DE" sz="1000" dirty="0" err="1"/>
              <a:t>VoiceID</a:t>
            </a:r>
            <a:r>
              <a:rPr lang="de-DE" sz="1000" dirty="0"/>
              <a:t> 2026“</a:t>
            </a:r>
          </a:p>
          <a:p>
            <a:r>
              <a:rPr lang="de-DE" sz="1000" dirty="0"/>
              <a:t>	„</a:t>
            </a:r>
            <a:r>
              <a:rPr lang="de-DE" sz="1000" dirty="0" err="1"/>
              <a:t>VoCSA</a:t>
            </a:r>
            <a:r>
              <a:rPr lang="de-DE" sz="1000" dirty="0"/>
              <a:t>“ </a:t>
            </a:r>
            <a:r>
              <a:rPr lang="de-DE" sz="1000" dirty="0" err="1"/>
              <a:t>board</a:t>
            </a:r>
            <a:r>
              <a:rPr lang="de-DE" sz="1000" dirty="0"/>
              <a:t> </a:t>
            </a:r>
            <a:r>
              <a:rPr lang="de-DE" sz="1000" dirty="0" err="1"/>
              <a:t>member</a:t>
            </a:r>
            <a:endParaRPr lang="de-DE" sz="1000" dirty="0"/>
          </a:p>
          <a:p>
            <a:endParaRPr lang="de-DE" sz="1100" dirty="0"/>
          </a:p>
        </p:txBody>
      </p:sp>
      <p:pic>
        <p:nvPicPr>
          <p:cNvPr id="7" name="Grafik 6" descr="Ein Bild, das Menschliches Gesicht, Person, Kleidung, Lächeln enthält.&#10;&#10;KI-generierte Inhalte können fehlerhaft sein.">
            <a:extLst>
              <a:ext uri="{FF2B5EF4-FFF2-40B4-BE49-F238E27FC236}">
                <a16:creationId xmlns:a16="http://schemas.microsoft.com/office/drawing/2014/main" id="{AE506D2F-BFB9-447A-8FC7-B7A349008877}"/>
              </a:ext>
            </a:extLst>
          </p:cNvPr>
          <p:cNvPicPr>
            <a:picLocks noChangeAspect="1"/>
          </p:cNvPicPr>
          <p:nvPr/>
        </p:nvPicPr>
        <p:blipFill>
          <a:blip r:embed="rId3" cstate="print">
            <a:extLst>
              <a:ext uri="{28A0092B-C50C-407E-A947-70E740481C1C}">
                <a14:useLocalDpi xmlns:a14="http://schemas.microsoft.com/office/drawing/2010/main" val="0"/>
              </a:ext>
            </a:extLst>
          </a:blip>
          <a:srcRect l="-220" t="4862" r="16648" b="18579"/>
          <a:stretch>
            <a:fillRect/>
          </a:stretch>
        </p:blipFill>
        <p:spPr>
          <a:xfrm>
            <a:off x="359605" y="933682"/>
            <a:ext cx="863405" cy="1146113"/>
          </a:xfrm>
          <a:prstGeom prst="rect">
            <a:avLst/>
          </a:prstGeom>
        </p:spPr>
      </p:pic>
      <p:pic>
        <p:nvPicPr>
          <p:cNvPr id="8" name="Grafik 7" descr="Ein Bild, das Handschrift, Schrift, Kalligrafie, Typografie enthält.&#10;&#10;KI-generierte Inhalte können fehlerhaft sein.">
            <a:extLst>
              <a:ext uri="{FF2B5EF4-FFF2-40B4-BE49-F238E27FC236}">
                <a16:creationId xmlns:a16="http://schemas.microsoft.com/office/drawing/2014/main" id="{09B42C73-5E54-4C46-A7B7-517A294BEC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54472" y="279730"/>
            <a:ext cx="1161223" cy="653952"/>
          </a:xfrm>
          <a:prstGeom prst="rect">
            <a:avLst/>
          </a:prstGeom>
        </p:spPr>
      </p:pic>
      <p:sp>
        <p:nvSpPr>
          <p:cNvPr id="9" name="Textfeld 8">
            <a:extLst>
              <a:ext uri="{FF2B5EF4-FFF2-40B4-BE49-F238E27FC236}">
                <a16:creationId xmlns:a16="http://schemas.microsoft.com/office/drawing/2014/main" id="{35EADF7A-6450-4AA9-8860-CD277B9835E4}"/>
              </a:ext>
            </a:extLst>
          </p:cNvPr>
          <p:cNvSpPr txBox="1"/>
          <p:nvPr/>
        </p:nvSpPr>
        <p:spPr>
          <a:xfrm>
            <a:off x="275843" y="1950291"/>
            <a:ext cx="2260617" cy="1107996"/>
          </a:xfrm>
          <a:prstGeom prst="rect">
            <a:avLst/>
          </a:prstGeom>
          <a:noFill/>
        </p:spPr>
        <p:txBody>
          <a:bodyPr wrap="square" rtlCol="0">
            <a:spAutoFit/>
          </a:bodyPr>
          <a:lstStyle/>
          <a:p>
            <a:endParaRPr lang="de-DE" sz="1400" dirty="0"/>
          </a:p>
          <a:p>
            <a:r>
              <a:rPr lang="de-DE" sz="1000" dirty="0"/>
              <a:t>2013 – 2018 	Psychologiestudium</a:t>
            </a:r>
          </a:p>
          <a:p>
            <a:r>
              <a:rPr lang="de-DE" sz="1000" dirty="0"/>
              <a:t>2019 – 2023 	Promotion </a:t>
            </a:r>
          </a:p>
          <a:p>
            <a:r>
              <a:rPr lang="de-DE" sz="1000" dirty="0"/>
              <a:t>seit 2023	Post-Doktorandin </a:t>
            </a:r>
          </a:p>
          <a:p>
            <a:endParaRPr lang="de-DE" sz="1100" dirty="0"/>
          </a:p>
          <a:p>
            <a:endParaRPr lang="de-DE" sz="1100" dirty="0"/>
          </a:p>
        </p:txBody>
      </p:sp>
      <p:graphicFrame>
        <p:nvGraphicFramePr>
          <p:cNvPr id="3" name="Objekt 2">
            <a:extLst>
              <a:ext uri="{FF2B5EF4-FFF2-40B4-BE49-F238E27FC236}">
                <a16:creationId xmlns:a16="http://schemas.microsoft.com/office/drawing/2014/main" id="{0133ADB6-F1BC-4644-A1A3-D670444C4CA4}"/>
              </a:ext>
            </a:extLst>
          </p:cNvPr>
          <p:cNvGraphicFramePr>
            <a:graphicFrameLocks noChangeAspect="1"/>
          </p:cNvGraphicFramePr>
          <p:nvPr>
            <p:extLst>
              <p:ext uri="{D42A27DB-BD31-4B8C-83A1-F6EECF244321}">
                <p14:modId xmlns:p14="http://schemas.microsoft.com/office/powerpoint/2010/main" val="3161455038"/>
              </p:ext>
            </p:extLst>
          </p:nvPr>
        </p:nvGraphicFramePr>
        <p:xfrm>
          <a:off x="3905892" y="3845197"/>
          <a:ext cx="2650274" cy="507588"/>
        </p:xfrm>
        <a:graphic>
          <a:graphicData uri="http://schemas.openxmlformats.org/presentationml/2006/ole">
            <mc:AlternateContent xmlns:mc="http://schemas.openxmlformats.org/markup-compatibility/2006">
              <mc:Choice xmlns:v="urn:schemas-microsoft-com:vml" Requires="v">
                <p:oleObj name="Acrobat Document" r:id="rId5" imgW="6067168" imgH="1162050" progId="Acrobat.Document.DC">
                  <p:embed/>
                </p:oleObj>
              </mc:Choice>
              <mc:Fallback>
                <p:oleObj name="Acrobat Document" r:id="rId5" imgW="6067168" imgH="1162050" progId="Acrobat.Document.DC">
                  <p:embed/>
                  <p:pic>
                    <p:nvPicPr>
                      <p:cNvPr id="0" name=""/>
                      <p:cNvPicPr/>
                      <p:nvPr/>
                    </p:nvPicPr>
                    <p:blipFill>
                      <a:blip r:embed="rId6"/>
                      <a:stretch>
                        <a:fillRect/>
                      </a:stretch>
                    </p:blipFill>
                    <p:spPr>
                      <a:xfrm>
                        <a:off x="3905892" y="3845197"/>
                        <a:ext cx="2650274" cy="507588"/>
                      </a:xfrm>
                      <a:prstGeom prst="rect">
                        <a:avLst/>
                      </a:prstGeom>
                    </p:spPr>
                  </p:pic>
                </p:oleObj>
              </mc:Fallback>
            </mc:AlternateContent>
          </a:graphicData>
        </a:graphic>
      </p:graphicFrame>
      <p:sp>
        <p:nvSpPr>
          <p:cNvPr id="12" name="Rectangle 2">
            <a:extLst>
              <a:ext uri="{FF2B5EF4-FFF2-40B4-BE49-F238E27FC236}">
                <a16:creationId xmlns:a16="http://schemas.microsoft.com/office/drawing/2014/main" id="{5D8B51BA-3F15-4775-BC5C-6604FA03D493}"/>
              </a:ext>
            </a:extLst>
          </p:cNvPr>
          <p:cNvSpPr/>
          <p:nvPr/>
        </p:nvSpPr>
        <p:spPr>
          <a:xfrm>
            <a:off x="1700560" y="4712171"/>
            <a:ext cx="3612995" cy="27911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upright="1">
            <a:noAutofit/>
          </a:bodyPr>
          <a:lstStyle/>
          <a:p>
            <a:pPr algn="ctr">
              <a:lnSpc>
                <a:spcPct val="110000"/>
              </a:lnSpc>
              <a:spcAft>
                <a:spcPts val="1200"/>
              </a:spcAft>
            </a:pPr>
            <a:r>
              <a:rPr lang="de-DE" sz="800" dirty="0">
                <a:solidFill>
                  <a:schemeClr val="bg1"/>
                </a:solidFill>
                <a:effectLst/>
                <a:latin typeface="Roboto Condensed"/>
                <a:ea typeface="Times New Roman" panose="02020603050405020304" pitchFamily="18" charset="0"/>
                <a:cs typeface="Times New Roman" panose="02020603050405020304" pitchFamily="18" charset="0"/>
              </a:rPr>
              <a:t>Institut für Psychologie</a:t>
            </a:r>
            <a:br>
              <a:rPr lang="de-DE" sz="800" dirty="0">
                <a:solidFill>
                  <a:schemeClr val="bg1"/>
                </a:solidFill>
                <a:effectLst/>
                <a:latin typeface="Roboto Condensed"/>
                <a:ea typeface="Times New Roman" panose="02020603050405020304" pitchFamily="18" charset="0"/>
                <a:cs typeface="Times New Roman" panose="02020603050405020304" pitchFamily="18" charset="0"/>
              </a:rPr>
            </a:br>
            <a:r>
              <a:rPr lang="de-DE" sz="800" dirty="0">
                <a:solidFill>
                  <a:schemeClr val="bg1"/>
                </a:solidFill>
                <a:effectLst/>
                <a:latin typeface="Roboto Condensed"/>
                <a:ea typeface="Times New Roman" panose="02020603050405020304" pitchFamily="18" charset="0"/>
                <a:cs typeface="Times New Roman" panose="02020603050405020304" pitchFamily="18" charset="0"/>
              </a:rPr>
              <a:t>Lehrstuhl für Allgemeine Psychologie und kognitive Neurowissenschaften</a:t>
            </a:r>
          </a:p>
        </p:txBody>
      </p:sp>
      <p:pic>
        <p:nvPicPr>
          <p:cNvPr id="11" name="Grafik 10">
            <a:extLst>
              <a:ext uri="{FF2B5EF4-FFF2-40B4-BE49-F238E27FC236}">
                <a16:creationId xmlns:a16="http://schemas.microsoft.com/office/drawing/2014/main" id="{A747A7E0-21EA-C276-DCBF-ACB5BAB2B70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331588" y="3825124"/>
            <a:ext cx="547734" cy="547734"/>
          </a:xfrm>
          <a:prstGeom prst="rect">
            <a:avLst/>
          </a:prstGeom>
        </p:spPr>
      </p:pic>
      <p:pic>
        <p:nvPicPr>
          <p:cNvPr id="14" name="Grafik 13">
            <a:extLst>
              <a:ext uri="{FF2B5EF4-FFF2-40B4-BE49-F238E27FC236}">
                <a16:creationId xmlns:a16="http://schemas.microsoft.com/office/drawing/2014/main" id="{16221E0F-81A6-279B-97D6-B6B9D1B214F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04203" y="873128"/>
            <a:ext cx="507838" cy="507838"/>
          </a:xfrm>
          <a:prstGeom prst="rect">
            <a:avLst/>
          </a:prstGeom>
        </p:spPr>
      </p:pic>
    </p:spTree>
    <p:extLst>
      <p:ext uri="{BB962C8B-B14F-4D97-AF65-F5344CB8AC3E}">
        <p14:creationId xmlns:p14="http://schemas.microsoft.com/office/powerpoint/2010/main" val="2850198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682C0CE6-C1AB-52B6-3605-D60C8C4EDA38}"/>
              </a:ext>
            </a:extLst>
          </p:cNvPr>
          <p:cNvSpPr>
            <a:spLocks noGrp="1"/>
          </p:cNvSpPr>
          <p:nvPr>
            <p:ph type="body" sz="quarter" idx="11"/>
          </p:nvPr>
        </p:nvSpPr>
        <p:spPr/>
        <p:txBody>
          <a:bodyPr/>
          <a:lstStyle/>
          <a:p>
            <a:endParaRPr lang="en-US"/>
          </a:p>
        </p:txBody>
      </p:sp>
      <p:cxnSp>
        <p:nvCxnSpPr>
          <p:cNvPr id="4" name="Gerade Verbindung 9">
            <a:extLst>
              <a:ext uri="{FF2B5EF4-FFF2-40B4-BE49-F238E27FC236}">
                <a16:creationId xmlns:a16="http://schemas.microsoft.com/office/drawing/2014/main" id="{F8B87183-45DE-1556-5E42-7AC8FD85D11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feld 4">
            <a:extLst>
              <a:ext uri="{FF2B5EF4-FFF2-40B4-BE49-F238E27FC236}">
                <a16:creationId xmlns:a16="http://schemas.microsoft.com/office/drawing/2014/main" id="{7F30C240-2BFB-17AD-E8A6-1A42218FF330}"/>
              </a:ext>
            </a:extLst>
          </p:cNvPr>
          <p:cNvSpPr txBox="1"/>
          <p:nvPr/>
        </p:nvSpPr>
        <p:spPr>
          <a:xfrm>
            <a:off x="340096" y="1677417"/>
            <a:ext cx="2803154"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err="1"/>
              <a:t>Wenn</a:t>
            </a:r>
            <a:r>
              <a:rPr lang="en-US" sz="1500" dirty="0"/>
              <a:t> </a:t>
            </a:r>
            <a:r>
              <a:rPr lang="en-US" sz="1500" dirty="0" err="1"/>
              <a:t>wir</a:t>
            </a:r>
            <a:r>
              <a:rPr lang="en-US" sz="1500" dirty="0"/>
              <a:t> </a:t>
            </a:r>
            <a:r>
              <a:rPr lang="en-US" sz="1500" dirty="0" err="1"/>
              <a:t>eine</a:t>
            </a:r>
            <a:r>
              <a:rPr lang="en-US" sz="1500" dirty="0"/>
              <a:t> </a:t>
            </a:r>
            <a:r>
              <a:rPr lang="en-US" sz="1500" dirty="0" err="1"/>
              <a:t>Stimmen</a:t>
            </a:r>
            <a:r>
              <a:rPr lang="en-US" sz="1500" dirty="0"/>
              <a:t> </a:t>
            </a:r>
            <a:r>
              <a:rPr lang="en-US" sz="1500" dirty="0" err="1"/>
              <a:t>hören</a:t>
            </a:r>
            <a:r>
              <a:rPr lang="en-US" sz="1500" dirty="0"/>
              <a:t>…. </a:t>
            </a:r>
          </a:p>
        </p:txBody>
      </p:sp>
      <p:sp>
        <p:nvSpPr>
          <p:cNvPr id="7" name="Textfeld 6">
            <a:extLst>
              <a:ext uri="{FF2B5EF4-FFF2-40B4-BE49-F238E27FC236}">
                <a16:creationId xmlns:a16="http://schemas.microsoft.com/office/drawing/2014/main" id="{F7011204-4784-4D23-B7C8-C896DF778B9A}"/>
              </a:ext>
            </a:extLst>
          </p:cNvPr>
          <p:cNvSpPr txBox="1"/>
          <p:nvPr/>
        </p:nvSpPr>
        <p:spPr>
          <a:xfrm>
            <a:off x="1413509" y="2298502"/>
            <a:ext cx="2114973"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 </a:t>
            </a:r>
            <a:r>
              <a:rPr lang="en-US" sz="1500" dirty="0" err="1"/>
              <a:t>hören</a:t>
            </a:r>
            <a:r>
              <a:rPr lang="en-US" sz="1500" dirty="0"/>
              <a:t> </a:t>
            </a:r>
            <a:r>
              <a:rPr lang="en-US" sz="1500" dirty="0" err="1"/>
              <a:t>wir</a:t>
            </a:r>
            <a:r>
              <a:rPr lang="en-US" sz="1500" dirty="0"/>
              <a:t> </a:t>
            </a:r>
            <a:r>
              <a:rPr lang="en-US" sz="1500" dirty="0" err="1"/>
              <a:t>eine</a:t>
            </a:r>
            <a:r>
              <a:rPr lang="en-US" sz="1500" dirty="0"/>
              <a:t> Person!</a:t>
            </a:r>
          </a:p>
        </p:txBody>
      </p:sp>
    </p:spTree>
    <p:extLst>
      <p:ext uri="{BB962C8B-B14F-4D97-AF65-F5344CB8AC3E}">
        <p14:creationId xmlns:p14="http://schemas.microsoft.com/office/powerpoint/2010/main" val="371864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Person Perception from Voices</a:t>
            </a:r>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pic>
        <p:nvPicPr>
          <p:cNvPr id="4" name="Grafik 3">
            <a:extLst>
              <a:ext uri="{FF2B5EF4-FFF2-40B4-BE49-F238E27FC236}">
                <a16:creationId xmlns:a16="http://schemas.microsoft.com/office/drawing/2014/main" id="{8D0E1572-3B09-351C-8152-DD5759A65637}"/>
              </a:ext>
            </a:extLst>
          </p:cNvPr>
          <p:cNvPicPr>
            <a:picLocks noChangeAspect="1"/>
          </p:cNvPicPr>
          <p:nvPr/>
        </p:nvPicPr>
        <p:blipFill>
          <a:blip r:embed="rId3"/>
          <a:stretch>
            <a:fillRect/>
          </a:stretch>
        </p:blipFill>
        <p:spPr>
          <a:xfrm>
            <a:off x="594684" y="1283561"/>
            <a:ext cx="5668631" cy="3012350"/>
          </a:xfrm>
          <a:prstGeom prst="rect">
            <a:avLst/>
          </a:prstGeom>
        </p:spPr>
      </p:pic>
      <p:sp>
        <p:nvSpPr>
          <p:cNvPr id="9" name="Textfeld 8">
            <a:extLst>
              <a:ext uri="{FF2B5EF4-FFF2-40B4-BE49-F238E27FC236}">
                <a16:creationId xmlns:a16="http://schemas.microsoft.com/office/drawing/2014/main" id="{6EE22AF8-B507-99EF-21CA-4785ED9D7879}"/>
              </a:ext>
            </a:extLst>
          </p:cNvPr>
          <p:cNvSpPr txBox="1"/>
          <p:nvPr/>
        </p:nvSpPr>
        <p:spPr>
          <a:xfrm>
            <a:off x="3275088" y="4077795"/>
            <a:ext cx="1917513" cy="230832"/>
          </a:xfrm>
          <a:prstGeom prst="rect">
            <a:avLst/>
          </a:prstGeom>
          <a:noFill/>
        </p:spPr>
        <p:txBody>
          <a:bodyPr wrap="none" rtlCol="0">
            <a:spAutoFit/>
          </a:bodyPr>
          <a:lstStyle/>
          <a:p>
            <a:r>
              <a:rPr lang="de-DE" sz="900" dirty="0"/>
              <a:t>[</a:t>
            </a:r>
            <a:r>
              <a:rPr lang="de-DE" sz="900" dirty="0" err="1"/>
              <a:t>Lavan</a:t>
            </a:r>
            <a:r>
              <a:rPr lang="de-DE" sz="900" dirty="0"/>
              <a:t> &amp; </a:t>
            </a:r>
            <a:r>
              <a:rPr lang="de-DE" sz="900" dirty="0" err="1"/>
              <a:t>McGettigan</a:t>
            </a:r>
            <a:r>
              <a:rPr lang="de-DE" sz="900" dirty="0"/>
              <a:t>, 2023; </a:t>
            </a:r>
            <a:r>
              <a:rPr lang="de-DE" sz="900" dirty="0" err="1"/>
              <a:t>Lavan</a:t>
            </a:r>
            <a:r>
              <a:rPr lang="de-DE" sz="900" dirty="0"/>
              <a:t> 2023]</a:t>
            </a:r>
          </a:p>
        </p:txBody>
      </p:sp>
      <p:sp>
        <p:nvSpPr>
          <p:cNvPr id="10" name="Textfeld 9">
            <a:extLst>
              <a:ext uri="{FF2B5EF4-FFF2-40B4-BE49-F238E27FC236}">
                <a16:creationId xmlns:a16="http://schemas.microsoft.com/office/drawing/2014/main" id="{D57DF323-4FB4-FD7D-14FF-654A5B328BF8}"/>
              </a:ext>
            </a:extLst>
          </p:cNvPr>
          <p:cNvSpPr txBox="1"/>
          <p:nvPr/>
        </p:nvSpPr>
        <p:spPr>
          <a:xfrm>
            <a:off x="330829" y="1711463"/>
            <a:ext cx="473206" cy="323165"/>
          </a:xfrm>
          <a:prstGeom prst="rect">
            <a:avLst/>
          </a:prstGeom>
          <a:noFill/>
        </p:spPr>
        <p:txBody>
          <a:bodyPr wrap="none" rtlCol="0">
            <a:spAutoFit/>
          </a:bodyPr>
          <a:lstStyle/>
          <a:p>
            <a:r>
              <a:rPr lang="de-DE" sz="1500" dirty="0" err="1">
                <a:solidFill>
                  <a:srgbClr val="5B0503"/>
                </a:solidFill>
              </a:rPr>
              <a:t>odd</a:t>
            </a:r>
            <a:endParaRPr lang="en-US" sz="1500" dirty="0">
              <a:solidFill>
                <a:srgbClr val="5B0503"/>
              </a:solidFill>
            </a:endParaRPr>
          </a:p>
        </p:txBody>
      </p:sp>
      <p:sp>
        <p:nvSpPr>
          <p:cNvPr id="11" name="Textfeld 10">
            <a:extLst>
              <a:ext uri="{FF2B5EF4-FFF2-40B4-BE49-F238E27FC236}">
                <a16:creationId xmlns:a16="http://schemas.microsoft.com/office/drawing/2014/main" id="{784DB1FE-55CB-E9C7-14FB-F823AD2B9F92}"/>
              </a:ext>
            </a:extLst>
          </p:cNvPr>
          <p:cNvSpPr txBox="1"/>
          <p:nvPr/>
        </p:nvSpPr>
        <p:spPr>
          <a:xfrm>
            <a:off x="5581718" y="794879"/>
            <a:ext cx="599844" cy="323165"/>
          </a:xfrm>
          <a:prstGeom prst="rect">
            <a:avLst/>
          </a:prstGeom>
          <a:noFill/>
        </p:spPr>
        <p:txBody>
          <a:bodyPr wrap="none" rtlCol="0">
            <a:spAutoFit/>
          </a:bodyPr>
          <a:lstStyle/>
          <a:p>
            <a:r>
              <a:rPr lang="de-DE" sz="1500" dirty="0" err="1">
                <a:solidFill>
                  <a:srgbClr val="5B0503"/>
                </a:solidFill>
              </a:rPr>
              <a:t>weird</a:t>
            </a:r>
            <a:endParaRPr lang="en-US" sz="1500" dirty="0">
              <a:solidFill>
                <a:srgbClr val="5B0503"/>
              </a:solidFill>
            </a:endParaRPr>
          </a:p>
        </p:txBody>
      </p:sp>
      <p:sp>
        <p:nvSpPr>
          <p:cNvPr id="12" name="Textfeld 11">
            <a:extLst>
              <a:ext uri="{FF2B5EF4-FFF2-40B4-BE49-F238E27FC236}">
                <a16:creationId xmlns:a16="http://schemas.microsoft.com/office/drawing/2014/main" id="{F786EFA2-E70A-4CA2-A036-9CF04C1CA268}"/>
              </a:ext>
            </a:extLst>
          </p:cNvPr>
          <p:cNvSpPr txBox="1"/>
          <p:nvPr/>
        </p:nvSpPr>
        <p:spPr>
          <a:xfrm>
            <a:off x="5515994" y="3262130"/>
            <a:ext cx="708848" cy="323165"/>
          </a:xfrm>
          <a:prstGeom prst="rect">
            <a:avLst/>
          </a:prstGeom>
          <a:noFill/>
        </p:spPr>
        <p:txBody>
          <a:bodyPr wrap="none" rtlCol="0">
            <a:spAutoFit/>
          </a:bodyPr>
          <a:lstStyle/>
          <a:p>
            <a:r>
              <a:rPr lang="de-DE" sz="1500" dirty="0">
                <a:solidFill>
                  <a:srgbClr val="5B0503"/>
                </a:solidFill>
              </a:rPr>
              <a:t>bizarre</a:t>
            </a:r>
            <a:endParaRPr lang="en-US" sz="1500" dirty="0">
              <a:solidFill>
                <a:srgbClr val="5B0503"/>
              </a:solidFill>
            </a:endParaRPr>
          </a:p>
        </p:txBody>
      </p:sp>
      <p:sp>
        <p:nvSpPr>
          <p:cNvPr id="13" name="Textfeld 12">
            <a:extLst>
              <a:ext uri="{FF2B5EF4-FFF2-40B4-BE49-F238E27FC236}">
                <a16:creationId xmlns:a16="http://schemas.microsoft.com/office/drawing/2014/main" id="{36CAF97A-72A2-54BF-2312-CA7717509603}"/>
              </a:ext>
            </a:extLst>
          </p:cNvPr>
          <p:cNvSpPr txBox="1"/>
          <p:nvPr/>
        </p:nvSpPr>
        <p:spPr>
          <a:xfrm>
            <a:off x="272454" y="2582308"/>
            <a:ext cx="721672" cy="323165"/>
          </a:xfrm>
          <a:prstGeom prst="rect">
            <a:avLst/>
          </a:prstGeom>
          <a:noFill/>
        </p:spPr>
        <p:txBody>
          <a:bodyPr wrap="none" rtlCol="0">
            <a:spAutoFit/>
          </a:bodyPr>
          <a:lstStyle/>
          <a:p>
            <a:r>
              <a:rPr lang="de-DE" sz="1500" dirty="0" err="1">
                <a:solidFill>
                  <a:srgbClr val="5B0503"/>
                </a:solidFill>
              </a:rPr>
              <a:t>robotic</a:t>
            </a:r>
            <a:endParaRPr lang="en-US" sz="1500" dirty="0">
              <a:solidFill>
                <a:srgbClr val="5B0503"/>
              </a:solidFill>
            </a:endParaRPr>
          </a:p>
        </p:txBody>
      </p:sp>
      <p:sp>
        <p:nvSpPr>
          <p:cNvPr id="14" name="Textfeld 13">
            <a:extLst>
              <a:ext uri="{FF2B5EF4-FFF2-40B4-BE49-F238E27FC236}">
                <a16:creationId xmlns:a16="http://schemas.microsoft.com/office/drawing/2014/main" id="{502C4A03-034C-108D-6BFF-DEACECC98962}"/>
              </a:ext>
            </a:extLst>
          </p:cNvPr>
          <p:cNvSpPr txBox="1"/>
          <p:nvPr/>
        </p:nvSpPr>
        <p:spPr>
          <a:xfrm>
            <a:off x="4115044" y="359248"/>
            <a:ext cx="920445" cy="323165"/>
          </a:xfrm>
          <a:prstGeom prst="rect">
            <a:avLst/>
          </a:prstGeom>
          <a:noFill/>
        </p:spPr>
        <p:txBody>
          <a:bodyPr wrap="none" rtlCol="0">
            <a:spAutoFit/>
          </a:bodyPr>
          <a:lstStyle/>
          <a:p>
            <a:r>
              <a:rPr lang="de-DE" sz="1500" dirty="0" err="1">
                <a:solidFill>
                  <a:srgbClr val="5B0503"/>
                </a:solidFill>
              </a:rPr>
              <a:t>unhealthy</a:t>
            </a:r>
            <a:endParaRPr lang="en-US" sz="1500" dirty="0">
              <a:solidFill>
                <a:srgbClr val="5B0503"/>
              </a:solidFill>
            </a:endParaRPr>
          </a:p>
        </p:txBody>
      </p:sp>
      <p:sp>
        <p:nvSpPr>
          <p:cNvPr id="15" name="Textfeld 14">
            <a:extLst>
              <a:ext uri="{FF2B5EF4-FFF2-40B4-BE49-F238E27FC236}">
                <a16:creationId xmlns:a16="http://schemas.microsoft.com/office/drawing/2014/main" id="{8CDFDEAA-EA1B-1D2E-B3DF-1E75D0932C77}"/>
              </a:ext>
            </a:extLst>
          </p:cNvPr>
          <p:cNvSpPr txBox="1"/>
          <p:nvPr/>
        </p:nvSpPr>
        <p:spPr>
          <a:xfrm>
            <a:off x="5858396" y="2451934"/>
            <a:ext cx="758541" cy="323165"/>
          </a:xfrm>
          <a:prstGeom prst="rect">
            <a:avLst/>
          </a:prstGeom>
          <a:noFill/>
        </p:spPr>
        <p:txBody>
          <a:bodyPr wrap="none" rtlCol="0">
            <a:spAutoFit/>
          </a:bodyPr>
          <a:lstStyle/>
          <a:p>
            <a:r>
              <a:rPr lang="de-DE" sz="1500" dirty="0" err="1">
                <a:solidFill>
                  <a:srgbClr val="5B0503"/>
                </a:solidFill>
              </a:rPr>
              <a:t>strange</a:t>
            </a:r>
            <a:endParaRPr lang="en-US" sz="1500" dirty="0">
              <a:solidFill>
                <a:srgbClr val="5B0503"/>
              </a:solidFill>
            </a:endParaRPr>
          </a:p>
        </p:txBody>
      </p:sp>
      <p:sp>
        <p:nvSpPr>
          <p:cNvPr id="16" name="Textfeld 15">
            <a:extLst>
              <a:ext uri="{FF2B5EF4-FFF2-40B4-BE49-F238E27FC236}">
                <a16:creationId xmlns:a16="http://schemas.microsoft.com/office/drawing/2014/main" id="{D9823116-294C-4D58-76FE-DF986AE07885}"/>
              </a:ext>
            </a:extLst>
          </p:cNvPr>
          <p:cNvSpPr txBox="1"/>
          <p:nvPr/>
        </p:nvSpPr>
        <p:spPr>
          <a:xfrm>
            <a:off x="638858" y="919320"/>
            <a:ext cx="1095172" cy="323165"/>
          </a:xfrm>
          <a:prstGeom prst="rect">
            <a:avLst/>
          </a:prstGeom>
          <a:noFill/>
        </p:spPr>
        <p:txBody>
          <a:bodyPr wrap="none" rtlCol="0">
            <a:spAutoFit/>
          </a:bodyPr>
          <a:lstStyle/>
          <a:p>
            <a:r>
              <a:rPr lang="de-DE" sz="1500" dirty="0" err="1">
                <a:solidFill>
                  <a:srgbClr val="5B0503"/>
                </a:solidFill>
              </a:rPr>
              <a:t>machinelike</a:t>
            </a:r>
            <a:endParaRPr lang="en-US" sz="1500" dirty="0">
              <a:solidFill>
                <a:srgbClr val="5B0503"/>
              </a:solidFill>
            </a:endParaRPr>
          </a:p>
        </p:txBody>
      </p:sp>
      <p:sp>
        <p:nvSpPr>
          <p:cNvPr id="17" name="Textfeld 16">
            <a:extLst>
              <a:ext uri="{FF2B5EF4-FFF2-40B4-BE49-F238E27FC236}">
                <a16:creationId xmlns:a16="http://schemas.microsoft.com/office/drawing/2014/main" id="{0596D8B6-08B1-6228-E7A2-B5A904DE8244}"/>
              </a:ext>
            </a:extLst>
          </p:cNvPr>
          <p:cNvSpPr txBox="1"/>
          <p:nvPr/>
        </p:nvSpPr>
        <p:spPr>
          <a:xfrm>
            <a:off x="901750" y="3289440"/>
            <a:ext cx="870751" cy="323165"/>
          </a:xfrm>
          <a:prstGeom prst="rect">
            <a:avLst/>
          </a:prstGeom>
          <a:noFill/>
        </p:spPr>
        <p:txBody>
          <a:bodyPr wrap="none" rtlCol="0">
            <a:spAutoFit/>
          </a:bodyPr>
          <a:lstStyle/>
          <a:p>
            <a:r>
              <a:rPr lang="de-DE" sz="1500" dirty="0" err="1">
                <a:solidFill>
                  <a:srgbClr val="5B0503"/>
                </a:solidFill>
              </a:rPr>
              <a:t>distorted</a:t>
            </a:r>
            <a:endParaRPr lang="en-US" sz="1500" dirty="0">
              <a:solidFill>
                <a:srgbClr val="5B0503"/>
              </a:solidFill>
            </a:endParaRPr>
          </a:p>
        </p:txBody>
      </p:sp>
      <p:sp>
        <p:nvSpPr>
          <p:cNvPr id="18" name="Textfeld 17">
            <a:extLst>
              <a:ext uri="{FF2B5EF4-FFF2-40B4-BE49-F238E27FC236}">
                <a16:creationId xmlns:a16="http://schemas.microsoft.com/office/drawing/2014/main" id="{75D29EA3-C739-9BE4-802E-AE24CAE0DF8E}"/>
              </a:ext>
            </a:extLst>
          </p:cNvPr>
          <p:cNvSpPr txBox="1"/>
          <p:nvPr/>
        </p:nvSpPr>
        <p:spPr>
          <a:xfrm>
            <a:off x="5859044" y="1528452"/>
            <a:ext cx="813043" cy="323165"/>
          </a:xfrm>
          <a:prstGeom prst="rect">
            <a:avLst/>
          </a:prstGeom>
          <a:noFill/>
        </p:spPr>
        <p:txBody>
          <a:bodyPr wrap="none" rtlCol="0">
            <a:spAutoFit/>
          </a:bodyPr>
          <a:lstStyle/>
          <a:p>
            <a:r>
              <a:rPr lang="de-DE" sz="1500" dirty="0" err="1">
                <a:solidFill>
                  <a:srgbClr val="5B0503"/>
                </a:solidFill>
              </a:rPr>
              <a:t>artificial</a:t>
            </a:r>
            <a:endParaRPr lang="en-US" sz="1500" dirty="0">
              <a:solidFill>
                <a:srgbClr val="5B0503"/>
              </a:solidFill>
            </a:endParaRPr>
          </a:p>
        </p:txBody>
      </p:sp>
    </p:spTree>
    <p:extLst>
      <p:ext uri="{BB962C8B-B14F-4D97-AF65-F5344CB8AC3E}">
        <p14:creationId xmlns:p14="http://schemas.microsoft.com/office/powerpoint/2010/main" val="2147293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6" grpId="0"/>
      <p:bldP spid="17"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962665" y="1928817"/>
            <a:ext cx="1909590" cy="100959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pPr algn="ctr"/>
            <a:r>
              <a:rPr lang="en-US" sz="1500" b="1" dirty="0" err="1"/>
              <a:t>Warum</a:t>
            </a:r>
            <a:r>
              <a:rPr lang="en-US" sz="1500" b="1" dirty="0"/>
              <a:t> </a:t>
            </a:r>
            <a:r>
              <a:rPr lang="en-US" sz="1500" b="1" dirty="0" err="1"/>
              <a:t>ist</a:t>
            </a:r>
            <a:r>
              <a:rPr lang="en-US" sz="1500" b="1" dirty="0"/>
              <a:t> es </a:t>
            </a:r>
            <a:r>
              <a:rPr lang="en-US" sz="1500" b="1" dirty="0" err="1"/>
              <a:t>wichtig</a:t>
            </a:r>
            <a:r>
              <a:rPr lang="en-US" sz="1500" dirty="0"/>
              <a:t>, </a:t>
            </a:r>
            <a:r>
              <a:rPr lang="en-US" sz="1500" dirty="0" err="1"/>
              <a:t>sich</a:t>
            </a:r>
            <a:r>
              <a:rPr lang="en-US" sz="1500" dirty="0"/>
              <a:t> </a:t>
            </a:r>
            <a:r>
              <a:rPr lang="en-US" sz="1500" dirty="0" err="1"/>
              <a:t>mit</a:t>
            </a:r>
            <a:r>
              <a:rPr lang="en-US" sz="1500" dirty="0"/>
              <a:t> der </a:t>
            </a:r>
            <a:r>
              <a:rPr lang="en-US" sz="1500" dirty="0" err="1"/>
              <a:t>Natürlichkeit</a:t>
            </a:r>
            <a:r>
              <a:rPr lang="en-US" sz="1500" dirty="0"/>
              <a:t> von </a:t>
            </a:r>
            <a:r>
              <a:rPr lang="en-US" sz="1500" dirty="0" err="1"/>
              <a:t>Stimmen</a:t>
            </a:r>
            <a:r>
              <a:rPr lang="en-US" sz="1500" dirty="0"/>
              <a:t> </a:t>
            </a:r>
            <a:r>
              <a:rPr lang="en-US" sz="1500" dirty="0" err="1"/>
              <a:t>zu</a:t>
            </a:r>
            <a:r>
              <a:rPr lang="en-US" sz="1500" dirty="0"/>
              <a:t> </a:t>
            </a:r>
            <a:r>
              <a:rPr lang="en-US" sz="1500" dirty="0" err="1"/>
              <a:t>beschäftigen</a:t>
            </a:r>
            <a:r>
              <a:rPr lang="en-US" sz="1500" dirty="0"/>
              <a:t>?</a:t>
            </a:r>
          </a:p>
        </p:txBody>
      </p:sp>
      <p:sp>
        <p:nvSpPr>
          <p:cNvPr id="9" name="Textplatzhalter 8">
            <a:extLst>
              <a:ext uri="{FF2B5EF4-FFF2-40B4-BE49-F238E27FC236}">
                <a16:creationId xmlns:a16="http://schemas.microsoft.com/office/drawing/2014/main" id="{89F9A5D4-AAE1-7BF2-FB3B-CAB7A988045F}"/>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59384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340095" y="440204"/>
            <a:ext cx="6346050" cy="100959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err="1"/>
              <a:t>Natürlichkeit</a:t>
            </a:r>
            <a:r>
              <a:rPr lang="en-US" sz="1500" dirty="0"/>
              <a:t> hat </a:t>
            </a:r>
            <a:r>
              <a:rPr lang="en-US" sz="1500" dirty="0" err="1"/>
              <a:t>einen</a:t>
            </a:r>
            <a:r>
              <a:rPr lang="en-US" sz="1500" dirty="0"/>
              <a:t> (</a:t>
            </a:r>
            <a:r>
              <a:rPr lang="en-US" sz="1500" dirty="0" err="1"/>
              <a:t>negativen</a:t>
            </a:r>
            <a:r>
              <a:rPr lang="en-US" sz="1500" dirty="0"/>
              <a:t>) </a:t>
            </a:r>
            <a:r>
              <a:rPr lang="en-US" sz="1500" dirty="0" err="1"/>
              <a:t>Einfluss</a:t>
            </a:r>
            <a:r>
              <a:rPr lang="en-US" sz="1500" dirty="0"/>
              <a:t> auf die </a:t>
            </a:r>
            <a:r>
              <a:rPr lang="en-US" sz="1500" dirty="0" err="1"/>
              <a:t>kommunikative</a:t>
            </a:r>
            <a:r>
              <a:rPr lang="en-US" sz="1500" dirty="0"/>
              <a:t> </a:t>
            </a:r>
            <a:r>
              <a:rPr lang="en-US" sz="1500" dirty="0" err="1"/>
              <a:t>Qualität</a:t>
            </a:r>
            <a:endParaRPr lang="en-US" sz="1500" dirty="0"/>
          </a:p>
        </p:txBody>
      </p: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11" name="Textfeld 10">
            <a:extLst>
              <a:ext uri="{FF2B5EF4-FFF2-40B4-BE49-F238E27FC236}">
                <a16:creationId xmlns:a16="http://schemas.microsoft.com/office/drawing/2014/main" id="{26D70692-25F0-40F5-A7FE-5056FF06C58F}"/>
              </a:ext>
            </a:extLst>
          </p:cNvPr>
          <p:cNvSpPr txBox="1"/>
          <p:nvPr/>
        </p:nvSpPr>
        <p:spPr>
          <a:xfrm>
            <a:off x="276465" y="1986974"/>
            <a:ext cx="6305070" cy="1246495"/>
          </a:xfrm>
          <a:prstGeom prst="rect">
            <a:avLst/>
          </a:prstGeom>
          <a:noFill/>
        </p:spPr>
        <p:txBody>
          <a:bodyPr wrap="square" rtlCol="0">
            <a:spAutoFit/>
          </a:bodyPr>
          <a:lstStyle/>
          <a:p>
            <a:pPr algn="ctr"/>
            <a:r>
              <a:rPr lang="en-US" sz="1500" i="1" dirty="0"/>
              <a:t>“Impairments in speech naturalness can lead to communication partners perceiving the affected individuals as unhappy, cold, withdrawn, introverted, or bored. These false perceptions can interrupt participation in regular life roles, leading to loss of employment and independence. Thus, impaired speech naturalness can result in social isolation, reduced quality of life, and depression.” </a:t>
            </a:r>
            <a:r>
              <a:rPr lang="en-US" sz="1000" dirty="0"/>
              <a:t>[Stepp &amp; </a:t>
            </a:r>
            <a:r>
              <a:rPr lang="en-US" sz="1000" dirty="0" err="1"/>
              <a:t>Voijtech</a:t>
            </a:r>
            <a:r>
              <a:rPr lang="en-US" sz="1000" dirty="0"/>
              <a:t> 2019]</a:t>
            </a:r>
          </a:p>
        </p:txBody>
      </p:sp>
    </p:spTree>
    <p:extLst>
      <p:ext uri="{BB962C8B-B14F-4D97-AF65-F5344CB8AC3E}">
        <p14:creationId xmlns:p14="http://schemas.microsoft.com/office/powerpoint/2010/main" val="4243705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340095" y="440204"/>
            <a:ext cx="6346050" cy="100959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err="1"/>
              <a:t>Natürlichkeit</a:t>
            </a:r>
            <a:r>
              <a:rPr lang="en-US" sz="1500" dirty="0"/>
              <a:t> </a:t>
            </a:r>
            <a:r>
              <a:rPr lang="en-US" sz="1500" dirty="0" err="1"/>
              <a:t>ist</a:t>
            </a:r>
            <a:r>
              <a:rPr lang="en-US" sz="1500" dirty="0"/>
              <a:t> </a:t>
            </a:r>
            <a:r>
              <a:rPr lang="en-US" sz="1500" dirty="0" err="1"/>
              <a:t>ein</a:t>
            </a:r>
            <a:r>
              <a:rPr lang="en-US" sz="1500" dirty="0"/>
              <a:t> </a:t>
            </a:r>
            <a:r>
              <a:rPr lang="en-US" sz="1500" dirty="0" err="1"/>
              <a:t>wichtiger</a:t>
            </a:r>
            <a:r>
              <a:rPr lang="en-US" sz="1500" dirty="0"/>
              <a:t> </a:t>
            </a:r>
            <a:r>
              <a:rPr lang="en-US" sz="1500" dirty="0" err="1"/>
              <a:t>Designaspekt</a:t>
            </a:r>
            <a:r>
              <a:rPr lang="en-US" sz="1500" dirty="0"/>
              <a:t> von </a:t>
            </a:r>
            <a:r>
              <a:rPr lang="en-US" sz="1500" dirty="0" err="1"/>
              <a:t>Sprachsystemen</a:t>
            </a:r>
            <a:endParaRPr lang="en-US" sz="1500" dirty="0"/>
          </a:p>
        </p:txBody>
      </p: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11" name="Textfeld 10">
            <a:extLst>
              <a:ext uri="{FF2B5EF4-FFF2-40B4-BE49-F238E27FC236}">
                <a16:creationId xmlns:a16="http://schemas.microsoft.com/office/drawing/2014/main" id="{26D70692-25F0-40F5-A7FE-5056FF06C58F}"/>
              </a:ext>
            </a:extLst>
          </p:cNvPr>
          <p:cNvSpPr txBox="1"/>
          <p:nvPr/>
        </p:nvSpPr>
        <p:spPr>
          <a:xfrm>
            <a:off x="276465" y="1771531"/>
            <a:ext cx="6305070" cy="1846659"/>
          </a:xfrm>
          <a:prstGeom prst="rect">
            <a:avLst/>
          </a:prstGeom>
          <a:noFill/>
        </p:spPr>
        <p:txBody>
          <a:bodyPr wrap="square" rtlCol="0">
            <a:spAutoFit/>
          </a:bodyPr>
          <a:lstStyle/>
          <a:p>
            <a:pPr algn="ctr"/>
            <a:r>
              <a:rPr lang="en-US" sz="1500" i="1" dirty="0"/>
              <a:t>“The growing popularity of speech interfaces goes hand in hand with the creation of synthetic voices that sound ever more human. Previous research has been inconclusive about whether anthropomorphic design features of machines are more likely to be associated with positive user responses or, conversely, with uncanny experiences. To avoid detrimental effects of synthetic voice design, it is therefore crucial to explore what level of human realism human interactors prefer and whether their evaluations may vary across different domains of application.” </a:t>
            </a:r>
            <a:r>
              <a:rPr lang="en-US" sz="900" i="1" dirty="0"/>
              <a:t>[</a:t>
            </a:r>
            <a:r>
              <a:rPr lang="en-US" sz="900" i="1" dirty="0" err="1"/>
              <a:t>Schreibelmayer</a:t>
            </a:r>
            <a:r>
              <a:rPr lang="en-US" sz="900" i="1" dirty="0"/>
              <a:t> &amp; Mara, 2022]</a:t>
            </a:r>
          </a:p>
        </p:txBody>
      </p:sp>
    </p:spTree>
    <p:extLst>
      <p:ext uri="{BB962C8B-B14F-4D97-AF65-F5344CB8AC3E}">
        <p14:creationId xmlns:p14="http://schemas.microsoft.com/office/powerpoint/2010/main" val="2359506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340095" y="440204"/>
            <a:ext cx="6346050" cy="100959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err="1"/>
              <a:t>Natürlichkeit</a:t>
            </a:r>
            <a:r>
              <a:rPr lang="en-US" sz="1500" dirty="0"/>
              <a:t> </a:t>
            </a:r>
            <a:r>
              <a:rPr lang="en-US" sz="1500" dirty="0" err="1"/>
              <a:t>ist</a:t>
            </a:r>
            <a:r>
              <a:rPr lang="en-US" sz="1500" dirty="0"/>
              <a:t> </a:t>
            </a:r>
            <a:r>
              <a:rPr lang="en-US" sz="1500" dirty="0" err="1"/>
              <a:t>wichtig</a:t>
            </a:r>
            <a:r>
              <a:rPr lang="en-US" sz="1500" dirty="0"/>
              <a:t> </a:t>
            </a:r>
            <a:r>
              <a:rPr lang="en-US" sz="1500" dirty="0" err="1"/>
              <a:t>für</a:t>
            </a:r>
            <a:r>
              <a:rPr lang="en-US" sz="1500" dirty="0"/>
              <a:t> die </a:t>
            </a:r>
            <a:r>
              <a:rPr lang="en-US" sz="1500" dirty="0" err="1"/>
              <a:t>Wahrnehmung</a:t>
            </a:r>
            <a:r>
              <a:rPr lang="en-US" sz="1500" dirty="0"/>
              <a:t> der </a:t>
            </a:r>
            <a:r>
              <a:rPr lang="en-US" sz="1500" dirty="0" err="1"/>
              <a:t>eigenen</a:t>
            </a:r>
            <a:r>
              <a:rPr lang="en-US" sz="1500" dirty="0"/>
              <a:t> </a:t>
            </a:r>
            <a:r>
              <a:rPr lang="en-US" sz="1500" dirty="0" err="1"/>
              <a:t>Stimme</a:t>
            </a:r>
            <a:endParaRPr lang="en-US" sz="1500" dirty="0"/>
          </a:p>
        </p:txBody>
      </p: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pic>
        <p:nvPicPr>
          <p:cNvPr id="5" name="Grafik 4">
            <a:extLst>
              <a:ext uri="{FF2B5EF4-FFF2-40B4-BE49-F238E27FC236}">
                <a16:creationId xmlns:a16="http://schemas.microsoft.com/office/drawing/2014/main" id="{2BC91051-2F25-EDB4-56BE-85A72073410A}"/>
              </a:ext>
            </a:extLst>
          </p:cNvPr>
          <p:cNvPicPr>
            <a:picLocks noChangeAspect="1"/>
          </p:cNvPicPr>
          <p:nvPr/>
        </p:nvPicPr>
        <p:blipFill>
          <a:blip r:embed="rId3"/>
          <a:stretch>
            <a:fillRect/>
          </a:stretch>
        </p:blipFill>
        <p:spPr>
          <a:xfrm>
            <a:off x="340095" y="945001"/>
            <a:ext cx="5726854" cy="1431714"/>
          </a:xfrm>
          <a:prstGeom prst="rect">
            <a:avLst/>
          </a:prstGeom>
        </p:spPr>
      </p:pic>
      <p:sp>
        <p:nvSpPr>
          <p:cNvPr id="8" name="Textfeld 7">
            <a:extLst>
              <a:ext uri="{FF2B5EF4-FFF2-40B4-BE49-F238E27FC236}">
                <a16:creationId xmlns:a16="http://schemas.microsoft.com/office/drawing/2014/main" id="{B39EAB2C-4432-6CC3-F6F6-7A70AA878931}"/>
              </a:ext>
            </a:extLst>
          </p:cNvPr>
          <p:cNvSpPr txBox="1"/>
          <p:nvPr/>
        </p:nvSpPr>
        <p:spPr>
          <a:xfrm>
            <a:off x="277921" y="2563266"/>
            <a:ext cx="6302157" cy="553998"/>
          </a:xfrm>
          <a:prstGeom prst="rect">
            <a:avLst/>
          </a:prstGeom>
          <a:noFill/>
        </p:spPr>
        <p:txBody>
          <a:bodyPr wrap="square">
            <a:spAutoFit/>
          </a:bodyPr>
          <a:lstStyle/>
          <a:p>
            <a:r>
              <a:rPr lang="en-US" sz="1000" dirty="0"/>
              <a:t>“Identifying natural-sounding synthetic voices for persons who communicate using speech-generating devices is widely regarded as important (Mayo et al., 2011; Nusbaum et al., 1995), but measuring naturalness tends to be less straightforward than measuring intelligibility (Baird et al., 2018; Nusbaum et al., 1995). ” (p. 6)</a:t>
            </a:r>
          </a:p>
        </p:txBody>
      </p:sp>
      <p:sp>
        <p:nvSpPr>
          <p:cNvPr id="9" name="Textfeld 8">
            <a:extLst>
              <a:ext uri="{FF2B5EF4-FFF2-40B4-BE49-F238E27FC236}">
                <a16:creationId xmlns:a16="http://schemas.microsoft.com/office/drawing/2014/main" id="{CA96A689-1953-8286-2583-5353CB173039}"/>
              </a:ext>
            </a:extLst>
          </p:cNvPr>
          <p:cNvSpPr txBox="1"/>
          <p:nvPr/>
        </p:nvSpPr>
        <p:spPr>
          <a:xfrm>
            <a:off x="269310" y="3303815"/>
            <a:ext cx="6246385" cy="1015663"/>
          </a:xfrm>
          <a:prstGeom prst="rect">
            <a:avLst/>
          </a:prstGeom>
          <a:noFill/>
        </p:spPr>
        <p:txBody>
          <a:bodyPr wrap="square">
            <a:spAutoFit/>
          </a:bodyPr>
          <a:lstStyle/>
          <a:p>
            <a:r>
              <a:rPr lang="en-US" sz="1000" dirty="0"/>
              <a:t>“To examine relative preferences for intelligibility and naturalness, participants were asked whether they would prefer to use a synthetic voice that sounds</a:t>
            </a:r>
          </a:p>
          <a:p>
            <a:r>
              <a:rPr lang="en-US" sz="1000" dirty="0"/>
              <a:t>	(a) “different from [their] natural voice and is almost always understood,” </a:t>
            </a:r>
          </a:p>
          <a:p>
            <a:r>
              <a:rPr lang="en-US" sz="1000" dirty="0"/>
              <a:t>	(b) “similar to [their] natural voice and is frequently understood,” or </a:t>
            </a:r>
          </a:p>
          <a:p>
            <a:r>
              <a:rPr lang="en-US" sz="1000" dirty="0"/>
              <a:t>	(c) “exactly like [their] natural voice and is sometimes understood.”</a:t>
            </a:r>
          </a:p>
          <a:p>
            <a:r>
              <a:rPr lang="en-US" sz="1000" dirty="0"/>
              <a:t>Most participants preferred (b), a voice that as similar to their natural voice and frequently understood by others.” (p. 16)</a:t>
            </a:r>
          </a:p>
        </p:txBody>
      </p:sp>
    </p:spTree>
    <p:extLst>
      <p:ext uri="{BB962C8B-B14F-4D97-AF65-F5344CB8AC3E}">
        <p14:creationId xmlns:p14="http://schemas.microsoft.com/office/powerpoint/2010/main" val="194796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814192" y="1763165"/>
            <a:ext cx="2058063" cy="100959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pPr algn="ctr"/>
            <a:r>
              <a:rPr lang="en-US" sz="1500" dirty="0"/>
              <a:t>Aber was </a:t>
            </a:r>
            <a:r>
              <a:rPr lang="en-US" sz="1500" dirty="0" err="1"/>
              <a:t>genau</a:t>
            </a:r>
            <a:r>
              <a:rPr lang="en-US" sz="1500" dirty="0"/>
              <a:t> </a:t>
            </a:r>
            <a:r>
              <a:rPr lang="en-US" sz="1500" b="1" dirty="0" err="1"/>
              <a:t>meinen</a:t>
            </a:r>
            <a:r>
              <a:rPr lang="en-US" sz="1500" b="1" dirty="0"/>
              <a:t> </a:t>
            </a:r>
            <a:r>
              <a:rPr lang="en-US" sz="1500" b="1" dirty="0" err="1"/>
              <a:t>wir</a:t>
            </a:r>
            <a:r>
              <a:rPr lang="en-US" sz="1500" b="1" dirty="0"/>
              <a:t> </a:t>
            </a:r>
            <a:r>
              <a:rPr lang="en-US" sz="1500" b="1" dirty="0" err="1"/>
              <a:t>eigentlich</a:t>
            </a:r>
            <a:r>
              <a:rPr lang="en-US" sz="1500" dirty="0"/>
              <a:t> </a:t>
            </a:r>
            <a:r>
              <a:rPr lang="en-US" sz="1500" dirty="0" err="1"/>
              <a:t>mit</a:t>
            </a:r>
            <a:r>
              <a:rPr lang="en-US" sz="1500" dirty="0"/>
              <a:t> “</a:t>
            </a:r>
            <a:r>
              <a:rPr lang="en-US" sz="1500" dirty="0" err="1"/>
              <a:t>Natürlichkeit</a:t>
            </a:r>
            <a:r>
              <a:rPr lang="en-US" sz="1500" dirty="0"/>
              <a:t> in </a:t>
            </a:r>
            <a:r>
              <a:rPr lang="en-US" sz="1500" dirty="0" err="1"/>
              <a:t>Stimmen</a:t>
            </a:r>
            <a:r>
              <a:rPr lang="en-US" sz="1500" dirty="0"/>
              <a:t>”?</a:t>
            </a:r>
          </a:p>
        </p:txBody>
      </p:sp>
      <p:sp>
        <p:nvSpPr>
          <p:cNvPr id="4" name="Textplatzhalter 3">
            <a:extLst>
              <a:ext uri="{FF2B5EF4-FFF2-40B4-BE49-F238E27FC236}">
                <a16:creationId xmlns:a16="http://schemas.microsoft.com/office/drawing/2014/main" id="{572C6C58-FADB-E90C-0B24-840CF9AB956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762456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Was </a:t>
            </a:r>
            <a:r>
              <a:rPr lang="en-US" sz="1500" dirty="0" err="1"/>
              <a:t>ist</a:t>
            </a:r>
            <a:r>
              <a:rPr lang="en-US" sz="1500" dirty="0"/>
              <a:t> </a:t>
            </a:r>
            <a:r>
              <a:rPr lang="en-US" sz="1500" dirty="0" err="1"/>
              <a:t>eine</a:t>
            </a:r>
            <a:r>
              <a:rPr lang="en-US" sz="1500" dirty="0"/>
              <a:t> (un-)</a:t>
            </a:r>
            <a:r>
              <a:rPr lang="en-US" sz="1500" dirty="0" err="1"/>
              <a:t>natürliche</a:t>
            </a:r>
            <a:r>
              <a:rPr lang="en-US" sz="1500" dirty="0"/>
              <a:t> </a:t>
            </a:r>
            <a:r>
              <a:rPr lang="en-US" sz="1500" dirty="0" err="1"/>
              <a:t>Stimme</a:t>
            </a:r>
            <a:r>
              <a:rPr lang="en-US" sz="1500" dirty="0"/>
              <a:t>?</a:t>
            </a:r>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sp>
        <p:nvSpPr>
          <p:cNvPr id="5" name="Textfeld 4">
            <a:extLst>
              <a:ext uri="{FF2B5EF4-FFF2-40B4-BE49-F238E27FC236}">
                <a16:creationId xmlns:a16="http://schemas.microsoft.com/office/drawing/2014/main" id="{070D7A27-E257-87E3-AE56-08648A47EF1A}"/>
              </a:ext>
            </a:extLst>
          </p:cNvPr>
          <p:cNvSpPr txBox="1"/>
          <p:nvPr/>
        </p:nvSpPr>
        <p:spPr>
          <a:xfrm>
            <a:off x="340096" y="3689088"/>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pPr marL="285750" indent="-285750">
              <a:buFont typeface="Wingdings" panose="05000000000000000000" pitchFamily="2" charset="2"/>
              <a:buChar char="Ø"/>
            </a:pPr>
            <a:r>
              <a:rPr lang="en-US" sz="1600" dirty="0"/>
              <a:t>&lt;50% der </a:t>
            </a:r>
            <a:r>
              <a:rPr lang="en-US" sz="1600" dirty="0" err="1"/>
              <a:t>wiss</a:t>
            </a:r>
            <a:r>
              <a:rPr lang="en-US" sz="1600" dirty="0"/>
              <a:t>. </a:t>
            </a:r>
            <a:r>
              <a:rPr lang="en-US" sz="1600" dirty="0" err="1"/>
              <a:t>Publikationen</a:t>
            </a:r>
            <a:r>
              <a:rPr lang="en-US" sz="1600" dirty="0"/>
              <a:t> </a:t>
            </a:r>
            <a:r>
              <a:rPr lang="en-US" sz="1600" dirty="0" err="1"/>
              <a:t>haben</a:t>
            </a:r>
            <a:r>
              <a:rPr lang="en-US" sz="1600" dirty="0"/>
              <a:t> </a:t>
            </a:r>
            <a:r>
              <a:rPr lang="en-US" sz="1600" dirty="0" err="1"/>
              <a:t>überhaupt</a:t>
            </a:r>
            <a:r>
              <a:rPr lang="en-US" sz="1600" dirty="0"/>
              <a:t> </a:t>
            </a:r>
            <a:r>
              <a:rPr lang="en-US" sz="1600" dirty="0" err="1"/>
              <a:t>eine</a:t>
            </a:r>
            <a:r>
              <a:rPr lang="en-US" sz="1600" dirty="0"/>
              <a:t> </a:t>
            </a:r>
            <a:r>
              <a:rPr lang="en-US" sz="1600" dirty="0" err="1"/>
              <a:t>explizite</a:t>
            </a:r>
            <a:r>
              <a:rPr lang="en-US" sz="1600" dirty="0"/>
              <a:t> Definition </a:t>
            </a:r>
          </a:p>
        </p:txBody>
      </p:sp>
      <p:sp>
        <p:nvSpPr>
          <p:cNvPr id="4" name="Textfeld 3">
            <a:extLst>
              <a:ext uri="{FF2B5EF4-FFF2-40B4-BE49-F238E27FC236}">
                <a16:creationId xmlns:a16="http://schemas.microsoft.com/office/drawing/2014/main" id="{0AE98676-2D7A-9949-FF42-48C3DD451A27}"/>
              </a:ext>
            </a:extLst>
          </p:cNvPr>
          <p:cNvSpPr txBox="1"/>
          <p:nvPr/>
        </p:nvSpPr>
        <p:spPr>
          <a:xfrm flipH="1">
            <a:off x="1296140" y="1199904"/>
            <a:ext cx="1907089" cy="116955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i="1" dirty="0">
                <a:solidFill>
                  <a:schemeClr val="tx1"/>
                </a:solidFill>
              </a:rPr>
              <a:t>“Naturalness was defined as conforming to the listener’s standards of rate, rhythm, intonation, and stress patterning and to the syntactic structure of the utterance being produced” [Abur et al. 2021, page 4687]</a:t>
            </a:r>
            <a:endParaRPr lang="en-US" sz="1000" dirty="0">
              <a:solidFill>
                <a:schemeClr val="tx1"/>
              </a:solidFill>
            </a:endParaRPr>
          </a:p>
        </p:txBody>
      </p:sp>
      <p:sp>
        <p:nvSpPr>
          <p:cNvPr id="7" name="Textfeld 6">
            <a:extLst>
              <a:ext uri="{FF2B5EF4-FFF2-40B4-BE49-F238E27FC236}">
                <a16:creationId xmlns:a16="http://schemas.microsoft.com/office/drawing/2014/main" id="{EDDC3351-F2A9-15CA-C915-CF6F1D61FE06}"/>
              </a:ext>
            </a:extLst>
          </p:cNvPr>
          <p:cNvSpPr txBox="1"/>
          <p:nvPr/>
        </p:nvSpPr>
        <p:spPr>
          <a:xfrm flipH="1">
            <a:off x="1296140" y="2573991"/>
            <a:ext cx="1907089"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i="1" dirty="0">
                <a:solidFill>
                  <a:schemeClr val="tx1"/>
                </a:solidFill>
              </a:rPr>
              <a:t>"Naturalness’ will not be defined for you.“ [Martin 1984, page 54]</a:t>
            </a:r>
          </a:p>
        </p:txBody>
      </p:sp>
      <p:sp>
        <p:nvSpPr>
          <p:cNvPr id="11" name="Textfeld 10">
            <a:extLst>
              <a:ext uri="{FF2B5EF4-FFF2-40B4-BE49-F238E27FC236}">
                <a16:creationId xmlns:a16="http://schemas.microsoft.com/office/drawing/2014/main" id="{8093030F-D1A3-1AA0-2336-1D5F3F7812B8}"/>
              </a:ext>
            </a:extLst>
          </p:cNvPr>
          <p:cNvSpPr txBox="1"/>
          <p:nvPr/>
        </p:nvSpPr>
        <p:spPr>
          <a:xfrm flipH="1">
            <a:off x="3485365" y="1196669"/>
            <a:ext cx="1907089" cy="70788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i="1" dirty="0">
                <a:solidFill>
                  <a:schemeClr val="tx1"/>
                </a:solidFill>
              </a:rPr>
              <a:t>“Natural speech is the speech most closely perceived as a human voice.”</a:t>
            </a:r>
          </a:p>
          <a:p>
            <a:r>
              <a:rPr lang="en-US" sz="1000" i="1" dirty="0">
                <a:solidFill>
                  <a:schemeClr val="tx1"/>
                </a:solidFill>
              </a:rPr>
              <a:t>[</a:t>
            </a:r>
            <a:r>
              <a:rPr lang="en-US" sz="1000" i="1" dirty="0" err="1">
                <a:solidFill>
                  <a:schemeClr val="tx1"/>
                </a:solidFill>
              </a:rPr>
              <a:t>Mawalim</a:t>
            </a:r>
            <a:r>
              <a:rPr lang="en-US" sz="1000" i="1" dirty="0">
                <a:solidFill>
                  <a:schemeClr val="tx1"/>
                </a:solidFill>
              </a:rPr>
              <a:t> et al. 2022, page 10]</a:t>
            </a:r>
          </a:p>
        </p:txBody>
      </p:sp>
      <p:sp>
        <p:nvSpPr>
          <p:cNvPr id="12" name="Textfeld 11">
            <a:extLst>
              <a:ext uri="{FF2B5EF4-FFF2-40B4-BE49-F238E27FC236}">
                <a16:creationId xmlns:a16="http://schemas.microsoft.com/office/drawing/2014/main" id="{C864BCA1-2EBC-75F4-6A48-09F376DFC355}"/>
              </a:ext>
            </a:extLst>
          </p:cNvPr>
          <p:cNvSpPr txBox="1"/>
          <p:nvPr/>
        </p:nvSpPr>
        <p:spPr>
          <a:xfrm flipH="1">
            <a:off x="3485365" y="2111535"/>
            <a:ext cx="1907089" cy="861774"/>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i="1" dirty="0">
                <a:solidFill>
                  <a:srgbClr val="002F5D"/>
                </a:solidFill>
              </a:rPr>
              <a:t>"By naturalness, we understand the voice stimulus to be perceived as a plausible outcome of the human speech production system. </a:t>
            </a:r>
            <a:r>
              <a:rPr lang="en-US" sz="1000" dirty="0">
                <a:solidFill>
                  <a:srgbClr val="002F5D"/>
                </a:solidFill>
              </a:rPr>
              <a:t>“ [Nussbaum, et. al. 2023, page 1]</a:t>
            </a:r>
          </a:p>
        </p:txBody>
      </p:sp>
    </p:spTree>
    <p:extLst>
      <p:ext uri="{BB962C8B-B14F-4D97-AF65-F5344CB8AC3E}">
        <p14:creationId xmlns:p14="http://schemas.microsoft.com/office/powerpoint/2010/main" val="306039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err="1"/>
              <a:t>Viele</a:t>
            </a:r>
            <a:r>
              <a:rPr lang="en-US" sz="1500" dirty="0"/>
              <a:t> </a:t>
            </a:r>
            <a:r>
              <a:rPr lang="en-US" sz="1500" dirty="0" err="1"/>
              <a:t>Begriffe</a:t>
            </a:r>
            <a:r>
              <a:rPr lang="en-US" sz="1500" dirty="0"/>
              <a:t> </a:t>
            </a:r>
            <a:r>
              <a:rPr lang="en-US" sz="1500" dirty="0" err="1"/>
              <a:t>für</a:t>
            </a:r>
            <a:r>
              <a:rPr lang="en-US" sz="1500" dirty="0"/>
              <a:t> </a:t>
            </a:r>
            <a:r>
              <a:rPr lang="en-US" sz="1500" dirty="0" err="1"/>
              <a:t>verwandte</a:t>
            </a:r>
            <a:r>
              <a:rPr lang="en-US" sz="1500" dirty="0"/>
              <a:t> </a:t>
            </a:r>
            <a:r>
              <a:rPr lang="en-US" sz="1500" dirty="0" err="1"/>
              <a:t>Konzepte</a:t>
            </a:r>
            <a:r>
              <a:rPr lang="en-US" sz="1500" dirty="0"/>
              <a:t> – </a:t>
            </a:r>
            <a:r>
              <a:rPr lang="en-US" sz="1500" dirty="0" err="1"/>
              <a:t>Synonyme</a:t>
            </a:r>
            <a:r>
              <a:rPr lang="en-US" sz="1500" dirty="0"/>
              <a:t> von “</a:t>
            </a:r>
            <a:r>
              <a:rPr lang="en-US" sz="1500" dirty="0" err="1"/>
              <a:t>Natürlichkeit</a:t>
            </a:r>
            <a:r>
              <a:rPr lang="en-US" sz="1500" dirty="0"/>
              <a:t>”</a:t>
            </a:r>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pic>
        <p:nvPicPr>
          <p:cNvPr id="9" name="Grafik 8" descr="Ein Bild, das Text, Screenshot, Schrift enthält.&#10;&#10;Automatisch generierte Beschreibung">
            <a:extLst>
              <a:ext uri="{FF2B5EF4-FFF2-40B4-BE49-F238E27FC236}">
                <a16:creationId xmlns:a16="http://schemas.microsoft.com/office/drawing/2014/main" id="{35841147-2288-586A-CAFA-9AA5B6CAA0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24363" y="867114"/>
            <a:ext cx="3409274" cy="3409272"/>
          </a:xfrm>
          <a:prstGeom prst="rect">
            <a:avLst/>
          </a:prstGeom>
        </p:spPr>
      </p:pic>
    </p:spTree>
    <p:extLst>
      <p:ext uri="{BB962C8B-B14F-4D97-AF65-F5344CB8AC3E}">
        <p14:creationId xmlns:p14="http://schemas.microsoft.com/office/powerpoint/2010/main" val="2439402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err="1"/>
              <a:t>Natürlichkeit</a:t>
            </a:r>
            <a:r>
              <a:rPr lang="en-US" sz="1500" dirty="0"/>
              <a:t> in </a:t>
            </a:r>
            <a:r>
              <a:rPr lang="en-US" sz="1500" dirty="0" err="1"/>
              <a:t>Stimmen</a:t>
            </a:r>
            <a:r>
              <a:rPr lang="en-US" sz="1500" dirty="0"/>
              <a:t> – </a:t>
            </a:r>
            <a:r>
              <a:rPr lang="en-US" sz="1500" dirty="0" err="1"/>
              <a:t>eher</a:t>
            </a:r>
            <a:r>
              <a:rPr lang="en-US" sz="1500" dirty="0"/>
              <a:t> </a:t>
            </a:r>
            <a:r>
              <a:rPr lang="en-US" sz="1500" dirty="0" err="1"/>
              <a:t>ein</a:t>
            </a:r>
            <a:r>
              <a:rPr lang="en-US" sz="1500" dirty="0"/>
              <a:t> </a:t>
            </a:r>
            <a:r>
              <a:rPr lang="en-US" sz="1500" dirty="0" err="1"/>
              <a:t>Flickenteppich</a:t>
            </a:r>
            <a:r>
              <a:rPr lang="en-US" sz="1500" dirty="0"/>
              <a:t> </a:t>
            </a:r>
            <a:r>
              <a:rPr lang="en-US" sz="1500" dirty="0" err="1"/>
              <a:t>als</a:t>
            </a:r>
            <a:r>
              <a:rPr lang="en-US" sz="1500" dirty="0"/>
              <a:t> </a:t>
            </a:r>
            <a:r>
              <a:rPr lang="en-US" sz="1500" dirty="0" err="1"/>
              <a:t>ein</a:t>
            </a:r>
            <a:r>
              <a:rPr lang="en-US" sz="1500" dirty="0"/>
              <a:t> </a:t>
            </a:r>
            <a:r>
              <a:rPr lang="en-US" sz="1500" dirty="0" err="1"/>
              <a:t>Forschungsfeld</a:t>
            </a:r>
            <a:endParaRPr lang="en-US" sz="1500" dirty="0"/>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pic>
        <p:nvPicPr>
          <p:cNvPr id="7" name="Grafik 6">
            <a:extLst>
              <a:ext uri="{FF2B5EF4-FFF2-40B4-BE49-F238E27FC236}">
                <a16:creationId xmlns:a16="http://schemas.microsoft.com/office/drawing/2014/main" id="{20B850D0-87A1-4878-A49C-21D0AFAD6F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6991" y="793609"/>
            <a:ext cx="4961504" cy="3508194"/>
          </a:xfrm>
          <a:prstGeom prst="rect">
            <a:avLst/>
          </a:prstGeom>
        </p:spPr>
      </p:pic>
    </p:spTree>
    <p:extLst>
      <p:ext uri="{BB962C8B-B14F-4D97-AF65-F5344CB8AC3E}">
        <p14:creationId xmlns:p14="http://schemas.microsoft.com/office/powerpoint/2010/main" val="2705815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3"/>
            <a:ext cx="6074992" cy="523219"/>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Understanding Voice Naturalness (2025)</a:t>
            </a:r>
          </a:p>
          <a:p>
            <a:r>
              <a:rPr lang="en-US" sz="800" dirty="0"/>
              <a:t>Christine Nussbaum, Sascha </a:t>
            </a:r>
            <a:r>
              <a:rPr lang="en-US" sz="800" dirty="0" err="1"/>
              <a:t>Frühholz</a:t>
            </a:r>
            <a:r>
              <a:rPr lang="en-US" sz="800" dirty="0"/>
              <a:t> and Stefan R. </a:t>
            </a:r>
            <a:r>
              <a:rPr lang="en-US" sz="800" dirty="0" err="1"/>
              <a:t>Schweinberger</a:t>
            </a:r>
            <a:endParaRPr lang="en-US" sz="800" dirty="0"/>
          </a:p>
          <a:p>
            <a:r>
              <a:rPr lang="en-US" sz="800" dirty="0"/>
              <a:t>In </a:t>
            </a:r>
            <a:r>
              <a:rPr lang="de-DE" sz="800" i="1" dirty="0"/>
              <a:t>Trends in </a:t>
            </a:r>
            <a:r>
              <a:rPr lang="de-DE" sz="800" i="1" dirty="0" err="1"/>
              <a:t>Cognitive</a:t>
            </a:r>
            <a:r>
              <a:rPr lang="de-DE" sz="800" i="1" dirty="0"/>
              <a:t>  Sciences</a:t>
            </a:r>
            <a:endParaRPr lang="en-US" sz="800" dirty="0"/>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pic>
        <p:nvPicPr>
          <p:cNvPr id="7" name="Grafik 6" descr="Ein Bild, das Text, Screenshot, Schrift, Design enthält.&#10;&#10;Automatisch generierte Beschreibung">
            <a:extLst>
              <a:ext uri="{FF2B5EF4-FFF2-40B4-BE49-F238E27FC236}">
                <a16:creationId xmlns:a16="http://schemas.microsoft.com/office/drawing/2014/main" id="{1E0356A9-BD7E-F672-EE4B-24C9735551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0394" y="1725828"/>
            <a:ext cx="6205301" cy="1734882"/>
          </a:xfrm>
          <a:prstGeom prst="rect">
            <a:avLst/>
          </a:prstGeom>
        </p:spPr>
      </p:pic>
      <p:sp>
        <p:nvSpPr>
          <p:cNvPr id="14" name="Textfeld 13">
            <a:extLst>
              <a:ext uri="{FF2B5EF4-FFF2-40B4-BE49-F238E27FC236}">
                <a16:creationId xmlns:a16="http://schemas.microsoft.com/office/drawing/2014/main" id="{8BDFD3AA-3A5A-1450-F2E0-A18CA0B13F69}"/>
              </a:ext>
            </a:extLst>
          </p:cNvPr>
          <p:cNvSpPr txBox="1"/>
          <p:nvPr/>
        </p:nvSpPr>
        <p:spPr>
          <a:xfrm>
            <a:off x="340096" y="3417672"/>
            <a:ext cx="4094198" cy="276999"/>
          </a:xfrm>
          <a:prstGeom prst="rect">
            <a:avLst/>
          </a:prstGeom>
          <a:noFill/>
        </p:spPr>
        <p:txBody>
          <a:bodyPr wrap="none" rtlCol="0">
            <a:spAutoFit/>
          </a:bodyPr>
          <a:lstStyle/>
          <a:p>
            <a:r>
              <a:rPr lang="en-US" sz="1200" b="0" i="0" u="none" strike="noStrike" baseline="0" dirty="0">
                <a:latin typeface="Calibri" panose="020F0502020204030204" pitchFamily="34" charset="0"/>
              </a:rPr>
              <a:t>A conceptual framework for the definition of voice naturalness</a:t>
            </a:r>
            <a:endParaRPr lang="de-DE" sz="1200" dirty="0"/>
          </a:p>
        </p:txBody>
      </p:sp>
      <p:pic>
        <p:nvPicPr>
          <p:cNvPr id="5" name="Grafik 4">
            <a:extLst>
              <a:ext uri="{FF2B5EF4-FFF2-40B4-BE49-F238E27FC236}">
                <a16:creationId xmlns:a16="http://schemas.microsoft.com/office/drawing/2014/main" id="{787EC6A8-0C2D-53E9-C840-A097A56D86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54351" y="359248"/>
            <a:ext cx="812165" cy="812165"/>
          </a:xfrm>
          <a:prstGeom prst="rect">
            <a:avLst/>
          </a:prstGeom>
        </p:spPr>
      </p:pic>
    </p:spTree>
    <p:extLst>
      <p:ext uri="{BB962C8B-B14F-4D97-AF65-F5344CB8AC3E}">
        <p14:creationId xmlns:p14="http://schemas.microsoft.com/office/powerpoint/2010/main" val="1267005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962665" y="1763165"/>
            <a:ext cx="1909590" cy="100959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pPr algn="ctr"/>
            <a:r>
              <a:rPr lang="en-US" sz="1500" dirty="0"/>
              <a:t>Und </a:t>
            </a:r>
            <a:r>
              <a:rPr lang="en-US" sz="1500" dirty="0" err="1"/>
              <a:t>wie</a:t>
            </a:r>
            <a:r>
              <a:rPr lang="en-US" sz="1500" dirty="0"/>
              <a:t> </a:t>
            </a:r>
            <a:r>
              <a:rPr lang="en-US" sz="1500" dirty="0" err="1"/>
              <a:t>können</a:t>
            </a:r>
            <a:r>
              <a:rPr lang="en-US" sz="1500" dirty="0"/>
              <a:t> </a:t>
            </a:r>
            <a:r>
              <a:rPr lang="en-US" sz="1500" dirty="0" err="1"/>
              <a:t>wir</a:t>
            </a:r>
            <a:r>
              <a:rPr lang="en-US" sz="1500" dirty="0"/>
              <a:t> die </a:t>
            </a:r>
            <a:r>
              <a:rPr lang="en-US" sz="1500" dirty="0" err="1"/>
              <a:t>Natürlichkeit</a:t>
            </a:r>
            <a:r>
              <a:rPr lang="en-US" sz="1500" dirty="0"/>
              <a:t> von </a:t>
            </a:r>
            <a:r>
              <a:rPr lang="en-US" sz="1500" dirty="0" err="1"/>
              <a:t>Stimmen</a:t>
            </a:r>
            <a:r>
              <a:rPr lang="en-US" sz="1500" dirty="0"/>
              <a:t> </a:t>
            </a:r>
            <a:r>
              <a:rPr lang="en-US" sz="1500" b="1" dirty="0" err="1"/>
              <a:t>jetzt</a:t>
            </a:r>
            <a:r>
              <a:rPr lang="en-US" sz="1500" b="1" dirty="0"/>
              <a:t> </a:t>
            </a:r>
            <a:r>
              <a:rPr lang="en-US" sz="1500" b="1" dirty="0" err="1"/>
              <a:t>messen</a:t>
            </a:r>
            <a:r>
              <a:rPr lang="en-US" sz="1500" dirty="0"/>
              <a:t>?</a:t>
            </a:r>
          </a:p>
        </p:txBody>
      </p:sp>
      <p:sp>
        <p:nvSpPr>
          <p:cNvPr id="4" name="Textplatzhalter 3">
            <a:extLst>
              <a:ext uri="{FF2B5EF4-FFF2-40B4-BE49-F238E27FC236}">
                <a16:creationId xmlns:a16="http://schemas.microsoft.com/office/drawing/2014/main" id="{BBFD4846-7181-5768-3BF6-538E4BA9C0A9}"/>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274795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7C5563A7-0B97-448C-BD6D-C206FD648836}"/>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err="1"/>
              <a:t>Messung</a:t>
            </a:r>
            <a:r>
              <a:rPr lang="en-US" sz="1500" dirty="0"/>
              <a:t> von </a:t>
            </a:r>
            <a:r>
              <a:rPr lang="en-US" sz="1500" dirty="0" err="1"/>
              <a:t>Natürlichkeit</a:t>
            </a:r>
            <a:endParaRPr lang="en-US" sz="1500" dirty="0"/>
          </a:p>
        </p:txBody>
      </p:sp>
      <p:sp>
        <p:nvSpPr>
          <p:cNvPr id="9" name="Textfeld 8">
            <a:extLst>
              <a:ext uri="{FF2B5EF4-FFF2-40B4-BE49-F238E27FC236}">
                <a16:creationId xmlns:a16="http://schemas.microsoft.com/office/drawing/2014/main" id="{B8702B10-B665-4C9C-8BC9-8BD960EA0B09}"/>
              </a:ext>
            </a:extLst>
          </p:cNvPr>
          <p:cNvSpPr txBox="1"/>
          <p:nvPr/>
        </p:nvSpPr>
        <p:spPr>
          <a:xfrm flipH="1">
            <a:off x="446038" y="2417480"/>
            <a:ext cx="190729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000" dirty="0" err="1"/>
              <a:t>Klingt</a:t>
            </a:r>
            <a:r>
              <a:rPr lang="en-US" sz="1000" dirty="0"/>
              <a:t> </a:t>
            </a:r>
            <a:r>
              <a:rPr lang="en-US" sz="1000" dirty="0" err="1"/>
              <a:t>diese</a:t>
            </a:r>
            <a:r>
              <a:rPr lang="en-US" sz="1000" dirty="0"/>
              <a:t> </a:t>
            </a:r>
            <a:r>
              <a:rPr lang="en-US" sz="1000" dirty="0" err="1"/>
              <a:t>Stimme</a:t>
            </a:r>
            <a:r>
              <a:rPr lang="en-US" sz="1000" dirty="0"/>
              <a:t> </a:t>
            </a:r>
            <a:r>
              <a:rPr lang="en-US" sz="1000" dirty="0" err="1"/>
              <a:t>verzerrt</a:t>
            </a:r>
            <a:r>
              <a:rPr lang="en-US" sz="1000" dirty="0"/>
              <a:t> </a:t>
            </a:r>
            <a:r>
              <a:rPr lang="en-US" sz="1000" dirty="0" err="1"/>
              <a:t>oder</a:t>
            </a:r>
            <a:r>
              <a:rPr lang="en-US" sz="1000" dirty="0"/>
              <a:t> </a:t>
            </a:r>
            <a:r>
              <a:rPr lang="en-US" sz="1000" dirty="0" err="1"/>
              <a:t>robotisch</a:t>
            </a:r>
            <a:r>
              <a:rPr lang="en-US" sz="1000" dirty="0"/>
              <a:t>?</a:t>
            </a:r>
          </a:p>
        </p:txBody>
      </p:sp>
      <p:sp>
        <p:nvSpPr>
          <p:cNvPr id="10" name="Textfeld 9">
            <a:extLst>
              <a:ext uri="{FF2B5EF4-FFF2-40B4-BE49-F238E27FC236}">
                <a16:creationId xmlns:a16="http://schemas.microsoft.com/office/drawing/2014/main" id="{0DB24554-2105-4FDB-A778-49D8C7673E8F}"/>
              </a:ext>
            </a:extLst>
          </p:cNvPr>
          <p:cNvSpPr txBox="1"/>
          <p:nvPr/>
        </p:nvSpPr>
        <p:spPr>
          <a:xfrm flipH="1">
            <a:off x="446038" y="3079551"/>
            <a:ext cx="190729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000" dirty="0"/>
              <a:t>Wie menschen-</a:t>
            </a:r>
            <a:r>
              <a:rPr lang="en-US" sz="1000" dirty="0" err="1"/>
              <a:t>ähnlich</a:t>
            </a:r>
            <a:r>
              <a:rPr lang="en-US" sz="1000" dirty="0"/>
              <a:t> </a:t>
            </a:r>
            <a:r>
              <a:rPr lang="en-US" sz="1000" dirty="0" err="1"/>
              <a:t>klingt</a:t>
            </a:r>
            <a:r>
              <a:rPr lang="en-US" sz="1000" dirty="0"/>
              <a:t> </a:t>
            </a:r>
            <a:r>
              <a:rPr lang="en-US" sz="1000" dirty="0" err="1"/>
              <a:t>diese</a:t>
            </a:r>
            <a:r>
              <a:rPr lang="en-US" sz="1000" dirty="0"/>
              <a:t> </a:t>
            </a:r>
            <a:r>
              <a:rPr lang="en-US" sz="1000" dirty="0" err="1"/>
              <a:t>Stimme</a:t>
            </a:r>
            <a:r>
              <a:rPr lang="en-US" sz="1000" dirty="0"/>
              <a:t>? </a:t>
            </a:r>
          </a:p>
        </p:txBody>
      </p:sp>
      <p:sp>
        <p:nvSpPr>
          <p:cNvPr id="11" name="Textfeld 10">
            <a:extLst>
              <a:ext uri="{FF2B5EF4-FFF2-40B4-BE49-F238E27FC236}">
                <a16:creationId xmlns:a16="http://schemas.microsoft.com/office/drawing/2014/main" id="{35460B4A-D188-42CA-ACDE-B6EB9091E9DB}"/>
              </a:ext>
            </a:extLst>
          </p:cNvPr>
          <p:cNvSpPr txBox="1"/>
          <p:nvPr/>
        </p:nvSpPr>
        <p:spPr>
          <a:xfrm>
            <a:off x="281313" y="919377"/>
            <a:ext cx="3481062" cy="38691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pPr marL="285750" indent="-285750">
              <a:buFont typeface="Wingdings" panose="05000000000000000000" pitchFamily="2" charset="2"/>
              <a:buChar char="Ø"/>
            </a:pPr>
            <a:r>
              <a:rPr lang="en-US" sz="1500" dirty="0" err="1"/>
              <a:t>subjektives</a:t>
            </a:r>
            <a:r>
              <a:rPr lang="en-US" sz="1500" dirty="0"/>
              <a:t> </a:t>
            </a:r>
            <a:r>
              <a:rPr lang="en-US" sz="1500" dirty="0" err="1"/>
              <a:t>Erleben</a:t>
            </a:r>
            <a:r>
              <a:rPr lang="en-US" sz="1500" dirty="0"/>
              <a:t> </a:t>
            </a:r>
            <a:r>
              <a:rPr lang="en-US" sz="1500" dirty="0" err="1"/>
              <a:t>erfragen</a:t>
            </a:r>
            <a:endParaRPr lang="en-US" sz="1500" dirty="0"/>
          </a:p>
        </p:txBody>
      </p:sp>
      <p:sp>
        <p:nvSpPr>
          <p:cNvPr id="12" name="Textfeld 11">
            <a:extLst>
              <a:ext uri="{FF2B5EF4-FFF2-40B4-BE49-F238E27FC236}">
                <a16:creationId xmlns:a16="http://schemas.microsoft.com/office/drawing/2014/main" id="{75837C3C-F68E-48FF-AE9F-49BDA090F8F6}"/>
              </a:ext>
            </a:extLst>
          </p:cNvPr>
          <p:cNvSpPr txBox="1"/>
          <p:nvPr/>
        </p:nvSpPr>
        <p:spPr>
          <a:xfrm flipH="1">
            <a:off x="446038" y="1735348"/>
            <a:ext cx="190729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000" dirty="0">
                <a:ea typeface="Calibri" panose="020F0502020204030204" pitchFamily="34" charset="0"/>
                <a:cs typeface="Times New Roman" panose="02020603050405020304" pitchFamily="18" charset="0"/>
              </a:rPr>
              <a:t>Wie </a:t>
            </a:r>
            <a:r>
              <a:rPr lang="en-US" sz="1000" dirty="0" err="1">
                <a:ea typeface="Calibri" panose="020F0502020204030204" pitchFamily="34" charset="0"/>
                <a:cs typeface="Times New Roman" panose="02020603050405020304" pitchFamily="18" charset="0"/>
              </a:rPr>
              <a:t>natürlich</a:t>
            </a:r>
            <a:r>
              <a:rPr lang="en-US" sz="1000" dirty="0">
                <a:ea typeface="Calibri" panose="020F0502020204030204" pitchFamily="34" charset="0"/>
                <a:cs typeface="Times New Roman" panose="02020603050405020304" pitchFamily="18" charset="0"/>
              </a:rPr>
              <a:t> </a:t>
            </a:r>
            <a:r>
              <a:rPr lang="en-US" sz="1000" dirty="0" err="1">
                <a:ea typeface="Calibri" panose="020F0502020204030204" pitchFamily="34" charset="0"/>
                <a:cs typeface="Times New Roman" panose="02020603050405020304" pitchFamily="18" charset="0"/>
              </a:rPr>
              <a:t>klingt</a:t>
            </a:r>
            <a:r>
              <a:rPr lang="en-US" sz="1000" dirty="0">
                <a:ea typeface="Calibri" panose="020F0502020204030204" pitchFamily="34" charset="0"/>
                <a:cs typeface="Times New Roman" panose="02020603050405020304" pitchFamily="18" charset="0"/>
              </a:rPr>
              <a:t> </a:t>
            </a:r>
            <a:r>
              <a:rPr lang="en-US" sz="1000" dirty="0" err="1">
                <a:ea typeface="Calibri" panose="020F0502020204030204" pitchFamily="34" charset="0"/>
                <a:cs typeface="Times New Roman" panose="02020603050405020304" pitchFamily="18" charset="0"/>
              </a:rPr>
              <a:t>diese</a:t>
            </a:r>
            <a:r>
              <a:rPr lang="en-US" sz="1000" dirty="0">
                <a:ea typeface="Calibri" panose="020F0502020204030204" pitchFamily="34" charset="0"/>
                <a:cs typeface="Times New Roman" panose="02020603050405020304" pitchFamily="18" charset="0"/>
              </a:rPr>
              <a:t> </a:t>
            </a:r>
            <a:r>
              <a:rPr lang="en-US" sz="1000" dirty="0" err="1">
                <a:ea typeface="Calibri" panose="020F0502020204030204" pitchFamily="34" charset="0"/>
                <a:cs typeface="Times New Roman" panose="02020603050405020304" pitchFamily="18" charset="0"/>
              </a:rPr>
              <a:t>Stimme</a:t>
            </a:r>
            <a:r>
              <a:rPr lang="en-US" sz="1000" dirty="0">
                <a:ea typeface="Calibri" panose="020F0502020204030204" pitchFamily="34" charset="0"/>
                <a:cs typeface="Times New Roman" panose="02020603050405020304" pitchFamily="18" charset="0"/>
              </a:rPr>
              <a:t> für Sie?</a:t>
            </a:r>
            <a:endParaRPr lang="en-US" sz="1000" dirty="0"/>
          </a:p>
        </p:txBody>
      </p:sp>
      <p:sp>
        <p:nvSpPr>
          <p:cNvPr id="13" name="Textfeld 12">
            <a:extLst>
              <a:ext uri="{FF2B5EF4-FFF2-40B4-BE49-F238E27FC236}">
                <a16:creationId xmlns:a16="http://schemas.microsoft.com/office/drawing/2014/main" id="{116E605D-810E-4B07-8A43-0CF23B34AF65}"/>
              </a:ext>
            </a:extLst>
          </p:cNvPr>
          <p:cNvSpPr txBox="1"/>
          <p:nvPr/>
        </p:nvSpPr>
        <p:spPr>
          <a:xfrm flipH="1">
            <a:off x="2572539" y="1743565"/>
            <a:ext cx="190729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000" dirty="0" err="1"/>
              <a:t>Klingt</a:t>
            </a:r>
            <a:r>
              <a:rPr lang="en-US" sz="1000" dirty="0"/>
              <a:t> die </a:t>
            </a:r>
            <a:r>
              <a:rPr lang="en-US" sz="1000" dirty="0" err="1"/>
              <a:t>Stimme</a:t>
            </a:r>
            <a:r>
              <a:rPr lang="en-US" sz="1000" dirty="0"/>
              <a:t> </a:t>
            </a:r>
            <a:r>
              <a:rPr lang="en-US" sz="1000" dirty="0" err="1"/>
              <a:t>menschlich</a:t>
            </a:r>
            <a:r>
              <a:rPr lang="en-US" sz="1000" dirty="0"/>
              <a:t> </a:t>
            </a:r>
            <a:r>
              <a:rPr lang="en-US" sz="1000" dirty="0" err="1"/>
              <a:t>oder</a:t>
            </a:r>
            <a:r>
              <a:rPr lang="en-US" sz="1000" dirty="0"/>
              <a:t> </a:t>
            </a:r>
            <a:r>
              <a:rPr lang="en-US" sz="1000" dirty="0" err="1"/>
              <a:t>synthetische</a:t>
            </a:r>
            <a:r>
              <a:rPr lang="en-US" sz="1000" dirty="0"/>
              <a:t>?</a:t>
            </a:r>
          </a:p>
        </p:txBody>
      </p:sp>
      <p:sp>
        <p:nvSpPr>
          <p:cNvPr id="14" name="Textfeld 13">
            <a:extLst>
              <a:ext uri="{FF2B5EF4-FFF2-40B4-BE49-F238E27FC236}">
                <a16:creationId xmlns:a16="http://schemas.microsoft.com/office/drawing/2014/main" id="{7964C3ED-4153-4E69-ADF6-39DF1C2C0D04}"/>
              </a:ext>
            </a:extLst>
          </p:cNvPr>
          <p:cNvSpPr txBox="1"/>
          <p:nvPr/>
        </p:nvSpPr>
        <p:spPr>
          <a:xfrm flipH="1">
            <a:off x="2572411" y="3096911"/>
            <a:ext cx="190729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000" dirty="0" err="1"/>
              <a:t>Welche</a:t>
            </a:r>
            <a:r>
              <a:rPr lang="en-US" sz="1000" dirty="0"/>
              <a:t> (</a:t>
            </a:r>
            <a:r>
              <a:rPr lang="en-US" sz="1000" dirty="0" err="1"/>
              <a:t>akustische</a:t>
            </a:r>
            <a:r>
              <a:rPr lang="en-US" sz="1000" dirty="0"/>
              <a:t>) </a:t>
            </a:r>
            <a:r>
              <a:rPr lang="en-US" sz="1000" dirty="0" err="1"/>
              <a:t>Konfiguration</a:t>
            </a:r>
            <a:r>
              <a:rPr lang="en-US" sz="1000" dirty="0"/>
              <a:t> </a:t>
            </a:r>
            <a:r>
              <a:rPr lang="en-US" sz="1000" dirty="0" err="1"/>
              <a:t>ist</a:t>
            </a:r>
            <a:r>
              <a:rPr lang="en-US" sz="1000" dirty="0"/>
              <a:t> </a:t>
            </a:r>
            <a:r>
              <a:rPr lang="en-US" sz="1000" dirty="0" err="1"/>
              <a:t>natürlicher</a:t>
            </a:r>
            <a:r>
              <a:rPr lang="en-US" sz="1000" dirty="0"/>
              <a:t>? </a:t>
            </a:r>
          </a:p>
        </p:txBody>
      </p:sp>
      <p:sp>
        <p:nvSpPr>
          <p:cNvPr id="15" name="Textfeld 14">
            <a:extLst>
              <a:ext uri="{FF2B5EF4-FFF2-40B4-BE49-F238E27FC236}">
                <a16:creationId xmlns:a16="http://schemas.microsoft.com/office/drawing/2014/main" id="{28C662B9-7657-4027-ABD1-7FBB593D014A}"/>
              </a:ext>
            </a:extLst>
          </p:cNvPr>
          <p:cNvSpPr txBox="1"/>
          <p:nvPr/>
        </p:nvSpPr>
        <p:spPr>
          <a:xfrm flipH="1">
            <a:off x="2572539" y="2391130"/>
            <a:ext cx="190729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000" dirty="0" err="1">
                <a:ea typeface="Calibri" panose="020F0502020204030204" pitchFamily="34" charset="0"/>
                <a:cs typeface="Times New Roman" panose="02020603050405020304" pitchFamily="18" charset="0"/>
              </a:rPr>
              <a:t>Welche</a:t>
            </a:r>
            <a:r>
              <a:rPr lang="en-US" sz="1000" dirty="0">
                <a:ea typeface="Calibri" panose="020F0502020204030204" pitchFamily="34" charset="0"/>
                <a:cs typeface="Times New Roman" panose="02020603050405020304" pitchFamily="18" charset="0"/>
              </a:rPr>
              <a:t> der </a:t>
            </a:r>
            <a:r>
              <a:rPr lang="en-US" sz="1000" dirty="0" err="1">
                <a:ea typeface="Calibri" panose="020F0502020204030204" pitchFamily="34" charset="0"/>
                <a:cs typeface="Times New Roman" panose="02020603050405020304" pitchFamily="18" charset="0"/>
              </a:rPr>
              <a:t>beiden</a:t>
            </a:r>
            <a:r>
              <a:rPr lang="en-US" sz="1000" dirty="0">
                <a:ea typeface="Calibri" panose="020F0502020204030204" pitchFamily="34" charset="0"/>
                <a:cs typeface="Times New Roman" panose="02020603050405020304" pitchFamily="18" charset="0"/>
              </a:rPr>
              <a:t> </a:t>
            </a:r>
            <a:r>
              <a:rPr lang="en-US" sz="1000" dirty="0" err="1">
                <a:ea typeface="Calibri" panose="020F0502020204030204" pitchFamily="34" charset="0"/>
                <a:cs typeface="Times New Roman" panose="02020603050405020304" pitchFamily="18" charset="0"/>
              </a:rPr>
              <a:t>Stimmen</a:t>
            </a:r>
            <a:r>
              <a:rPr lang="en-US" sz="1000" dirty="0">
                <a:ea typeface="Calibri" panose="020F0502020204030204" pitchFamily="34" charset="0"/>
                <a:cs typeface="Times New Roman" panose="02020603050405020304" pitchFamily="18" charset="0"/>
              </a:rPr>
              <a:t> </a:t>
            </a:r>
            <a:r>
              <a:rPr lang="en-US" sz="1000" dirty="0" err="1">
                <a:ea typeface="Calibri" panose="020F0502020204030204" pitchFamily="34" charset="0"/>
                <a:cs typeface="Times New Roman" panose="02020603050405020304" pitchFamily="18" charset="0"/>
              </a:rPr>
              <a:t>klingt</a:t>
            </a:r>
            <a:r>
              <a:rPr lang="en-US" sz="1000" dirty="0">
                <a:ea typeface="Calibri" panose="020F0502020204030204" pitchFamily="34" charset="0"/>
                <a:cs typeface="Times New Roman" panose="02020603050405020304" pitchFamily="18" charset="0"/>
              </a:rPr>
              <a:t> </a:t>
            </a:r>
            <a:r>
              <a:rPr lang="en-US" sz="1000" dirty="0" err="1">
                <a:ea typeface="Calibri" panose="020F0502020204030204" pitchFamily="34" charset="0"/>
                <a:cs typeface="Times New Roman" panose="02020603050405020304" pitchFamily="18" charset="0"/>
              </a:rPr>
              <a:t>natürlicher</a:t>
            </a:r>
            <a:r>
              <a:rPr lang="en-US" sz="1000" dirty="0">
                <a:ea typeface="Calibri" panose="020F0502020204030204" pitchFamily="34" charset="0"/>
                <a:cs typeface="Times New Roman" panose="02020603050405020304" pitchFamily="18" charset="0"/>
              </a:rPr>
              <a:t>?</a:t>
            </a:r>
            <a:endParaRPr lang="en-US" sz="1000" dirty="0"/>
          </a:p>
        </p:txBody>
      </p:sp>
      <p:sp>
        <p:nvSpPr>
          <p:cNvPr id="16" name="Textfeld 15">
            <a:extLst>
              <a:ext uri="{FF2B5EF4-FFF2-40B4-BE49-F238E27FC236}">
                <a16:creationId xmlns:a16="http://schemas.microsoft.com/office/drawing/2014/main" id="{43F34EB9-BDF3-4B29-8CC9-39DCAD9D388E}"/>
              </a:ext>
            </a:extLst>
          </p:cNvPr>
          <p:cNvSpPr txBox="1"/>
          <p:nvPr/>
        </p:nvSpPr>
        <p:spPr>
          <a:xfrm flipH="1">
            <a:off x="4628331" y="1743565"/>
            <a:ext cx="190729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000" dirty="0" err="1"/>
              <a:t>Warum</a:t>
            </a:r>
            <a:r>
              <a:rPr lang="en-US" sz="1000" dirty="0"/>
              <a:t> </a:t>
            </a:r>
            <a:r>
              <a:rPr lang="en-US" sz="1000" dirty="0" err="1"/>
              <a:t>klingt</a:t>
            </a:r>
            <a:r>
              <a:rPr lang="en-US" sz="1000" dirty="0"/>
              <a:t> </a:t>
            </a:r>
            <a:r>
              <a:rPr lang="en-US" sz="1000" dirty="0" err="1"/>
              <a:t>diese</a:t>
            </a:r>
            <a:r>
              <a:rPr lang="en-US" sz="1000" dirty="0"/>
              <a:t> </a:t>
            </a:r>
            <a:r>
              <a:rPr lang="en-US" sz="1000" dirty="0" err="1"/>
              <a:t>Stimme</a:t>
            </a:r>
            <a:r>
              <a:rPr lang="en-US" sz="1000" dirty="0"/>
              <a:t> </a:t>
            </a:r>
            <a:r>
              <a:rPr lang="en-US" sz="1000" dirty="0" err="1"/>
              <a:t>unnatürlich</a:t>
            </a:r>
            <a:r>
              <a:rPr lang="en-US" sz="1000" dirty="0"/>
              <a:t>? </a:t>
            </a:r>
          </a:p>
        </p:txBody>
      </p:sp>
      <p:sp>
        <p:nvSpPr>
          <p:cNvPr id="18" name="Textfeld 17">
            <a:extLst>
              <a:ext uri="{FF2B5EF4-FFF2-40B4-BE49-F238E27FC236}">
                <a16:creationId xmlns:a16="http://schemas.microsoft.com/office/drawing/2014/main" id="{E7DA9FBF-FC23-41C4-B402-4E960B031273}"/>
              </a:ext>
            </a:extLst>
          </p:cNvPr>
          <p:cNvSpPr txBox="1"/>
          <p:nvPr/>
        </p:nvSpPr>
        <p:spPr>
          <a:xfrm>
            <a:off x="4698912" y="2754613"/>
            <a:ext cx="1907297" cy="553998"/>
          </a:xfrm>
          <a:prstGeom prst="rect">
            <a:avLst/>
          </a:prstGeom>
          <a:noFill/>
        </p:spPr>
        <p:txBody>
          <a:bodyPr wrap="square" rtlCol="0">
            <a:spAutoFit/>
          </a:bodyPr>
          <a:lstStyle/>
          <a:p>
            <a:pPr algn="ctr"/>
            <a:r>
              <a:rPr lang="en-US" sz="1000" i="1" dirty="0"/>
              <a:t>“It sounds like my toaster is speaking to me.” </a:t>
            </a:r>
          </a:p>
          <a:p>
            <a:pPr algn="ctr"/>
            <a:r>
              <a:rPr lang="en-US" sz="1000" dirty="0"/>
              <a:t>[</a:t>
            </a:r>
            <a:r>
              <a:rPr lang="en-US" sz="1000" dirty="0" err="1"/>
              <a:t>Kühne</a:t>
            </a:r>
            <a:r>
              <a:rPr lang="en-US" sz="1000" dirty="0"/>
              <a:t> et al. 2020]</a:t>
            </a:r>
          </a:p>
        </p:txBody>
      </p:sp>
    </p:spTree>
    <p:extLst>
      <p:ext uri="{BB962C8B-B14F-4D97-AF65-F5344CB8AC3E}">
        <p14:creationId xmlns:p14="http://schemas.microsoft.com/office/powerpoint/2010/main" val="1844732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7C5563A7-0B97-448C-BD6D-C206FD648836}"/>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err="1"/>
              <a:t>Messung</a:t>
            </a:r>
            <a:r>
              <a:rPr lang="en-US" sz="1500" dirty="0"/>
              <a:t> von </a:t>
            </a:r>
            <a:r>
              <a:rPr lang="en-US" sz="1500" dirty="0" err="1"/>
              <a:t>Natürlichkeit</a:t>
            </a:r>
            <a:endParaRPr lang="en-US" sz="1500" dirty="0"/>
          </a:p>
        </p:txBody>
      </p:sp>
      <p:pic>
        <p:nvPicPr>
          <p:cNvPr id="9" name="Grafik 8">
            <a:extLst>
              <a:ext uri="{FF2B5EF4-FFF2-40B4-BE49-F238E27FC236}">
                <a16:creationId xmlns:a16="http://schemas.microsoft.com/office/drawing/2014/main" id="{882996C5-4B11-476F-9CD9-C038EB9E1733}"/>
              </a:ext>
            </a:extLst>
          </p:cNvPr>
          <p:cNvPicPr>
            <a:picLocks noChangeAspect="1"/>
          </p:cNvPicPr>
          <p:nvPr/>
        </p:nvPicPr>
        <p:blipFill>
          <a:blip r:embed="rId3"/>
          <a:stretch>
            <a:fillRect/>
          </a:stretch>
        </p:blipFill>
        <p:spPr>
          <a:xfrm>
            <a:off x="340096" y="907460"/>
            <a:ext cx="2686860" cy="1511358"/>
          </a:xfrm>
          <a:prstGeom prst="rect">
            <a:avLst/>
          </a:prstGeom>
        </p:spPr>
      </p:pic>
      <p:pic>
        <p:nvPicPr>
          <p:cNvPr id="10" name="Grafik 9">
            <a:extLst>
              <a:ext uri="{FF2B5EF4-FFF2-40B4-BE49-F238E27FC236}">
                <a16:creationId xmlns:a16="http://schemas.microsoft.com/office/drawing/2014/main" id="{9435675B-2E13-4012-8896-F503CF2E3FDA}"/>
              </a:ext>
            </a:extLst>
          </p:cNvPr>
          <p:cNvPicPr>
            <a:picLocks noChangeAspect="1"/>
          </p:cNvPicPr>
          <p:nvPr/>
        </p:nvPicPr>
        <p:blipFill>
          <a:blip r:embed="rId4"/>
          <a:stretch>
            <a:fillRect/>
          </a:stretch>
        </p:blipFill>
        <p:spPr>
          <a:xfrm>
            <a:off x="3547027" y="907460"/>
            <a:ext cx="2686859" cy="1511358"/>
          </a:xfrm>
          <a:prstGeom prst="rect">
            <a:avLst/>
          </a:prstGeom>
        </p:spPr>
      </p:pic>
      <p:pic>
        <p:nvPicPr>
          <p:cNvPr id="11" name="Grafik 10">
            <a:extLst>
              <a:ext uri="{FF2B5EF4-FFF2-40B4-BE49-F238E27FC236}">
                <a16:creationId xmlns:a16="http://schemas.microsoft.com/office/drawing/2014/main" id="{80E4D617-EAEE-4C37-B8A7-EEF41C4529A7}"/>
              </a:ext>
            </a:extLst>
          </p:cNvPr>
          <p:cNvPicPr>
            <a:picLocks noChangeAspect="1"/>
          </p:cNvPicPr>
          <p:nvPr/>
        </p:nvPicPr>
        <p:blipFill>
          <a:blip r:embed="rId5"/>
          <a:stretch>
            <a:fillRect/>
          </a:stretch>
        </p:blipFill>
        <p:spPr>
          <a:xfrm>
            <a:off x="1998741" y="2684834"/>
            <a:ext cx="2757702" cy="1551206"/>
          </a:xfrm>
          <a:prstGeom prst="rect">
            <a:avLst/>
          </a:prstGeom>
        </p:spPr>
      </p:pic>
    </p:spTree>
    <p:extLst>
      <p:ext uri="{BB962C8B-B14F-4D97-AF65-F5344CB8AC3E}">
        <p14:creationId xmlns:p14="http://schemas.microsoft.com/office/powerpoint/2010/main" val="2868147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7C5563A7-0B97-448C-BD6D-C206FD648836}"/>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err="1"/>
              <a:t>Messung</a:t>
            </a:r>
            <a:r>
              <a:rPr lang="en-US" sz="1500" dirty="0"/>
              <a:t> von </a:t>
            </a:r>
            <a:r>
              <a:rPr lang="en-US" sz="1500" dirty="0" err="1"/>
              <a:t>Natürlichkeit</a:t>
            </a:r>
            <a:endParaRPr lang="en-US" sz="1500" dirty="0"/>
          </a:p>
        </p:txBody>
      </p:sp>
      <p:pic>
        <p:nvPicPr>
          <p:cNvPr id="4" name="Grafik 3">
            <a:extLst>
              <a:ext uri="{FF2B5EF4-FFF2-40B4-BE49-F238E27FC236}">
                <a16:creationId xmlns:a16="http://schemas.microsoft.com/office/drawing/2014/main" id="{78B37CB2-4C85-4B86-9713-D4FF385487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6844" y="868689"/>
            <a:ext cx="4541495" cy="3406121"/>
          </a:xfrm>
          <a:prstGeom prst="rect">
            <a:avLst/>
          </a:prstGeom>
        </p:spPr>
      </p:pic>
      <p:cxnSp>
        <p:nvCxnSpPr>
          <p:cNvPr id="7" name="Gerade Verbindung mit Pfeil 6">
            <a:extLst>
              <a:ext uri="{FF2B5EF4-FFF2-40B4-BE49-F238E27FC236}">
                <a16:creationId xmlns:a16="http://schemas.microsoft.com/office/drawing/2014/main" id="{8C155164-F151-4311-851F-BDF1918C2874}"/>
              </a:ext>
            </a:extLst>
          </p:cNvPr>
          <p:cNvCxnSpPr>
            <a:cxnSpLocks/>
          </p:cNvCxnSpPr>
          <p:nvPr/>
        </p:nvCxnSpPr>
        <p:spPr>
          <a:xfrm>
            <a:off x="513543" y="3415937"/>
            <a:ext cx="9429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7660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962665" y="1763165"/>
            <a:ext cx="1909590" cy="100959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pPr algn="ctr"/>
            <a:r>
              <a:rPr lang="en-US" sz="1500" dirty="0"/>
              <a:t>Und was </a:t>
            </a:r>
            <a:r>
              <a:rPr lang="en-US" sz="1500" dirty="0" err="1"/>
              <a:t>ist</a:t>
            </a:r>
            <a:r>
              <a:rPr lang="en-US" sz="1500" dirty="0"/>
              <a:t> </a:t>
            </a:r>
            <a:r>
              <a:rPr lang="en-US" sz="1500" dirty="0" err="1"/>
              <a:t>mit</a:t>
            </a:r>
            <a:r>
              <a:rPr lang="en-US" sz="1500" dirty="0"/>
              <a:t> der </a:t>
            </a:r>
            <a:r>
              <a:rPr lang="en-US" sz="1500" dirty="0" err="1"/>
              <a:t>Wahrnehmung</a:t>
            </a:r>
            <a:r>
              <a:rPr lang="en-US" sz="1500" dirty="0"/>
              <a:t> der </a:t>
            </a:r>
            <a:r>
              <a:rPr lang="en-US" sz="1500" b="1" dirty="0" err="1"/>
              <a:t>eigenen</a:t>
            </a:r>
            <a:r>
              <a:rPr lang="en-US" sz="1500" b="1" dirty="0"/>
              <a:t> </a:t>
            </a:r>
            <a:r>
              <a:rPr lang="en-US" sz="1500" b="1" dirty="0" err="1"/>
              <a:t>Stimme</a:t>
            </a:r>
            <a:r>
              <a:rPr lang="en-US" sz="1500" dirty="0"/>
              <a:t>?</a:t>
            </a:r>
          </a:p>
        </p:txBody>
      </p:sp>
      <p:sp>
        <p:nvSpPr>
          <p:cNvPr id="4" name="Textplatzhalter 3">
            <a:extLst>
              <a:ext uri="{FF2B5EF4-FFF2-40B4-BE49-F238E27FC236}">
                <a16:creationId xmlns:a16="http://schemas.microsoft.com/office/drawing/2014/main" id="{2C2EC42D-69A0-803E-4BFC-F9E6F4518CE2}"/>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780074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A7433AB1-BD41-405F-98E8-0525133CFE9B}"/>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From Voice to Self: An Integrative: Framework on Self-Voice Processing</a:t>
            </a:r>
          </a:p>
          <a:p>
            <a:r>
              <a:rPr lang="en-US" sz="800" dirty="0" err="1"/>
              <a:t>Pavo</a:t>
            </a:r>
            <a:r>
              <a:rPr lang="en-US" sz="800" dirty="0"/>
              <a:t> </a:t>
            </a:r>
            <a:r>
              <a:rPr lang="en-US" sz="800" dirty="0" err="1"/>
              <a:t>Orepic</a:t>
            </a:r>
            <a:r>
              <a:rPr lang="en-US" sz="800" dirty="0"/>
              <a:t> and Ana P. Pinheiro</a:t>
            </a:r>
          </a:p>
          <a:p>
            <a:r>
              <a:rPr lang="en-US" sz="800" dirty="0"/>
              <a:t>In </a:t>
            </a:r>
            <a:r>
              <a:rPr lang="de-DE" sz="800" i="1" dirty="0" err="1"/>
              <a:t>Perspectives</a:t>
            </a:r>
            <a:r>
              <a:rPr lang="de-DE" sz="800" i="1" dirty="0"/>
              <a:t> on Psychological Science</a:t>
            </a:r>
            <a:endParaRPr lang="en-US" sz="800" dirty="0"/>
          </a:p>
          <a:p>
            <a:endParaRPr lang="en-US" sz="1500" dirty="0"/>
          </a:p>
        </p:txBody>
      </p:sp>
      <p:pic>
        <p:nvPicPr>
          <p:cNvPr id="4" name="Grafik 3">
            <a:extLst>
              <a:ext uri="{FF2B5EF4-FFF2-40B4-BE49-F238E27FC236}">
                <a16:creationId xmlns:a16="http://schemas.microsoft.com/office/drawing/2014/main" id="{F5F05675-1705-4152-B26A-02D41AEB67BA}"/>
              </a:ext>
            </a:extLst>
          </p:cNvPr>
          <p:cNvPicPr>
            <a:picLocks noChangeAspect="1"/>
          </p:cNvPicPr>
          <p:nvPr/>
        </p:nvPicPr>
        <p:blipFill>
          <a:blip r:embed="rId3"/>
          <a:stretch>
            <a:fillRect/>
          </a:stretch>
        </p:blipFill>
        <p:spPr>
          <a:xfrm>
            <a:off x="900842" y="1110343"/>
            <a:ext cx="5056316" cy="3190708"/>
          </a:xfrm>
          <a:prstGeom prst="rect">
            <a:avLst/>
          </a:prstGeom>
        </p:spPr>
      </p:pic>
    </p:spTree>
    <p:extLst>
      <p:ext uri="{BB962C8B-B14F-4D97-AF65-F5344CB8AC3E}">
        <p14:creationId xmlns:p14="http://schemas.microsoft.com/office/powerpoint/2010/main" val="1207572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A7433AB1-BD41-405F-98E8-0525133CFE9B}"/>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err="1"/>
              <a:t>Besonderheiten</a:t>
            </a:r>
            <a:r>
              <a:rPr lang="en-US" sz="1500" dirty="0"/>
              <a:t> </a:t>
            </a:r>
            <a:r>
              <a:rPr lang="en-US" sz="1500" dirty="0" err="1"/>
              <a:t>bei</a:t>
            </a:r>
            <a:r>
              <a:rPr lang="en-US" sz="1500" dirty="0"/>
              <a:t> </a:t>
            </a:r>
            <a:r>
              <a:rPr lang="en-US" sz="1500" dirty="0" err="1"/>
              <a:t>Natürlichkeit</a:t>
            </a:r>
            <a:r>
              <a:rPr lang="en-US" sz="1500" dirty="0"/>
              <a:t> der </a:t>
            </a:r>
            <a:r>
              <a:rPr lang="en-US" sz="1500" dirty="0" err="1"/>
              <a:t>eigenen</a:t>
            </a:r>
            <a:r>
              <a:rPr lang="en-US" sz="1500" dirty="0"/>
              <a:t> </a:t>
            </a:r>
            <a:r>
              <a:rPr lang="en-US" sz="1500" dirty="0" err="1"/>
              <a:t>Stimme</a:t>
            </a:r>
            <a:endParaRPr lang="en-US" sz="1500" dirty="0"/>
          </a:p>
          <a:p>
            <a:endParaRPr lang="en-US" sz="1500" dirty="0"/>
          </a:p>
        </p:txBody>
      </p:sp>
      <p:sp>
        <p:nvSpPr>
          <p:cNvPr id="3" name="Textfeld 2">
            <a:extLst>
              <a:ext uri="{FF2B5EF4-FFF2-40B4-BE49-F238E27FC236}">
                <a16:creationId xmlns:a16="http://schemas.microsoft.com/office/drawing/2014/main" id="{99F47CAC-5998-6B68-1E8C-1130C2FFDF67}"/>
              </a:ext>
            </a:extLst>
          </p:cNvPr>
          <p:cNvSpPr txBox="1"/>
          <p:nvPr/>
        </p:nvSpPr>
        <p:spPr>
          <a:xfrm flipH="1">
            <a:off x="1023791" y="2217323"/>
            <a:ext cx="2216013" cy="55399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500" dirty="0" err="1"/>
              <a:t>Multisensorische</a:t>
            </a:r>
            <a:r>
              <a:rPr lang="en-US" sz="1500" dirty="0"/>
              <a:t> </a:t>
            </a:r>
            <a:r>
              <a:rPr lang="en-US" sz="1500" dirty="0" err="1"/>
              <a:t>Komponente</a:t>
            </a:r>
            <a:endParaRPr lang="en-US" sz="1500" dirty="0"/>
          </a:p>
        </p:txBody>
      </p:sp>
      <p:sp>
        <p:nvSpPr>
          <p:cNvPr id="4" name="Textfeld 3">
            <a:extLst>
              <a:ext uri="{FF2B5EF4-FFF2-40B4-BE49-F238E27FC236}">
                <a16:creationId xmlns:a16="http://schemas.microsoft.com/office/drawing/2014/main" id="{8CEB357E-FEB1-DA65-6CA4-59D5A69FC54B}"/>
              </a:ext>
            </a:extLst>
          </p:cNvPr>
          <p:cNvSpPr txBox="1"/>
          <p:nvPr/>
        </p:nvSpPr>
        <p:spPr>
          <a:xfrm flipH="1">
            <a:off x="3636690" y="2217323"/>
            <a:ext cx="2216013" cy="55399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500" dirty="0" err="1"/>
              <a:t>Motivationale</a:t>
            </a:r>
            <a:r>
              <a:rPr lang="en-US" sz="1500" dirty="0"/>
              <a:t>/</a:t>
            </a:r>
            <a:r>
              <a:rPr lang="en-US" sz="1500" dirty="0" err="1"/>
              <a:t>emotionale</a:t>
            </a:r>
            <a:r>
              <a:rPr lang="en-US" sz="1500" dirty="0"/>
              <a:t> </a:t>
            </a:r>
            <a:r>
              <a:rPr lang="en-US" sz="1500" dirty="0" err="1"/>
              <a:t>Komponente</a:t>
            </a:r>
            <a:r>
              <a:rPr lang="en-US" sz="1500" dirty="0"/>
              <a:t> </a:t>
            </a:r>
          </a:p>
        </p:txBody>
      </p:sp>
      <p:sp>
        <p:nvSpPr>
          <p:cNvPr id="5" name="Textfeld 4">
            <a:extLst>
              <a:ext uri="{FF2B5EF4-FFF2-40B4-BE49-F238E27FC236}">
                <a16:creationId xmlns:a16="http://schemas.microsoft.com/office/drawing/2014/main" id="{F324D2BE-5684-F2F2-FCC4-4EFD66FAF596}"/>
              </a:ext>
            </a:extLst>
          </p:cNvPr>
          <p:cNvSpPr txBox="1"/>
          <p:nvPr/>
        </p:nvSpPr>
        <p:spPr>
          <a:xfrm flipH="1">
            <a:off x="1023792" y="1375952"/>
            <a:ext cx="2216013" cy="55399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500" dirty="0" err="1"/>
              <a:t>Akustische</a:t>
            </a:r>
            <a:r>
              <a:rPr lang="en-US" sz="1500" dirty="0"/>
              <a:t> </a:t>
            </a:r>
          </a:p>
          <a:p>
            <a:pPr algn="ctr"/>
            <a:r>
              <a:rPr lang="en-US" sz="1500" dirty="0" err="1"/>
              <a:t>Komponente</a:t>
            </a:r>
            <a:endParaRPr lang="en-US" sz="1500" dirty="0"/>
          </a:p>
        </p:txBody>
      </p:sp>
      <p:sp>
        <p:nvSpPr>
          <p:cNvPr id="9" name="Textfeld 8">
            <a:extLst>
              <a:ext uri="{FF2B5EF4-FFF2-40B4-BE49-F238E27FC236}">
                <a16:creationId xmlns:a16="http://schemas.microsoft.com/office/drawing/2014/main" id="{B89A271D-4AB0-E2A4-345C-BE51E8619A8E}"/>
              </a:ext>
            </a:extLst>
          </p:cNvPr>
          <p:cNvSpPr txBox="1"/>
          <p:nvPr/>
        </p:nvSpPr>
        <p:spPr>
          <a:xfrm flipH="1">
            <a:off x="1023790" y="3099755"/>
            <a:ext cx="2216013" cy="55399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500" dirty="0" err="1"/>
              <a:t>Gedächtnis</a:t>
            </a:r>
            <a:r>
              <a:rPr lang="en-US" sz="1500" dirty="0"/>
              <a:t>-</a:t>
            </a:r>
          </a:p>
          <a:p>
            <a:pPr algn="ctr"/>
            <a:r>
              <a:rPr lang="en-US" sz="1500" dirty="0" err="1"/>
              <a:t>komponente</a:t>
            </a:r>
            <a:endParaRPr lang="en-US" sz="1500" dirty="0"/>
          </a:p>
        </p:txBody>
      </p:sp>
      <p:sp>
        <p:nvSpPr>
          <p:cNvPr id="12" name="Textfeld 11">
            <a:extLst>
              <a:ext uri="{FF2B5EF4-FFF2-40B4-BE49-F238E27FC236}">
                <a16:creationId xmlns:a16="http://schemas.microsoft.com/office/drawing/2014/main" id="{1639A116-C6C4-4510-A524-8C872ABD7179}"/>
              </a:ext>
            </a:extLst>
          </p:cNvPr>
          <p:cNvSpPr txBox="1"/>
          <p:nvPr/>
        </p:nvSpPr>
        <p:spPr>
          <a:xfrm flipH="1">
            <a:off x="3636690" y="3099755"/>
            <a:ext cx="2216013" cy="55399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500" dirty="0" err="1"/>
              <a:t>Außenwirkungs</a:t>
            </a:r>
            <a:r>
              <a:rPr lang="en-US" sz="1500" dirty="0"/>
              <a:t>- </a:t>
            </a:r>
            <a:r>
              <a:rPr lang="en-US" sz="1500" dirty="0" err="1"/>
              <a:t>komponente</a:t>
            </a:r>
            <a:endParaRPr lang="en-US" sz="1500" dirty="0"/>
          </a:p>
        </p:txBody>
      </p:sp>
      <p:sp>
        <p:nvSpPr>
          <p:cNvPr id="13" name="Textfeld 12">
            <a:extLst>
              <a:ext uri="{FF2B5EF4-FFF2-40B4-BE49-F238E27FC236}">
                <a16:creationId xmlns:a16="http://schemas.microsoft.com/office/drawing/2014/main" id="{3258F0E7-C429-30CF-F68D-9AD46D42EEBE}"/>
              </a:ext>
            </a:extLst>
          </p:cNvPr>
          <p:cNvSpPr txBox="1"/>
          <p:nvPr/>
        </p:nvSpPr>
        <p:spPr>
          <a:xfrm flipH="1">
            <a:off x="3618195" y="1370735"/>
            <a:ext cx="2216013" cy="55399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500" dirty="0" err="1"/>
              <a:t>Motorische</a:t>
            </a:r>
            <a:r>
              <a:rPr lang="en-US" sz="1500" dirty="0"/>
              <a:t> </a:t>
            </a:r>
          </a:p>
          <a:p>
            <a:pPr algn="ctr"/>
            <a:r>
              <a:rPr lang="en-US" sz="1500" dirty="0" err="1"/>
              <a:t>Komponente</a:t>
            </a:r>
            <a:endParaRPr lang="en-US" sz="1500" dirty="0"/>
          </a:p>
        </p:txBody>
      </p:sp>
    </p:spTree>
    <p:extLst>
      <p:ext uri="{BB962C8B-B14F-4D97-AF65-F5344CB8AC3E}">
        <p14:creationId xmlns:p14="http://schemas.microsoft.com/office/powerpoint/2010/main" val="3483514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1025295" y="1979118"/>
            <a:ext cx="2118738" cy="118526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pPr algn="ctr"/>
            <a:r>
              <a:rPr lang="en-US" sz="1500" b="1" dirty="0" err="1"/>
              <a:t>Offene</a:t>
            </a:r>
            <a:r>
              <a:rPr lang="en-US" sz="1500" b="1" dirty="0"/>
              <a:t> </a:t>
            </a:r>
            <a:r>
              <a:rPr lang="en-US" sz="1500" b="1" dirty="0" err="1"/>
              <a:t>Fragen</a:t>
            </a:r>
            <a:r>
              <a:rPr lang="en-US" sz="1500" b="1" dirty="0"/>
              <a:t> </a:t>
            </a:r>
            <a:r>
              <a:rPr lang="en-US" sz="1500" dirty="0"/>
              <a:t>in der Forschung </a:t>
            </a:r>
            <a:r>
              <a:rPr lang="en-US" sz="1500" dirty="0" err="1"/>
              <a:t>zu</a:t>
            </a:r>
            <a:r>
              <a:rPr lang="en-US" sz="1500" dirty="0"/>
              <a:t> </a:t>
            </a:r>
            <a:r>
              <a:rPr lang="en-US" sz="1500" dirty="0" err="1"/>
              <a:t>Natürlichkeit</a:t>
            </a:r>
            <a:r>
              <a:rPr lang="en-US" sz="1500" dirty="0"/>
              <a:t> von </a:t>
            </a:r>
            <a:r>
              <a:rPr lang="en-US" sz="1500" dirty="0" err="1"/>
              <a:t>Stimmen</a:t>
            </a:r>
            <a:endParaRPr lang="en-US" sz="1500" dirty="0"/>
          </a:p>
        </p:txBody>
      </p:sp>
      <p:sp>
        <p:nvSpPr>
          <p:cNvPr id="4" name="Textplatzhalter 3">
            <a:extLst>
              <a:ext uri="{FF2B5EF4-FFF2-40B4-BE49-F238E27FC236}">
                <a16:creationId xmlns:a16="http://schemas.microsoft.com/office/drawing/2014/main" id="{28445AE4-9F1E-DA63-C492-AAB3A8499FA0}"/>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998804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A7433AB1-BD41-405F-98E8-0525133CFE9B}"/>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err="1"/>
              <a:t>Offene</a:t>
            </a:r>
            <a:r>
              <a:rPr lang="en-US" sz="1500" dirty="0"/>
              <a:t> </a:t>
            </a:r>
            <a:r>
              <a:rPr lang="en-US" sz="1500" dirty="0" err="1"/>
              <a:t>Fragen</a:t>
            </a:r>
            <a:endParaRPr lang="en-US" sz="1500" dirty="0"/>
          </a:p>
          <a:p>
            <a:endParaRPr lang="en-US" sz="1500" dirty="0"/>
          </a:p>
        </p:txBody>
      </p:sp>
      <p:sp>
        <p:nvSpPr>
          <p:cNvPr id="3" name="Textfeld 2">
            <a:extLst>
              <a:ext uri="{FF2B5EF4-FFF2-40B4-BE49-F238E27FC236}">
                <a16:creationId xmlns:a16="http://schemas.microsoft.com/office/drawing/2014/main" id="{97FEB37A-2A26-B543-0EA7-8E649CC4CF16}"/>
              </a:ext>
            </a:extLst>
          </p:cNvPr>
          <p:cNvSpPr txBox="1"/>
          <p:nvPr/>
        </p:nvSpPr>
        <p:spPr>
          <a:xfrm flipH="1">
            <a:off x="594250" y="1520113"/>
            <a:ext cx="2597678" cy="55399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de-DE" sz="1500" dirty="0"/>
              <a:t>V</a:t>
            </a:r>
            <a:r>
              <a:rPr lang="en-US" sz="1500" dirty="0" err="1"/>
              <a:t>erarbeitung</a:t>
            </a:r>
            <a:r>
              <a:rPr lang="en-US" sz="1500" dirty="0"/>
              <a:t> </a:t>
            </a:r>
          </a:p>
          <a:p>
            <a:pPr algn="ctr"/>
            <a:r>
              <a:rPr lang="en-US" sz="1500" dirty="0" err="1"/>
              <a:t>im</a:t>
            </a:r>
            <a:r>
              <a:rPr lang="en-US" sz="1500" dirty="0"/>
              <a:t> </a:t>
            </a:r>
            <a:r>
              <a:rPr lang="en-US" sz="1500" dirty="0" err="1"/>
              <a:t>Gehirn</a:t>
            </a:r>
            <a:endParaRPr lang="en-US" sz="1500" dirty="0"/>
          </a:p>
        </p:txBody>
      </p:sp>
      <p:sp>
        <p:nvSpPr>
          <p:cNvPr id="5" name="Textfeld 4">
            <a:extLst>
              <a:ext uri="{FF2B5EF4-FFF2-40B4-BE49-F238E27FC236}">
                <a16:creationId xmlns:a16="http://schemas.microsoft.com/office/drawing/2014/main" id="{FB8DE5E6-0705-7B3F-A296-DFCFBF8F27A3}"/>
              </a:ext>
            </a:extLst>
          </p:cNvPr>
          <p:cNvSpPr txBox="1"/>
          <p:nvPr/>
        </p:nvSpPr>
        <p:spPr>
          <a:xfrm flipH="1">
            <a:off x="594250" y="2340894"/>
            <a:ext cx="2597678" cy="55399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500" dirty="0" err="1"/>
              <a:t>Individuelle</a:t>
            </a:r>
            <a:r>
              <a:rPr lang="en-US" sz="1500" dirty="0"/>
              <a:t> </a:t>
            </a:r>
          </a:p>
          <a:p>
            <a:pPr algn="ctr"/>
            <a:r>
              <a:rPr lang="en-US" sz="1500" dirty="0" err="1"/>
              <a:t>Unterschiede</a:t>
            </a:r>
            <a:endParaRPr lang="en-US" sz="1500" dirty="0"/>
          </a:p>
        </p:txBody>
      </p:sp>
      <p:sp>
        <p:nvSpPr>
          <p:cNvPr id="10" name="Textfeld 9">
            <a:extLst>
              <a:ext uri="{FF2B5EF4-FFF2-40B4-BE49-F238E27FC236}">
                <a16:creationId xmlns:a16="http://schemas.microsoft.com/office/drawing/2014/main" id="{96AD5C0A-F5F3-A4AC-E071-7445F252B062}"/>
              </a:ext>
            </a:extLst>
          </p:cNvPr>
          <p:cNvSpPr txBox="1"/>
          <p:nvPr/>
        </p:nvSpPr>
        <p:spPr>
          <a:xfrm flipH="1">
            <a:off x="3473441" y="2340894"/>
            <a:ext cx="2597678" cy="55399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500" dirty="0" err="1"/>
              <a:t>Flexibilität</a:t>
            </a:r>
            <a:r>
              <a:rPr lang="en-US" sz="1500" dirty="0"/>
              <a:t>/</a:t>
            </a:r>
          </a:p>
          <a:p>
            <a:pPr algn="ctr"/>
            <a:r>
              <a:rPr lang="en-US" sz="1500" dirty="0" err="1"/>
              <a:t>Anpassung</a:t>
            </a:r>
            <a:endParaRPr lang="en-US" sz="1500" dirty="0"/>
          </a:p>
        </p:txBody>
      </p:sp>
      <p:sp>
        <p:nvSpPr>
          <p:cNvPr id="11" name="Textfeld 10">
            <a:extLst>
              <a:ext uri="{FF2B5EF4-FFF2-40B4-BE49-F238E27FC236}">
                <a16:creationId xmlns:a16="http://schemas.microsoft.com/office/drawing/2014/main" id="{53EA0412-B679-FD51-51AE-E93AF6C25876}"/>
              </a:ext>
            </a:extLst>
          </p:cNvPr>
          <p:cNvSpPr txBox="1"/>
          <p:nvPr/>
        </p:nvSpPr>
        <p:spPr>
          <a:xfrm flipH="1">
            <a:off x="3473441" y="1520114"/>
            <a:ext cx="2597678" cy="55399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500" dirty="0" err="1"/>
              <a:t>Kontext</a:t>
            </a:r>
            <a:r>
              <a:rPr lang="en-US" sz="1500" dirty="0"/>
              <a:t>-</a:t>
            </a:r>
          </a:p>
          <a:p>
            <a:pPr algn="ctr"/>
            <a:r>
              <a:rPr lang="en-US" sz="1500" dirty="0" err="1"/>
              <a:t>abhängigkeit</a:t>
            </a:r>
            <a:endParaRPr lang="en-US" sz="1500" dirty="0"/>
          </a:p>
        </p:txBody>
      </p:sp>
      <p:pic>
        <p:nvPicPr>
          <p:cNvPr id="1026" name="Picture 2">
            <a:extLst>
              <a:ext uri="{FF2B5EF4-FFF2-40B4-BE49-F238E27FC236}">
                <a16:creationId xmlns:a16="http://schemas.microsoft.com/office/drawing/2014/main" id="{1F2E65BF-C837-22E2-C690-3FEC3B3429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53222" y="104211"/>
            <a:ext cx="830424" cy="1039814"/>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a:extLst>
              <a:ext uri="{FF2B5EF4-FFF2-40B4-BE49-F238E27FC236}">
                <a16:creationId xmlns:a16="http://schemas.microsoft.com/office/drawing/2014/main" id="{E364B9AA-B9D5-9C5B-D52C-155FE3723BD3}"/>
              </a:ext>
            </a:extLst>
          </p:cNvPr>
          <p:cNvSpPr txBox="1"/>
          <p:nvPr/>
        </p:nvSpPr>
        <p:spPr>
          <a:xfrm>
            <a:off x="3918835" y="128362"/>
            <a:ext cx="1932727" cy="1015663"/>
          </a:xfrm>
          <a:prstGeom prst="rect">
            <a:avLst/>
          </a:prstGeom>
          <a:noFill/>
        </p:spPr>
        <p:txBody>
          <a:bodyPr wrap="square" rtlCol="0">
            <a:spAutoFit/>
          </a:bodyPr>
          <a:lstStyle/>
          <a:p>
            <a:pPr algn="just"/>
            <a:r>
              <a:rPr lang="de-DE" sz="1000" dirty="0"/>
              <a:t>Ibrahim Vefa Arslan, PhD-student on </a:t>
            </a:r>
            <a:r>
              <a:rPr lang="de-DE" sz="1000" dirty="0" err="1"/>
              <a:t>the</a:t>
            </a:r>
            <a:r>
              <a:rPr lang="de-DE" sz="1000" dirty="0"/>
              <a:t> </a:t>
            </a:r>
            <a:r>
              <a:rPr lang="de-DE" sz="1000" dirty="0" err="1"/>
              <a:t>project</a:t>
            </a:r>
            <a:r>
              <a:rPr lang="de-DE" sz="1000" dirty="0"/>
              <a:t> „</a:t>
            </a:r>
            <a:r>
              <a:rPr lang="en-US" sz="1000" i="1" dirty="0"/>
              <a:t>Neurocognitive</a:t>
            </a:r>
          </a:p>
          <a:p>
            <a:pPr algn="just"/>
            <a:r>
              <a:rPr lang="en-US" sz="1000" i="1" dirty="0"/>
              <a:t>processing of voice naturalness in human and synthetic voices </a:t>
            </a:r>
            <a:r>
              <a:rPr lang="de-DE" sz="1000" dirty="0"/>
              <a:t>“, </a:t>
            </a:r>
          </a:p>
          <a:p>
            <a:pPr algn="just"/>
            <a:r>
              <a:rPr lang="de-DE" sz="1000" dirty="0" err="1"/>
              <a:t>funded</a:t>
            </a:r>
            <a:r>
              <a:rPr lang="de-DE" sz="1000" dirty="0"/>
              <a:t> </a:t>
            </a:r>
            <a:r>
              <a:rPr lang="de-DE" sz="1000" dirty="0" err="1"/>
              <a:t>by</a:t>
            </a:r>
            <a:r>
              <a:rPr lang="de-DE" sz="1000" dirty="0"/>
              <a:t> </a:t>
            </a:r>
            <a:r>
              <a:rPr lang="de-DE" sz="1000" dirty="0" err="1"/>
              <a:t>the</a:t>
            </a:r>
            <a:r>
              <a:rPr lang="de-DE" sz="1000" dirty="0"/>
              <a:t> EU-MSCA </a:t>
            </a:r>
            <a:r>
              <a:rPr lang="de-DE" sz="1000" dirty="0" err="1"/>
              <a:t>Nework</a:t>
            </a:r>
            <a:r>
              <a:rPr lang="de-DE" sz="1000" dirty="0"/>
              <a:t> „Voice Communication Sciences“</a:t>
            </a:r>
            <a:endParaRPr lang="en-US" sz="1000" dirty="0"/>
          </a:p>
        </p:txBody>
      </p:sp>
      <p:pic>
        <p:nvPicPr>
          <p:cNvPr id="13" name="Grafik 12" descr="Ein Bild, das Text, Screenshot, Schrift, Design enthält.&#10;&#10;Automatisch generierte Beschreibung">
            <a:extLst>
              <a:ext uri="{FF2B5EF4-FFF2-40B4-BE49-F238E27FC236}">
                <a16:creationId xmlns:a16="http://schemas.microsoft.com/office/drawing/2014/main" id="{6C1925B4-8FEC-E6A5-37E2-EA6F46A0007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1927" y="3305298"/>
            <a:ext cx="3591329" cy="1004066"/>
          </a:xfrm>
          <a:prstGeom prst="rect">
            <a:avLst/>
          </a:prstGeom>
        </p:spPr>
      </p:pic>
    </p:spTree>
    <p:extLst>
      <p:ext uri="{BB962C8B-B14F-4D97-AF65-F5344CB8AC3E}">
        <p14:creationId xmlns:p14="http://schemas.microsoft.com/office/powerpoint/2010/main" val="2424138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F0170-2D48-B52D-A71A-7D1F00BB7BD2}"/>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0C5193F5-8CD6-294B-6C3C-05A695BD5277}"/>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DDA4AF36-CA95-1AF0-A396-87C67486CA0A}"/>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15944784-5BD3-40A1-5B70-80012692BD31}"/>
              </a:ext>
            </a:extLst>
          </p:cNvPr>
          <p:cNvSpPr txBox="1"/>
          <p:nvPr/>
        </p:nvSpPr>
        <p:spPr>
          <a:xfrm>
            <a:off x="340096" y="440204"/>
            <a:ext cx="3735088" cy="155559"/>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Voice Communication Sciences (</a:t>
            </a:r>
            <a:r>
              <a:rPr lang="en-US" sz="1500" dirty="0" err="1"/>
              <a:t>VoCS</a:t>
            </a:r>
            <a:r>
              <a:rPr lang="en-US" sz="1500" dirty="0"/>
              <a:t>) in Europa</a:t>
            </a:r>
          </a:p>
          <a:p>
            <a:endParaRPr lang="en-US" sz="1500" dirty="0"/>
          </a:p>
        </p:txBody>
      </p:sp>
      <p:pic>
        <p:nvPicPr>
          <p:cNvPr id="2050" name="Picture 2" descr="VoCS">
            <a:extLst>
              <a:ext uri="{FF2B5EF4-FFF2-40B4-BE49-F238E27FC236}">
                <a16:creationId xmlns:a16="http://schemas.microsoft.com/office/drawing/2014/main" id="{1E6008CA-1C9B-77BD-7F41-AE9DAF0DAC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6594" y="440204"/>
            <a:ext cx="1756877" cy="51535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E1E1EBC2-E3CD-0EED-B147-343FC30087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3590" y="1055622"/>
            <a:ext cx="4294918" cy="3204288"/>
          </a:xfrm>
          <a:prstGeom prst="rect">
            <a:avLst/>
          </a:prstGeom>
          <a:noFill/>
          <a:extLst>
            <a:ext uri="{909E8E84-426E-40DD-AFC4-6F175D3DCCD1}">
              <a14:hiddenFill xmlns:a14="http://schemas.microsoft.com/office/drawing/2010/main">
                <a:solidFill>
                  <a:srgbClr val="FFFFFF"/>
                </a:solidFill>
              </a14:hiddenFill>
            </a:ext>
          </a:extLst>
        </p:spPr>
      </p:pic>
      <p:pic>
        <p:nvPicPr>
          <p:cNvPr id="9" name="Grafik 8">
            <a:extLst>
              <a:ext uri="{FF2B5EF4-FFF2-40B4-BE49-F238E27FC236}">
                <a16:creationId xmlns:a16="http://schemas.microsoft.com/office/drawing/2014/main" id="{EEA53FD4-9321-767D-80A1-7AB3011486E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38094" y="955555"/>
            <a:ext cx="577601" cy="577601"/>
          </a:xfrm>
          <a:prstGeom prst="rect">
            <a:avLst/>
          </a:prstGeom>
        </p:spPr>
      </p:pic>
    </p:spTree>
    <p:extLst>
      <p:ext uri="{BB962C8B-B14F-4D97-AF65-F5344CB8AC3E}">
        <p14:creationId xmlns:p14="http://schemas.microsoft.com/office/powerpoint/2010/main" val="443120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8DE26-5A5C-6AD2-E976-EDD101FD894B}"/>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0827AAB2-2552-7277-DB37-D97C4C33CA3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41ACE860-D714-1DC2-6F68-BC849E558890}"/>
              </a:ext>
            </a:extLst>
          </p:cNvPr>
          <p:cNvSpPr>
            <a:spLocks noGrp="1"/>
          </p:cNvSpPr>
          <p:nvPr>
            <p:ph type="body" sz="quarter" idx="11"/>
          </p:nvPr>
        </p:nvSpPr>
        <p:spPr/>
        <p:txBody>
          <a:bodyPr/>
          <a:lstStyle/>
          <a:p>
            <a:endParaRPr lang="en-US" dirty="0"/>
          </a:p>
        </p:txBody>
      </p:sp>
      <p:pic>
        <p:nvPicPr>
          <p:cNvPr id="10" name="Grafik 9">
            <a:extLst>
              <a:ext uri="{FF2B5EF4-FFF2-40B4-BE49-F238E27FC236}">
                <a16:creationId xmlns:a16="http://schemas.microsoft.com/office/drawing/2014/main" id="{334D53F3-4094-DA77-3506-614634DF5524}"/>
              </a:ext>
            </a:extLst>
          </p:cNvPr>
          <p:cNvPicPr>
            <a:picLocks noChangeAspect="1"/>
          </p:cNvPicPr>
          <p:nvPr/>
        </p:nvPicPr>
        <p:blipFill>
          <a:blip r:embed="rId3" cstate="print">
            <a:extLst>
              <a:ext uri="{28A0092B-C50C-407E-A947-70E740481C1C}">
                <a14:useLocalDpi xmlns:a14="http://schemas.microsoft.com/office/drawing/2010/main" val="0"/>
              </a:ext>
            </a:extLst>
          </a:blip>
          <a:srcRect r="2743"/>
          <a:stretch>
            <a:fillRect/>
          </a:stretch>
        </p:blipFill>
        <p:spPr>
          <a:xfrm>
            <a:off x="1" y="0"/>
            <a:ext cx="6858000" cy="4509796"/>
          </a:xfrm>
          <a:prstGeom prst="rect">
            <a:avLst/>
          </a:prstGeom>
        </p:spPr>
      </p:pic>
    </p:spTree>
    <p:extLst>
      <p:ext uri="{BB962C8B-B14F-4D97-AF65-F5344CB8AC3E}">
        <p14:creationId xmlns:p14="http://schemas.microsoft.com/office/powerpoint/2010/main" val="2701807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descr="Ein Bild, das dunkel, Vorhang, groß, Uhr enthält.&#10;&#10;Automatisch generierte Beschreibung">
            <a:extLst>
              <a:ext uri="{FF2B5EF4-FFF2-40B4-BE49-F238E27FC236}">
                <a16:creationId xmlns:a16="http://schemas.microsoft.com/office/drawing/2014/main" id="{CC5BF39F-47D4-4797-B6C2-DE3E5F098A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6858000" cy="4500000"/>
          </a:xfrm>
          <a:prstGeom prst="rect">
            <a:avLst/>
          </a:prstGeom>
        </p:spPr>
      </p:pic>
      <p:grpSp>
        <p:nvGrpSpPr>
          <p:cNvPr id="11" name="Gruppieren 10">
            <a:extLst>
              <a:ext uri="{FF2B5EF4-FFF2-40B4-BE49-F238E27FC236}">
                <a16:creationId xmlns:a16="http://schemas.microsoft.com/office/drawing/2014/main" id="{EB9EFDE1-D0FB-B407-A424-28A8135DF0C1}"/>
              </a:ext>
            </a:extLst>
          </p:cNvPr>
          <p:cNvGrpSpPr/>
          <p:nvPr/>
        </p:nvGrpSpPr>
        <p:grpSpPr>
          <a:xfrm>
            <a:off x="359621" y="3033280"/>
            <a:ext cx="4022967" cy="804503"/>
            <a:chOff x="-549698" y="3033280"/>
            <a:chExt cx="3069378" cy="804503"/>
          </a:xfrm>
        </p:grpSpPr>
        <p:sp>
          <p:nvSpPr>
            <p:cNvPr id="5" name="Rechteck 4"/>
            <p:cNvSpPr/>
            <p:nvPr/>
          </p:nvSpPr>
          <p:spPr>
            <a:xfrm>
              <a:off x="-549698" y="3033280"/>
              <a:ext cx="3069378" cy="804503"/>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 name="Textfeld 6"/>
            <p:cNvSpPr txBox="1"/>
            <p:nvPr/>
          </p:nvSpPr>
          <p:spPr>
            <a:xfrm>
              <a:off x="-409849" y="3279025"/>
              <a:ext cx="2689499" cy="530915"/>
            </a:xfrm>
            <a:prstGeom prst="rect">
              <a:avLst/>
            </a:prstGeom>
            <a:noFill/>
          </p:spPr>
          <p:txBody>
            <a:bodyPr wrap="square" lIns="0" tIns="0" rIns="0" bIns="0" rtlCol="0">
              <a:noAutofit/>
            </a:bodyPr>
            <a:lstStyle/>
            <a:p>
              <a:r>
                <a:rPr lang="en-US" sz="1500" dirty="0" err="1"/>
                <a:t>Vielen</a:t>
              </a:r>
              <a:r>
                <a:rPr lang="en-US" sz="1500" dirty="0"/>
                <a:t> Dank </a:t>
              </a:r>
              <a:r>
                <a:rPr lang="en-US" sz="1500" dirty="0" err="1"/>
                <a:t>für</a:t>
              </a:r>
              <a:r>
                <a:rPr lang="en-US" sz="1500" dirty="0"/>
                <a:t> </a:t>
              </a:r>
              <a:r>
                <a:rPr lang="en-US" sz="1500" dirty="0" err="1"/>
                <a:t>Ihre</a:t>
              </a:r>
              <a:r>
                <a:rPr lang="en-US" sz="1500" dirty="0"/>
                <a:t> </a:t>
              </a:r>
              <a:r>
                <a:rPr lang="en-US" sz="1500" dirty="0" err="1"/>
                <a:t>Aufmerksamkeit</a:t>
              </a:r>
              <a:r>
                <a:rPr lang="en-US" sz="1500" dirty="0"/>
                <a:t> </a:t>
              </a:r>
              <a:r>
                <a:rPr lang="en-US" sz="1500" dirty="0">
                  <a:sym typeface="Wingdings" panose="05000000000000000000" pitchFamily="2" charset="2"/>
                </a:rPr>
                <a:t></a:t>
              </a:r>
              <a:endParaRPr lang="en-US" sz="1500" dirty="0"/>
            </a:p>
          </p:txBody>
        </p:sp>
      </p:grpSp>
      <p:sp>
        <p:nvSpPr>
          <p:cNvPr id="3" name="Textplatzhalter 2">
            <a:extLst>
              <a:ext uri="{FF2B5EF4-FFF2-40B4-BE49-F238E27FC236}">
                <a16:creationId xmlns:a16="http://schemas.microsoft.com/office/drawing/2014/main" id="{1344E112-E982-451A-A302-F14F9A908B73}"/>
              </a:ext>
            </a:extLst>
          </p:cNvPr>
          <p:cNvSpPr>
            <a:spLocks noGrp="1"/>
          </p:cNvSpPr>
          <p:nvPr>
            <p:ph type="body" sz="quarter" idx="11"/>
          </p:nvPr>
        </p:nvSpPr>
        <p:spPr/>
        <p:txBody>
          <a:bodyPr/>
          <a:lstStyle/>
          <a:p>
            <a:endParaRPr lang="en-US" dirty="0"/>
          </a:p>
        </p:txBody>
      </p:sp>
      <p:cxnSp>
        <p:nvCxnSpPr>
          <p:cNvPr id="6" name="Gerade Verbindung 15"/>
          <p:cNvCxnSpPr/>
          <p:nvPr/>
        </p:nvCxnSpPr>
        <p:spPr>
          <a:xfrm>
            <a:off x="499471" y="3215725"/>
            <a:ext cx="270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4647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99B13-347D-08EB-6CF1-ABD628BD41B5}"/>
            </a:ext>
          </a:extLst>
        </p:cNvPr>
        <p:cNvGrpSpPr/>
        <p:nvPr/>
      </p:nvGrpSpPr>
      <p:grpSpPr>
        <a:xfrm>
          <a:off x="0" y="0"/>
          <a:ext cx="0" cy="0"/>
          <a:chOff x="0" y="0"/>
          <a:chExt cx="0" cy="0"/>
        </a:xfrm>
      </p:grpSpPr>
      <p:sp>
        <p:nvSpPr>
          <p:cNvPr id="6" name="Textplatzhalter 5">
            <a:extLst>
              <a:ext uri="{FF2B5EF4-FFF2-40B4-BE49-F238E27FC236}">
                <a16:creationId xmlns:a16="http://schemas.microsoft.com/office/drawing/2014/main" id="{71E7A699-6F2F-2C93-B60A-1DBA1728BA41}"/>
              </a:ext>
            </a:extLst>
          </p:cNvPr>
          <p:cNvSpPr>
            <a:spLocks noGrp="1"/>
          </p:cNvSpPr>
          <p:nvPr>
            <p:ph type="body" sz="quarter" idx="11"/>
          </p:nvPr>
        </p:nvSpPr>
        <p:spPr/>
        <p:txBody>
          <a:bodyPr/>
          <a:lstStyle/>
          <a:p>
            <a:endParaRPr lang="en-US" dirty="0"/>
          </a:p>
        </p:txBody>
      </p:sp>
      <p:pic>
        <p:nvPicPr>
          <p:cNvPr id="5" name="Grafik 4">
            <a:extLst>
              <a:ext uri="{FF2B5EF4-FFF2-40B4-BE49-F238E27FC236}">
                <a16:creationId xmlns:a16="http://schemas.microsoft.com/office/drawing/2014/main" id="{17BD0EA2-BDCD-C054-12BD-D1A864C43105}"/>
              </a:ext>
            </a:extLst>
          </p:cNvPr>
          <p:cNvPicPr>
            <a:picLocks noChangeAspect="1"/>
          </p:cNvPicPr>
          <p:nvPr/>
        </p:nvPicPr>
        <p:blipFill>
          <a:blip r:embed="rId3"/>
          <a:stretch>
            <a:fillRect/>
          </a:stretch>
        </p:blipFill>
        <p:spPr>
          <a:xfrm>
            <a:off x="259702" y="279730"/>
            <a:ext cx="4834812" cy="1971337"/>
          </a:xfrm>
          <a:prstGeom prst="rect">
            <a:avLst/>
          </a:prstGeom>
        </p:spPr>
      </p:pic>
      <p:cxnSp>
        <p:nvCxnSpPr>
          <p:cNvPr id="2" name="Gerade Verbindung 9">
            <a:extLst>
              <a:ext uri="{FF2B5EF4-FFF2-40B4-BE49-F238E27FC236}">
                <a16:creationId xmlns:a16="http://schemas.microsoft.com/office/drawing/2014/main" id="{A3BDAED6-C640-B3E7-F727-8886A7BF8CB4}"/>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Grafik 8">
            <a:extLst>
              <a:ext uri="{FF2B5EF4-FFF2-40B4-BE49-F238E27FC236}">
                <a16:creationId xmlns:a16="http://schemas.microsoft.com/office/drawing/2014/main" id="{FD15F2CD-70BC-282D-9BEF-BDC70659D4D2}"/>
              </a:ext>
            </a:extLst>
          </p:cNvPr>
          <p:cNvPicPr>
            <a:picLocks noChangeAspect="1"/>
          </p:cNvPicPr>
          <p:nvPr/>
        </p:nvPicPr>
        <p:blipFill>
          <a:blip r:embed="rId4"/>
          <a:stretch>
            <a:fillRect/>
          </a:stretch>
        </p:blipFill>
        <p:spPr>
          <a:xfrm>
            <a:off x="5142314" y="526028"/>
            <a:ext cx="1588168" cy="1040694"/>
          </a:xfrm>
          <a:prstGeom prst="rect">
            <a:avLst/>
          </a:prstGeom>
        </p:spPr>
      </p:pic>
      <p:pic>
        <p:nvPicPr>
          <p:cNvPr id="12" name="Grafik 11">
            <a:extLst>
              <a:ext uri="{FF2B5EF4-FFF2-40B4-BE49-F238E27FC236}">
                <a16:creationId xmlns:a16="http://schemas.microsoft.com/office/drawing/2014/main" id="{F595F826-9509-AC1B-E319-141F153CE137}"/>
              </a:ext>
            </a:extLst>
          </p:cNvPr>
          <p:cNvPicPr>
            <a:picLocks noChangeAspect="1"/>
          </p:cNvPicPr>
          <p:nvPr/>
        </p:nvPicPr>
        <p:blipFill>
          <a:blip r:embed="rId5"/>
          <a:stretch>
            <a:fillRect/>
          </a:stretch>
        </p:blipFill>
        <p:spPr>
          <a:xfrm>
            <a:off x="5142314" y="1575701"/>
            <a:ext cx="1588168" cy="1014804"/>
          </a:xfrm>
          <a:prstGeom prst="rect">
            <a:avLst/>
          </a:prstGeom>
        </p:spPr>
      </p:pic>
      <p:pic>
        <p:nvPicPr>
          <p:cNvPr id="16" name="Grafik 15">
            <a:extLst>
              <a:ext uri="{FF2B5EF4-FFF2-40B4-BE49-F238E27FC236}">
                <a16:creationId xmlns:a16="http://schemas.microsoft.com/office/drawing/2014/main" id="{363A7E8F-FE8B-45E3-D526-B575464847EC}"/>
              </a:ext>
            </a:extLst>
          </p:cNvPr>
          <p:cNvPicPr>
            <a:picLocks noChangeAspect="1"/>
          </p:cNvPicPr>
          <p:nvPr/>
        </p:nvPicPr>
        <p:blipFill>
          <a:blip r:embed="rId6"/>
          <a:stretch>
            <a:fillRect/>
          </a:stretch>
        </p:blipFill>
        <p:spPr>
          <a:xfrm>
            <a:off x="2977065" y="2330586"/>
            <a:ext cx="1953461" cy="1971338"/>
          </a:xfrm>
          <a:prstGeom prst="rect">
            <a:avLst/>
          </a:prstGeom>
        </p:spPr>
      </p:pic>
      <p:pic>
        <p:nvPicPr>
          <p:cNvPr id="18" name="Grafik 17">
            <a:extLst>
              <a:ext uri="{FF2B5EF4-FFF2-40B4-BE49-F238E27FC236}">
                <a16:creationId xmlns:a16="http://schemas.microsoft.com/office/drawing/2014/main" id="{0C2B9116-1643-3191-A3D1-C87FC1C864C1}"/>
              </a:ext>
            </a:extLst>
          </p:cNvPr>
          <p:cNvPicPr>
            <a:picLocks noChangeAspect="1"/>
          </p:cNvPicPr>
          <p:nvPr/>
        </p:nvPicPr>
        <p:blipFill>
          <a:blip r:embed="rId7"/>
          <a:stretch>
            <a:fillRect/>
          </a:stretch>
        </p:blipFill>
        <p:spPr>
          <a:xfrm>
            <a:off x="686991" y="2330585"/>
            <a:ext cx="1955336" cy="1971338"/>
          </a:xfrm>
          <a:prstGeom prst="rect">
            <a:avLst/>
          </a:prstGeom>
        </p:spPr>
      </p:pic>
    </p:spTree>
    <p:extLst>
      <p:ext uri="{BB962C8B-B14F-4D97-AF65-F5344CB8AC3E}">
        <p14:creationId xmlns:p14="http://schemas.microsoft.com/office/powerpoint/2010/main" val="32377657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73F23-9E61-BB2D-0C56-23667A1DA787}"/>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D51D5C92-5950-CEC8-CEAA-BF030372EBBD}"/>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9E41FE3F-E708-E265-7843-30370DB450CD}"/>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0AEA241F-0C7A-32C8-6DC3-E8A0ACA209CC}"/>
              </a:ext>
            </a:extLst>
          </p:cNvPr>
          <p:cNvSpPr txBox="1"/>
          <p:nvPr/>
        </p:nvSpPr>
        <p:spPr>
          <a:xfrm>
            <a:off x="340095" y="398809"/>
            <a:ext cx="4868277"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Understanding voice perception</a:t>
            </a:r>
          </a:p>
        </p:txBody>
      </p:sp>
      <p:sp>
        <p:nvSpPr>
          <p:cNvPr id="10" name="Textfeld 9">
            <a:extLst>
              <a:ext uri="{FF2B5EF4-FFF2-40B4-BE49-F238E27FC236}">
                <a16:creationId xmlns:a16="http://schemas.microsoft.com/office/drawing/2014/main" id="{D5649F11-A2BD-6BDE-2048-742BFE419D04}"/>
              </a:ext>
            </a:extLst>
          </p:cNvPr>
          <p:cNvSpPr txBox="1"/>
          <p:nvPr/>
        </p:nvSpPr>
        <p:spPr>
          <a:xfrm>
            <a:off x="4857488" y="4111563"/>
            <a:ext cx="1217000" cy="276999"/>
          </a:xfrm>
          <a:prstGeom prst="rect">
            <a:avLst/>
          </a:prstGeom>
          <a:noFill/>
        </p:spPr>
        <p:txBody>
          <a:bodyPr wrap="none" rtlCol="0">
            <a:spAutoFit/>
          </a:bodyPr>
          <a:lstStyle/>
          <a:p>
            <a:r>
              <a:rPr lang="en-US" sz="1200" dirty="0"/>
              <a:t>Belin et al (2011)</a:t>
            </a:r>
          </a:p>
        </p:txBody>
      </p:sp>
      <p:pic>
        <p:nvPicPr>
          <p:cNvPr id="4" name="Grafik 3">
            <a:extLst>
              <a:ext uri="{FF2B5EF4-FFF2-40B4-BE49-F238E27FC236}">
                <a16:creationId xmlns:a16="http://schemas.microsoft.com/office/drawing/2014/main" id="{D24B790A-90D7-D672-B202-87713CF92EAE}"/>
              </a:ext>
            </a:extLst>
          </p:cNvPr>
          <p:cNvPicPr>
            <a:picLocks noChangeAspect="1"/>
          </p:cNvPicPr>
          <p:nvPr/>
        </p:nvPicPr>
        <p:blipFill>
          <a:blip r:embed="rId3"/>
          <a:stretch>
            <a:fillRect/>
          </a:stretch>
        </p:blipFill>
        <p:spPr>
          <a:xfrm>
            <a:off x="756517" y="963373"/>
            <a:ext cx="5344966" cy="3093982"/>
          </a:xfrm>
          <a:prstGeom prst="rect">
            <a:avLst/>
          </a:prstGeom>
        </p:spPr>
      </p:pic>
    </p:spTree>
    <p:extLst>
      <p:ext uri="{BB962C8B-B14F-4D97-AF65-F5344CB8AC3E}">
        <p14:creationId xmlns:p14="http://schemas.microsoft.com/office/powerpoint/2010/main" val="5919135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Person Perception from Voices (PPV)</a:t>
            </a:r>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pic>
        <p:nvPicPr>
          <p:cNvPr id="8" name="Grafik 7">
            <a:extLst>
              <a:ext uri="{FF2B5EF4-FFF2-40B4-BE49-F238E27FC236}">
                <a16:creationId xmlns:a16="http://schemas.microsoft.com/office/drawing/2014/main" id="{F1E16443-6563-D8EF-2502-1795F5C5A451}"/>
              </a:ext>
            </a:extLst>
          </p:cNvPr>
          <p:cNvPicPr>
            <a:picLocks noChangeAspect="1"/>
          </p:cNvPicPr>
          <p:nvPr/>
        </p:nvPicPr>
        <p:blipFill>
          <a:blip r:embed="rId3"/>
          <a:stretch>
            <a:fillRect/>
          </a:stretch>
        </p:blipFill>
        <p:spPr>
          <a:xfrm>
            <a:off x="221456" y="1012378"/>
            <a:ext cx="6415088" cy="3040678"/>
          </a:xfrm>
          <a:prstGeom prst="rect">
            <a:avLst/>
          </a:prstGeom>
        </p:spPr>
      </p:pic>
      <p:sp>
        <p:nvSpPr>
          <p:cNvPr id="5" name="Textfeld 4">
            <a:extLst>
              <a:ext uri="{FF2B5EF4-FFF2-40B4-BE49-F238E27FC236}">
                <a16:creationId xmlns:a16="http://schemas.microsoft.com/office/drawing/2014/main" id="{FBBCCB91-C694-E1DB-D69E-1ACFBCB66AAC}"/>
              </a:ext>
            </a:extLst>
          </p:cNvPr>
          <p:cNvSpPr txBox="1"/>
          <p:nvPr/>
        </p:nvSpPr>
        <p:spPr>
          <a:xfrm>
            <a:off x="3034862" y="2780382"/>
            <a:ext cx="788276" cy="230832"/>
          </a:xfrm>
          <a:prstGeom prst="rect">
            <a:avLst/>
          </a:prstGeom>
          <a:noFill/>
        </p:spPr>
        <p:txBody>
          <a:bodyPr wrap="square" rtlCol="0">
            <a:spAutoFit/>
          </a:bodyPr>
          <a:lstStyle/>
          <a:p>
            <a:r>
              <a:rPr lang="de-DE" sz="900" dirty="0">
                <a:highlight>
                  <a:srgbClr val="C0C0C0"/>
                </a:highlight>
              </a:rPr>
              <a:t>Naturalness</a:t>
            </a:r>
            <a:endParaRPr lang="en-US" sz="900" dirty="0">
              <a:highlight>
                <a:srgbClr val="C0C0C0"/>
              </a:highlight>
            </a:endParaRPr>
          </a:p>
        </p:txBody>
      </p:sp>
      <p:sp>
        <p:nvSpPr>
          <p:cNvPr id="7" name="Textfeld 6">
            <a:extLst>
              <a:ext uri="{FF2B5EF4-FFF2-40B4-BE49-F238E27FC236}">
                <a16:creationId xmlns:a16="http://schemas.microsoft.com/office/drawing/2014/main" id="{2B29EC58-CF60-4485-B05A-CF94C5313637}"/>
              </a:ext>
            </a:extLst>
          </p:cNvPr>
          <p:cNvSpPr txBox="1"/>
          <p:nvPr/>
        </p:nvSpPr>
        <p:spPr>
          <a:xfrm>
            <a:off x="5490318" y="4270997"/>
            <a:ext cx="1420582" cy="230832"/>
          </a:xfrm>
          <a:prstGeom prst="rect">
            <a:avLst/>
          </a:prstGeom>
          <a:noFill/>
        </p:spPr>
        <p:txBody>
          <a:bodyPr wrap="none" rtlCol="0">
            <a:spAutoFit/>
          </a:bodyPr>
          <a:lstStyle/>
          <a:p>
            <a:r>
              <a:rPr lang="de-DE" sz="900" dirty="0"/>
              <a:t>(</a:t>
            </a:r>
            <a:r>
              <a:rPr lang="de-DE" sz="900" dirty="0" err="1"/>
              <a:t>Lavan</a:t>
            </a:r>
            <a:r>
              <a:rPr lang="de-DE" sz="900" dirty="0"/>
              <a:t> &amp; </a:t>
            </a:r>
            <a:r>
              <a:rPr lang="de-DE" sz="900" dirty="0" err="1"/>
              <a:t>McGettigan</a:t>
            </a:r>
            <a:r>
              <a:rPr lang="de-DE" sz="900" dirty="0"/>
              <a:t> 2023)</a:t>
            </a:r>
          </a:p>
        </p:txBody>
      </p:sp>
    </p:spTree>
    <p:extLst>
      <p:ext uri="{BB962C8B-B14F-4D97-AF65-F5344CB8AC3E}">
        <p14:creationId xmlns:p14="http://schemas.microsoft.com/office/powerpoint/2010/main" val="250476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Universität Jena Blau">
  <a:themeElements>
    <a:clrScheme name="Universität">
      <a:dk1>
        <a:srgbClr val="002F5D"/>
      </a:dk1>
      <a:lt1>
        <a:srgbClr val="FFFFFF"/>
      </a:lt1>
      <a:dk2>
        <a:srgbClr val="002F5D"/>
      </a:dk2>
      <a:lt2>
        <a:srgbClr val="FFFFFF"/>
      </a:lt2>
      <a:accent1>
        <a:srgbClr val="AE9A63"/>
      </a:accent1>
      <a:accent2>
        <a:srgbClr val="7682A5"/>
      </a:accent2>
      <a:accent3>
        <a:srgbClr val="8E98B7"/>
      </a:accent3>
      <a:accent4>
        <a:srgbClr val="FFFFFF"/>
      </a:accent4>
      <a:accent5>
        <a:srgbClr val="FFFFFF"/>
      </a:accent5>
      <a:accent6>
        <a:srgbClr val="FFFFFF"/>
      </a:accent6>
      <a:hlink>
        <a:srgbClr val="7682A5"/>
      </a:hlink>
      <a:folHlink>
        <a:srgbClr val="A8AFC8"/>
      </a:folHlink>
    </a:clrScheme>
    <a:fontScheme name="Universität">
      <a:majorFont>
        <a:latin typeface="Palatino nova Medium"/>
        <a:ea typeface=""/>
        <a:cs typeface=""/>
      </a:majorFont>
      <a:minorFont>
        <a:latin typeface="Roboto Condensed"/>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8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1100</Words>
  <Application>Microsoft Office PowerPoint</Application>
  <PresentationFormat>Benutzerdefiniert</PresentationFormat>
  <Paragraphs>164</Paragraphs>
  <Slides>28</Slides>
  <Notes>28</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28</vt:i4>
      </vt:variant>
    </vt:vector>
  </HeadingPairs>
  <TitlesOfParts>
    <vt:vector size="35" baseType="lpstr">
      <vt:lpstr>Palatino Linotype</vt:lpstr>
      <vt:lpstr>Wingdings</vt:lpstr>
      <vt:lpstr>Roboto Condensed</vt:lpstr>
      <vt:lpstr>Arial</vt:lpstr>
      <vt:lpstr>Calibri</vt:lpstr>
      <vt:lpstr>Universität Jena Blau</vt:lpstr>
      <vt:lpstr>Acrobat Document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FSU Jena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Liana Franke</dc:creator>
  <cp:lastModifiedBy>christine.nussbaum</cp:lastModifiedBy>
  <cp:revision>1021</cp:revision>
  <cp:lastPrinted>2017-04-12T09:06:57Z</cp:lastPrinted>
  <dcterms:created xsi:type="dcterms:W3CDTF">2017-03-23T10:34:48Z</dcterms:created>
  <dcterms:modified xsi:type="dcterms:W3CDTF">2026-10-07T09:22:24Z</dcterms:modified>
</cp:coreProperties>
</file>