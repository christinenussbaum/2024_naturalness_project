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5" r:id="rId1"/>
  </p:sldMasterIdLst>
  <p:notesMasterIdLst>
    <p:notesMasterId r:id="rId34"/>
  </p:notesMasterIdLst>
  <p:handoutMasterIdLst>
    <p:handoutMasterId r:id="rId35"/>
  </p:handoutMasterIdLst>
  <p:sldIdLst>
    <p:sldId id="328" r:id="rId2"/>
    <p:sldId id="410" r:id="rId3"/>
    <p:sldId id="406" r:id="rId4"/>
    <p:sldId id="413" r:id="rId5"/>
    <p:sldId id="356" r:id="rId6"/>
    <p:sldId id="353" r:id="rId7"/>
    <p:sldId id="414" r:id="rId8"/>
    <p:sldId id="430" r:id="rId9"/>
    <p:sldId id="409" r:id="rId10"/>
    <p:sldId id="431" r:id="rId11"/>
    <p:sldId id="423" r:id="rId12"/>
    <p:sldId id="440" r:id="rId13"/>
    <p:sldId id="432" r:id="rId14"/>
    <p:sldId id="433" r:id="rId15"/>
    <p:sldId id="434" r:id="rId16"/>
    <p:sldId id="441" r:id="rId17"/>
    <p:sldId id="435" r:id="rId18"/>
    <p:sldId id="442" r:id="rId19"/>
    <p:sldId id="436" r:id="rId20"/>
    <p:sldId id="443" r:id="rId21"/>
    <p:sldId id="437" r:id="rId22"/>
    <p:sldId id="444" r:id="rId23"/>
    <p:sldId id="438" r:id="rId24"/>
    <p:sldId id="445" r:id="rId25"/>
    <p:sldId id="446" r:id="rId26"/>
    <p:sldId id="424" r:id="rId27"/>
    <p:sldId id="428" r:id="rId28"/>
    <p:sldId id="354" r:id="rId29"/>
    <p:sldId id="439" r:id="rId30"/>
    <p:sldId id="397" r:id="rId31"/>
    <p:sldId id="429" r:id="rId32"/>
    <p:sldId id="407" r:id="rId33"/>
  </p:sldIdLst>
  <p:sldSz cx="6858000" cy="51435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Palatino Linotype" panose="02040502050505030304" pitchFamily="18" charset="0"/>
      <p:regular r:id="rId40"/>
      <p:bold r:id="rId41"/>
      <p:italic r:id="rId42"/>
      <p:boldItalic r:id="rId43"/>
    </p:embeddedFont>
    <p:embeddedFont>
      <p:font typeface="Roboto Condensed" panose="020B0604020202020204" charset="0"/>
      <p:regular r:id="rId44"/>
      <p:bold r:id="rId45"/>
      <p:italic r:id="rId46"/>
      <p:boldItalic r:id="rId4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orient="horz" pos="3162" userDrawn="1">
          <p15:clr>
            <a:srgbClr val="A4A3A4"/>
          </p15:clr>
        </p15:guide>
        <p15:guide id="3" orient="horz" pos="2414" userDrawn="1">
          <p15:clr>
            <a:srgbClr val="A4A3A4"/>
          </p15:clr>
        </p15:guide>
        <p15:guide id="5" orient="horz" pos="2867" userDrawn="1">
          <p15:clr>
            <a:srgbClr val="A4A3A4"/>
          </p15:clr>
        </p15:guide>
        <p15:guide id="6" orient="horz" pos="214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  <p15:guide id="8" orient="horz" pos="2709" userDrawn="1">
          <p15:clr>
            <a:srgbClr val="A4A3A4"/>
          </p15:clr>
        </p15:guide>
        <p15:guide id="9" pos="1514" userDrawn="1">
          <p15:clr>
            <a:srgbClr val="A4A3A4"/>
          </p15:clr>
        </p15:guide>
        <p15:guide id="10" pos="1292" userDrawn="1">
          <p15:clr>
            <a:srgbClr val="A4A3A4"/>
          </p15:clr>
        </p15:guide>
        <p15:guide id="11" pos="4106" userDrawn="1">
          <p15:clr>
            <a:srgbClr val="A4A3A4"/>
          </p15:clr>
        </p15:guide>
        <p15:guide id="12" pos="221" userDrawn="1">
          <p15:clr>
            <a:srgbClr val="A4A3A4"/>
          </p15:clr>
        </p15:guide>
        <p15:guide id="13" pos="3025" userDrawn="1">
          <p15:clr>
            <a:srgbClr val="A4A3A4"/>
          </p15:clr>
        </p15:guide>
        <p15:guide id="14" pos="2809" userDrawn="1">
          <p15:clr>
            <a:srgbClr val="A4A3A4"/>
          </p15:clr>
        </p15:guide>
        <p15:guide id="15" pos="2378" userDrawn="1">
          <p15:clr>
            <a:srgbClr val="A4A3A4"/>
          </p15:clr>
        </p15:guide>
        <p15:guide id="16" pos="433" userDrawn="1">
          <p15:clr>
            <a:srgbClr val="A4A3A4"/>
          </p15:clr>
        </p15:guide>
        <p15:guide id="17" pos="648" userDrawn="1">
          <p15:clr>
            <a:srgbClr val="A4A3A4"/>
          </p15:clr>
        </p15:guide>
        <p15:guide id="18" pos="867" userDrawn="1">
          <p15:clr>
            <a:srgbClr val="A4A3A4"/>
          </p15:clr>
        </p15:guide>
        <p15:guide id="19" pos="1082" userDrawn="1">
          <p15:clr>
            <a:srgbClr val="A4A3A4"/>
          </p15:clr>
        </p15:guide>
        <p15:guide id="20" pos="1734" userDrawn="1">
          <p15:clr>
            <a:srgbClr val="A4A3A4"/>
          </p15:clr>
        </p15:guide>
        <p15:guide id="21" pos="1946" userDrawn="1">
          <p15:clr>
            <a:srgbClr val="A4A3A4"/>
          </p15:clr>
        </p15:guide>
        <p15:guide id="22" pos="2160" userDrawn="1">
          <p15:clr>
            <a:srgbClr val="A4A3A4"/>
          </p15:clr>
        </p15:guide>
        <p15:guide id="23" pos="2594" userDrawn="1">
          <p15:clr>
            <a:srgbClr val="A4A3A4"/>
          </p15:clr>
        </p15:guide>
        <p15:guide id="25" pos="3453" userDrawn="1">
          <p15:clr>
            <a:srgbClr val="A4A3A4"/>
          </p15:clr>
        </p15:guide>
        <p15:guide id="26" pos="3674" userDrawn="1">
          <p15:clr>
            <a:srgbClr val="A4A3A4"/>
          </p15:clr>
        </p15:guide>
        <p15:guide id="27" pos="3890" userDrawn="1">
          <p15:clr>
            <a:srgbClr val="A4A3A4"/>
          </p15:clr>
        </p15:guide>
        <p15:guide id="28" orient="horz" pos="3153" userDrawn="1">
          <p15:clr>
            <a:srgbClr val="A4A3A4"/>
          </p15:clr>
        </p15:guide>
        <p15:guide id="29" orient="horz" pos="2836" userDrawn="1">
          <p15:clr>
            <a:srgbClr val="A4A3A4"/>
          </p15:clr>
        </p15:guide>
        <p15:guide id="30" pos="3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2F5D"/>
    <a:srgbClr val="5B0503"/>
    <a:srgbClr val="6C7921"/>
    <a:srgbClr val="384519"/>
    <a:srgbClr val="104E28"/>
    <a:srgbClr val="FFFFFF"/>
    <a:srgbClr val="BD9F21"/>
    <a:srgbClr val="FFC864"/>
    <a:srgbClr val="FFB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39" autoAdjust="0"/>
    <p:restoredTop sz="96794" autoAdjust="0"/>
  </p:normalViewPr>
  <p:slideViewPr>
    <p:cSldViewPr snapToGrid="0" snapToObjects="1">
      <p:cViewPr varScale="1">
        <p:scale>
          <a:sx n="171" d="100"/>
          <a:sy n="171" d="100"/>
        </p:scale>
        <p:origin x="972" y="132"/>
      </p:cViewPr>
      <p:guideLst>
        <p:guide orient="horz" pos="1620"/>
        <p:guide orient="horz" pos="3162"/>
        <p:guide orient="horz" pos="2414"/>
        <p:guide orient="horz" pos="2867"/>
        <p:guide orient="horz" pos="214"/>
        <p:guide orient="horz" pos="696"/>
        <p:guide orient="horz" pos="2709"/>
        <p:guide pos="1514"/>
        <p:guide pos="1292"/>
        <p:guide pos="4106"/>
        <p:guide pos="221"/>
        <p:guide pos="3025"/>
        <p:guide pos="2809"/>
        <p:guide pos="2378"/>
        <p:guide pos="433"/>
        <p:guide pos="648"/>
        <p:guide pos="867"/>
        <p:guide pos="1082"/>
        <p:guide pos="1734"/>
        <p:guide pos="1946"/>
        <p:guide pos="2160"/>
        <p:guide pos="2594"/>
        <p:guide pos="3453"/>
        <p:guide pos="3674"/>
        <p:guide pos="3890"/>
        <p:guide orient="horz" pos="3153"/>
        <p:guide orient="horz" pos="2836"/>
        <p:guide pos="3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772"/>
    </p:cViewPr>
  </p:sorterViewPr>
  <p:notesViewPr>
    <p:cSldViewPr snapToGrid="0" snapToObjects="1" showGuides="1">
      <p:cViewPr varScale="1">
        <p:scale>
          <a:sx n="98" d="100"/>
          <a:sy n="98" d="100"/>
        </p:scale>
        <p:origin x="3594" y="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642F8-4030-468B-846F-DE3B6AB6CE0D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AA542-7317-4AC6-A4A4-9C0CA74357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496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B2040-EA4D-4002-BC41-13AC0377AF84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DD7A-5464-40FD-B5CC-4CA36D7CC1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30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DADD7A-5464-40FD-B5CC-4CA36D7CC1F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51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Always </a:t>
            </a:r>
            <a:r>
              <a:rPr lang="de-DE" dirty="0" err="1"/>
              <a:t>steal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Nadine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9524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Research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located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whole</a:t>
            </a:r>
            <a:r>
              <a:rPr lang="de-DE" dirty="0"/>
              <a:t> </a:t>
            </a:r>
            <a:r>
              <a:rPr lang="de-DE" dirty="0" err="1"/>
              <a:t>big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„</a:t>
            </a:r>
            <a:r>
              <a:rPr lang="de-DE" dirty="0" err="1"/>
              <a:t>person</a:t>
            </a:r>
            <a:r>
              <a:rPr lang="de-DE" dirty="0"/>
              <a:t> </a:t>
            </a:r>
            <a:r>
              <a:rPr lang="de-DE" dirty="0" err="1"/>
              <a:t>perception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voices</a:t>
            </a:r>
            <a:r>
              <a:rPr lang="de-DE" dirty="0"/>
              <a:t>“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399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Just a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little</a:t>
            </a:r>
            <a:r>
              <a:rPr lang="de-DE" dirty="0"/>
              <a:t> „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happened</a:t>
            </a:r>
            <a:r>
              <a:rPr lang="de-DE" dirty="0"/>
              <a:t> so </a:t>
            </a:r>
            <a:r>
              <a:rPr lang="de-DE" dirty="0" err="1"/>
              <a:t>far</a:t>
            </a:r>
            <a:r>
              <a:rPr lang="de-DE" dirty="0"/>
              <a:t>“-</a:t>
            </a:r>
            <a:r>
              <a:rPr lang="de-DE" dirty="0" err="1"/>
              <a:t>summary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TiCS</a:t>
            </a:r>
            <a:r>
              <a:rPr lang="de-DE" dirty="0"/>
              <a:t> </a:t>
            </a:r>
            <a:r>
              <a:rPr lang="de-DE" dirty="0" err="1"/>
              <a:t>paper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146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 Deviation-</a:t>
            </a:r>
            <a:r>
              <a:rPr lang="de-DE" dirty="0" err="1"/>
              <a:t>based</a:t>
            </a:r>
            <a:r>
              <a:rPr lang="de-DE" dirty="0"/>
              <a:t> </a:t>
            </a:r>
          </a:p>
          <a:p>
            <a:pPr marL="0" indent="0">
              <a:buFontTx/>
              <a:buNone/>
            </a:pPr>
            <a:r>
              <a:rPr lang="de-DE" dirty="0"/>
              <a:t>- </a:t>
            </a:r>
            <a:r>
              <a:rPr lang="de-DE" dirty="0" err="1"/>
              <a:t>Category-based</a:t>
            </a:r>
            <a:endParaRPr lang="de-DE" dirty="0"/>
          </a:p>
          <a:p>
            <a:pPr marL="0" indent="0">
              <a:buFontTx/>
              <a:buNone/>
            </a:pP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Agree</a:t>
            </a:r>
            <a:r>
              <a:rPr lang="de-DE" dirty="0"/>
              <a:t> on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things</a:t>
            </a:r>
            <a:r>
              <a:rPr lang="de-DE" dirty="0"/>
              <a:t>: 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Subjective</a:t>
            </a:r>
            <a:r>
              <a:rPr lang="de-DE" dirty="0"/>
              <a:t> and </a:t>
            </a:r>
            <a:r>
              <a:rPr lang="de-DE" dirty="0" err="1"/>
              <a:t>multifactorial</a:t>
            </a:r>
            <a:r>
              <a:rPr lang="de-DE" dirty="0"/>
              <a:t>/multidimensional (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dont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whic</a:t>
            </a:r>
            <a:r>
              <a:rPr lang="de-DE" dirty="0"/>
              <a:t> </a:t>
            </a:r>
            <a:r>
              <a:rPr lang="de-DE" dirty="0" err="1"/>
              <a:t>acoustic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listeners</a:t>
            </a:r>
            <a:r>
              <a:rPr lang="de-DE" dirty="0"/>
              <a:t> </a:t>
            </a:r>
            <a:r>
              <a:rPr lang="de-DE" dirty="0" err="1"/>
              <a:t>attend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25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39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/>
              <a:t>And: </a:t>
            </a:r>
            <a:r>
              <a:rPr lang="de-DE" dirty="0" err="1"/>
              <a:t>importantly</a:t>
            </a:r>
            <a:r>
              <a:rPr lang="de-DE" dirty="0"/>
              <a:t>. </a:t>
            </a:r>
          </a:p>
          <a:p>
            <a:pPr marL="0" indent="0">
              <a:buFontTx/>
              <a:buNone/>
            </a:pPr>
            <a:r>
              <a:rPr lang="de-DE" dirty="0"/>
              <a:t>Connection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voice</a:t>
            </a:r>
            <a:r>
              <a:rPr lang="de-DE" dirty="0"/>
              <a:t> </a:t>
            </a:r>
            <a:r>
              <a:rPr lang="de-DE" dirty="0" err="1"/>
              <a:t>perception</a:t>
            </a:r>
            <a:r>
              <a:rPr lang="de-DE" dirty="0"/>
              <a:t> </a:t>
            </a:r>
            <a:r>
              <a:rPr lang="de-DE" dirty="0" err="1"/>
              <a:t>theory</a:t>
            </a:r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Basic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missing</a:t>
            </a:r>
            <a:endParaRPr lang="de-DE" dirty="0"/>
          </a:p>
          <a:p>
            <a:pPr marL="0" indent="0">
              <a:buFontTx/>
              <a:buNone/>
            </a:pPr>
            <a:endParaRPr lang="de-DE" dirty="0"/>
          </a:p>
          <a:p>
            <a:pPr marL="0" indent="0">
              <a:buFontTx/>
              <a:buNone/>
            </a:pPr>
            <a:r>
              <a:rPr lang="de-DE" dirty="0"/>
              <a:t>My </a:t>
            </a:r>
            <a:r>
              <a:rPr lang="de-DE" dirty="0" err="1"/>
              <a:t>role</a:t>
            </a:r>
            <a:r>
              <a:rPr lang="de-DE" dirty="0"/>
              <a:t>: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fill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little</a:t>
            </a:r>
            <a:r>
              <a:rPr lang="de-DE" dirty="0"/>
              <a:t> </a:t>
            </a:r>
            <a:r>
              <a:rPr lang="de-DE" dirty="0" err="1"/>
              <a:t>void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9397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018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 </a:t>
            </a:r>
            <a:r>
              <a:rPr lang="de-DE" dirty="0" err="1"/>
              <a:t>Makes</a:t>
            </a:r>
            <a:r>
              <a:rPr lang="de-DE" dirty="0"/>
              <a:t> a </a:t>
            </a:r>
            <a:r>
              <a:rPr lang="de-DE" dirty="0" err="1"/>
              <a:t>couple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implicit</a:t>
            </a:r>
            <a:r>
              <a:rPr lang="de-DE" dirty="0"/>
              <a:t> </a:t>
            </a:r>
            <a:r>
              <a:rPr lang="de-DE" dirty="0" err="1"/>
              <a:t>things</a:t>
            </a:r>
            <a:r>
              <a:rPr lang="de-DE" dirty="0"/>
              <a:t> explicit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2073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 err="1"/>
              <a:t>Anchoring</a:t>
            </a:r>
            <a:r>
              <a:rPr lang="de-DE" dirty="0"/>
              <a:t> in </a:t>
            </a:r>
            <a:r>
              <a:rPr lang="de-DE" dirty="0" err="1"/>
              <a:t>voice</a:t>
            </a:r>
            <a:r>
              <a:rPr lang="de-DE" dirty="0"/>
              <a:t> </a:t>
            </a:r>
            <a:r>
              <a:rPr lang="de-DE" dirty="0" err="1"/>
              <a:t>perception</a:t>
            </a:r>
            <a:r>
              <a:rPr lang="de-DE" dirty="0"/>
              <a:t> </a:t>
            </a:r>
            <a:r>
              <a:rPr lang="de-DE" dirty="0" err="1"/>
              <a:t>theory</a:t>
            </a: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Differentiation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authenticity</a:t>
            </a:r>
            <a:r>
              <a:rPr lang="de-DE" dirty="0"/>
              <a:t> (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luckily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nonsense</a:t>
            </a:r>
            <a:r>
              <a:rPr lang="de-DE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 err="1"/>
              <a:t>Predictions</a:t>
            </a:r>
            <a:r>
              <a:rPr lang="de-DE" dirty="0"/>
              <a:t>: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come</a:t>
            </a:r>
            <a:r>
              <a:rPr lang="de-DE" dirty="0"/>
              <a:t> in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early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1691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015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F574F-980D-578B-E451-7264121B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1A45315-8E11-C859-74A1-D11A6F08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40D522-6082-611E-DCF2-4BFFAE439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A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exist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sake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, but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Model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helpful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provides</a:t>
            </a:r>
            <a:r>
              <a:rPr lang="de-DE" dirty="0"/>
              <a:t> a </a:t>
            </a:r>
            <a:r>
              <a:rPr lang="de-DE" dirty="0" err="1"/>
              <a:t>starting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meaningful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de-DE" dirty="0" err="1"/>
              <a:t>Either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predictions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tests</a:t>
            </a: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è"/>
              <a:tabLst/>
              <a:defRPr/>
            </a:pPr>
            <a:r>
              <a:rPr lang="de-DE" dirty="0" err="1"/>
              <a:t>Reveals</a:t>
            </a:r>
            <a:r>
              <a:rPr lang="de-DE" dirty="0"/>
              <a:t> </a:t>
            </a:r>
            <a:r>
              <a:rPr lang="de-DE" dirty="0" err="1"/>
              <a:t>obvious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interesting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F4B84B-1FD8-DD17-9BDF-95B604EEB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7150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Study 1: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shift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inner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(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: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term</a:t>
            </a:r>
            <a:r>
              <a:rPr lang="de-DE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: all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human vs.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voices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Most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ongoing</a:t>
            </a:r>
            <a:r>
              <a:rPr lang="de-DE" dirty="0"/>
              <a:t> (I am </a:t>
            </a:r>
            <a:r>
              <a:rPr lang="de-DE" dirty="0" err="1"/>
              <a:t>presenting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currently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297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ToDo: Stimuli</a:t>
            </a:r>
          </a:p>
          <a:p>
            <a:endParaRPr lang="de-DE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psychometric</a:t>
            </a:r>
            <a:r>
              <a:rPr lang="de-DE" dirty="0"/>
              <a:t> </a:t>
            </a:r>
            <a:r>
              <a:rPr lang="de-DE" dirty="0" err="1"/>
              <a:t>curve</a:t>
            </a:r>
            <a:r>
              <a:rPr lang="de-DE" dirty="0"/>
              <a:t> (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called</a:t>
            </a:r>
            <a:r>
              <a:rPr lang="de-DE" dirty="0"/>
              <a:t> a </a:t>
            </a:r>
            <a:r>
              <a:rPr lang="de-DE" dirty="0" err="1"/>
              <a:t>baseline</a:t>
            </a:r>
            <a:r>
              <a:rPr lang="de-DE" dirty="0"/>
              <a:t>)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: simple,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syllable</a:t>
            </a:r>
            <a:r>
              <a:rPr lang="de-DE" dirty="0"/>
              <a:t> </a:t>
            </a:r>
            <a:r>
              <a:rPr lang="de-DE" dirty="0" err="1"/>
              <a:t>words</a:t>
            </a:r>
            <a:r>
              <a:rPr lang="de-DE" dirty="0"/>
              <a:t> (</a:t>
            </a:r>
            <a:r>
              <a:rPr lang="de-DE" dirty="0" err="1"/>
              <a:t>endpoints</a:t>
            </a:r>
            <a:r>
              <a:rPr lang="de-DE" dirty="0"/>
              <a:t>: </a:t>
            </a:r>
            <a:r>
              <a:rPr lang="de-DE" dirty="0" err="1"/>
              <a:t>clearly</a:t>
            </a:r>
            <a:r>
              <a:rPr lang="de-DE" dirty="0"/>
              <a:t> </a:t>
            </a:r>
            <a:r>
              <a:rPr lang="de-DE" dirty="0" err="1"/>
              <a:t>synthetic</a:t>
            </a:r>
            <a:r>
              <a:rPr lang="de-DE" dirty="0"/>
              <a:t>, and </a:t>
            </a:r>
            <a:r>
              <a:rPr lang="de-DE" dirty="0" err="1"/>
              <a:t>clearly</a:t>
            </a:r>
            <a:r>
              <a:rPr lang="de-DE" dirty="0"/>
              <a:t> human,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implications</a:t>
            </a:r>
            <a:r>
              <a:rPr lang="de-DE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de-DE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backbone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I am </a:t>
            </a:r>
            <a:r>
              <a:rPr lang="de-DE" dirty="0" err="1"/>
              <a:t>showing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now</a:t>
            </a:r>
            <a:endParaRPr lang="de-DE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602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007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0131-7434-6B2C-A311-48B91055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C180190-DE4C-0235-C7FB-6F9DD45B7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0F2D12-58DE-AF5C-256E-BE7152BF8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273B22-436A-D588-54BF-35FA06557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23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449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36A3-2D0B-2B36-3949-905B86D7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20ECAB-CFA4-58E4-A0D0-75CA77D0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F446D5-CEBF-5159-DE2E-F49C5EA4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9F0E28-7ECA-0706-04C5-74FB3D383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249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71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86E0-B495-3E48-DBA3-4CA17EFB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1BBC34-5A8F-F8D8-9489-E2EFD4414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39CA1C-1EAA-5E9D-A435-A05E4FF67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D246A7-EE01-ABC8-1E24-9CF07305C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662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Little </a:t>
            </a:r>
            <a:r>
              <a:rPr lang="de-DE" dirty="0" err="1"/>
              <a:t>exkursion</a:t>
            </a:r>
            <a:r>
              <a:rPr lang="de-DE" dirty="0"/>
              <a:t>: </a:t>
            </a:r>
            <a:r>
              <a:rPr lang="de-DE" dirty="0" err="1"/>
              <a:t>methodological</a:t>
            </a:r>
            <a:r>
              <a:rPr lang="de-DE" dirty="0"/>
              <a:t> </a:t>
            </a:r>
            <a:r>
              <a:rPr lang="de-DE" dirty="0" err="1"/>
              <a:t>hassles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voice</a:t>
            </a:r>
            <a:r>
              <a:rPr lang="de-DE" dirty="0"/>
              <a:t> </a:t>
            </a:r>
            <a:r>
              <a:rPr lang="de-DE" dirty="0" err="1"/>
              <a:t>morphing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Voice Morphing </a:t>
            </a:r>
            <a:r>
              <a:rPr lang="de-DE" dirty="0" err="1"/>
              <a:t>needs</a:t>
            </a:r>
            <a:r>
              <a:rPr lang="de-DE" dirty="0"/>
              <a:t> extensive </a:t>
            </a:r>
            <a:r>
              <a:rPr lang="de-DE" dirty="0" err="1"/>
              <a:t>validation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572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FF3E4-3D7B-1EEF-311E-6E8EA0B7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DEFFA4-EBCC-AEA3-93C0-6D0748E8C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3C9240F-C68C-E363-E57C-9E8BC9A5E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70F7B6-F0B1-CF64-A29B-7F37566EB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0360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conditions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met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993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6AD0-BB4A-1FE1-8EFD-729E919F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81D268-882A-C9DB-885B-54A7A7AB4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5732A4-C415-D6BE-E7C4-5DADEBC33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categorization</a:t>
            </a:r>
            <a:endParaRPr lang="de-DE" dirty="0"/>
          </a:p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discrimination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But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didnt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out -&gt; </a:t>
            </a:r>
            <a:r>
              <a:rPr lang="de-DE" dirty="0" err="1"/>
              <a:t>probably</a:t>
            </a:r>
            <a:r>
              <a:rPr lang="de-DE" dirty="0"/>
              <a:t> not </a:t>
            </a:r>
            <a:r>
              <a:rPr lang="de-DE" dirty="0" err="1"/>
              <a:t>enough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power (online </a:t>
            </a:r>
            <a:r>
              <a:rPr lang="de-DE" dirty="0" err="1"/>
              <a:t>study</a:t>
            </a:r>
            <a:r>
              <a:rPr lang="de-DE" dirty="0"/>
              <a:t> and </a:t>
            </a:r>
            <a:r>
              <a:rPr lang="de-DE" dirty="0" err="1"/>
              <a:t>discrimination</a:t>
            </a:r>
            <a:r>
              <a:rPr lang="de-DE" dirty="0"/>
              <a:t> was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really</a:t>
            </a:r>
            <a:r>
              <a:rPr lang="de-DE" dirty="0"/>
              <a:t> </a:t>
            </a:r>
            <a:r>
              <a:rPr lang="de-DE" dirty="0" err="1"/>
              <a:t>hard</a:t>
            </a:r>
            <a:r>
              <a:rPr lang="de-DE" dirty="0"/>
              <a:t>)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930EE6-E7BD-5A18-FE84-232C66418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9107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FB63-FF02-DA26-74D1-EDCC235D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807C18-082D-1DD5-FEA1-BA149340E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73F7E51-E74F-B68C-43D5-9C6743103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411696-F2B5-C624-3BE6-557EB5327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188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BEA0-619F-1C01-462E-0BCCE372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A8480D-B5E9-2FD7-6433-ECED7DD9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CDBDB2-DC43-07D7-1500-FABEACDD1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D59498-C50C-FAC8-F3E4-AA34B4FA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42573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8C26-3A38-7F5A-562B-35388DCC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D2C5E9B-AE0F-00B9-C76B-F042E1FAD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933849-D8BE-7B45-55F6-E5B5C3321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151728-795B-50AD-D52B-4C13CFBA4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8725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Thanks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naturalness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force</a:t>
            </a:r>
            <a:r>
              <a:rPr lang="de-DE" dirty="0"/>
              <a:t> </a:t>
            </a:r>
            <a:r>
              <a:rPr lang="de-DE" dirty="0" err="1"/>
              <a:t>who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4134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2E5A-8F31-5A10-E4F2-C7E3B33B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13B76FD-5713-F029-11F1-145B68132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554D2FB-BD26-5DDD-4172-30347B989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D89D2F-1F81-BFA5-5050-743A95095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23639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5EB3-E294-FFEC-BE71-24E4DB4DF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D346B5F-071C-825F-B6FC-187BF6906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A1BD15-BC48-A1EE-BE5E-65EB58ED2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naturalness</a:t>
            </a:r>
            <a:r>
              <a:rPr lang="de-DE" dirty="0"/>
              <a:t>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9E9BEA-8EFC-1170-B87A-673061B00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7415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86302-78E3-2FB2-2F2D-7752ACFF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22094E-97F4-4C5A-67F9-8F06B3A27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ADCD5D5-569C-9455-060E-996F1B3F8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naturalness</a:t>
            </a:r>
            <a:r>
              <a:rPr lang="de-DE" dirty="0"/>
              <a:t>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205825-012B-70EE-5C6C-588A125DC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1810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starting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 err="1"/>
              <a:t>We</a:t>
            </a:r>
            <a:r>
              <a:rPr lang="de-DE" dirty="0"/>
              <a:t> form </a:t>
            </a:r>
            <a:r>
              <a:rPr lang="de-DE" dirty="0" err="1"/>
              <a:t>impressions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voices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moment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hear</a:t>
            </a:r>
            <a:r>
              <a:rPr lang="de-DE" dirty="0"/>
              <a:t> </a:t>
            </a:r>
            <a:r>
              <a:rPr lang="de-DE" dirty="0" err="1"/>
              <a:t>them</a:t>
            </a: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 err="1"/>
              <a:t>Manifold</a:t>
            </a:r>
            <a:r>
              <a:rPr lang="de-DE" dirty="0"/>
              <a:t>, and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interact</a:t>
            </a: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I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…</a:t>
            </a:r>
          </a:p>
          <a:p>
            <a:pPr marL="171450" indent="-171450">
              <a:buFontTx/>
              <a:buChar char="-"/>
            </a:pPr>
            <a:r>
              <a:rPr lang="de-DE" dirty="0"/>
              <a:t>„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hearing a voice, listeners can form a detailed impression of the person behind the </a:t>
            </a:r>
            <a:r>
              <a:rPr lang="de-D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voice</a:t>
            </a:r>
            <a:r>
              <a:rPr lang="de-D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de-DE" dirty="0"/>
              <a:t>“</a:t>
            </a:r>
          </a:p>
          <a:p>
            <a:r>
              <a:rPr lang="de-DE" dirty="0"/>
              <a:t>- “</a:t>
            </a:r>
            <a:r>
              <a:rPr lang="de-D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de-D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perception of different person characteristics may interact and </a:t>
            </a:r>
            <a:r>
              <a:rPr lang="de-D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</a:t>
            </a:r>
            <a:r>
              <a:rPr lang="de-D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de-D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de-D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de-DE" dirty="0"/>
              <a:t>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-&gt; Theory </a:t>
            </a:r>
            <a:r>
              <a:rPr lang="de-DE" dirty="0" err="1"/>
              <a:t>driven</a:t>
            </a:r>
            <a:r>
              <a:rPr lang="de-DE" dirty="0"/>
              <a:t> </a:t>
            </a:r>
            <a:r>
              <a:rPr lang="de-DE" dirty="0" err="1"/>
              <a:t>thinking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prompt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obvious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not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answered</a:t>
            </a:r>
            <a:r>
              <a:rPr lang="de-DE" dirty="0"/>
              <a:t> </a:t>
            </a:r>
            <a:r>
              <a:rPr lang="de-DE" dirty="0" err="1"/>
              <a:t>yet</a:t>
            </a:r>
            <a:endParaRPr lang="de-DE" dirty="0"/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39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 flipV="1">
            <a:off x="-1" y="4500000"/>
            <a:ext cx="34425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pic>
        <p:nvPicPr>
          <p:cNvPr id="7" name="Grafik 6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787" y="4500000"/>
            <a:ext cx="3429000" cy="39600"/>
          </a:xfrm>
          <a:prstGeom prst="rect">
            <a:avLst/>
          </a:prstGeom>
        </p:spPr>
      </p:pic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249685" y="4719770"/>
            <a:ext cx="4266010" cy="1440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75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US" sz="800" dirty="0"/>
              <a:t>Naturalness in Voices</a:t>
            </a:r>
            <a:endParaRPr lang="de-DE" dirty="0"/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2641231" y="4884575"/>
            <a:ext cx="3874464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z="75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‹Nr.›</a:t>
            </a:fld>
            <a:r>
              <a:rPr lang="de-DE" sz="750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631931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2DAAA6B-CED7-218B-3BCB-3A4298BA5AE3}"/>
              </a:ext>
            </a:extLst>
          </p:cNvPr>
          <p:cNvSpPr/>
          <p:nvPr userDrawn="1"/>
        </p:nvSpPr>
        <p:spPr>
          <a:xfrm>
            <a:off x="3251200" y="0"/>
            <a:ext cx="3606800" cy="4502398"/>
          </a:xfrm>
          <a:prstGeom prst="rect">
            <a:avLst/>
          </a:prstGeom>
          <a:gradFill flip="none" rotWithShape="1">
            <a:gsLst>
              <a:gs pos="46000">
                <a:schemeClr val="bg1"/>
              </a:gs>
              <a:gs pos="64000">
                <a:schemeClr val="accent2">
                  <a:lumMod val="45000"/>
                  <a:lumOff val="55000"/>
                </a:schemeClr>
              </a:gs>
              <a:gs pos="83000">
                <a:schemeClr val="tx1"/>
              </a:gs>
              <a:gs pos="99000">
                <a:schemeClr val="tx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hteck 1"/>
          <p:cNvSpPr/>
          <p:nvPr userDrawn="1"/>
        </p:nvSpPr>
        <p:spPr>
          <a:xfrm flipV="1">
            <a:off x="-1" y="4500000"/>
            <a:ext cx="34425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pic>
        <p:nvPicPr>
          <p:cNvPr id="7" name="Grafik 6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787" y="4500000"/>
            <a:ext cx="3429000" cy="39600"/>
          </a:xfrm>
          <a:prstGeom prst="rect">
            <a:avLst/>
          </a:prstGeom>
        </p:spPr>
      </p:pic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249685" y="4719770"/>
            <a:ext cx="4266010" cy="1440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75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US" sz="800" dirty="0" err="1"/>
              <a:t>Natürlichkeit</a:t>
            </a:r>
            <a:r>
              <a:rPr lang="en-US" sz="800" dirty="0"/>
              <a:t> von </a:t>
            </a:r>
            <a:r>
              <a:rPr lang="en-US" sz="800" dirty="0" err="1"/>
              <a:t>Stimmen</a:t>
            </a:r>
            <a:endParaRPr lang="de-DE" dirty="0"/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2641231" y="4884575"/>
            <a:ext cx="3874464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z="75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‹Nr.›</a:t>
            </a:fld>
            <a:r>
              <a:rPr lang="de-DE" sz="750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t> / 10</a:t>
            </a:r>
          </a:p>
        </p:txBody>
      </p:sp>
      <p:pic>
        <p:nvPicPr>
          <p:cNvPr id="4" name="Grafik 3" descr="Ein Bild, das Kunst, Cartoon, Darstellung enthält.&#10;&#10;KI-generierte Inhalte können fehlerhaft sein.">
            <a:extLst>
              <a:ext uri="{FF2B5EF4-FFF2-40B4-BE49-F238E27FC236}">
                <a16:creationId xmlns:a16="http://schemas.microsoft.com/office/drawing/2014/main" id="{64D630C0-7580-D0F0-6B71-4A9559C0F1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616" y="0"/>
            <a:ext cx="3463384" cy="4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5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42900" y="1200152"/>
            <a:ext cx="6172200" cy="18756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»Fünfte Ebene mit Anführungszeichen«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-1" y="4500000"/>
            <a:ext cx="6858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3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4619" y="4607704"/>
            <a:ext cx="785700" cy="43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5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8" r:id="rId2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1500" kern="1200" spc="15" baseline="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ct val="20000"/>
        </a:spcBef>
        <a:buFontTx/>
        <a:buNone/>
        <a:defRPr sz="16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028700" indent="0" algn="l" defTabSz="685800" rtl="0" eaLnBrk="1" latinLnBrk="0" hangingPunct="1">
        <a:spcBef>
          <a:spcPct val="20000"/>
        </a:spcBef>
        <a:buFontTx/>
        <a:buNone/>
        <a:defRPr sz="825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3716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675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160" userDrawn="1">
          <p15:clr>
            <a:srgbClr val="F26B43"/>
          </p15:clr>
        </p15:guide>
        <p15:guide id="3" pos="2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emf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DE4380E1-BC20-451A-842E-D842298480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351235" y="2767739"/>
            <a:ext cx="6178774" cy="11105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508825" y="2998577"/>
            <a:ext cx="5860444" cy="8009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dirty="0"/>
              <a:t>The perception of voice naturalness -  a little snapshot</a:t>
            </a:r>
          </a:p>
          <a:p>
            <a:endParaRPr lang="en-US" sz="1000" dirty="0">
              <a:solidFill>
                <a:srgbClr val="002F5D"/>
              </a:solidFill>
              <a:latin typeface="Roboto Condensed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r>
              <a:rPr lang="en-US" sz="1000" dirty="0">
                <a:solidFill>
                  <a:srgbClr val="002F5D"/>
                </a:solidFill>
                <a:latin typeface="Roboto Condensed"/>
                <a:ea typeface="Roboto Condensed" panose="02000000000000000000" pitchFamily="2" charset="0"/>
                <a:cs typeface="Roboto Condensed" panose="02000000000000000000" pitchFamily="2" charset="0"/>
              </a:rPr>
              <a:t>Dr. Christine Nussbaum</a:t>
            </a:r>
          </a:p>
          <a:p>
            <a:r>
              <a:rPr lang="en-US" sz="1000" dirty="0">
                <a:solidFill>
                  <a:srgbClr val="002F5D"/>
                </a:solidFill>
                <a:latin typeface="Roboto Condensed"/>
                <a:ea typeface="Roboto Condensed" panose="02000000000000000000" pitchFamily="2" charset="0"/>
                <a:cs typeface="Roboto Condensed" panose="02000000000000000000" pitchFamily="2" charset="0"/>
              </a:rPr>
              <a:t>Friedrich Schiller University Jena</a:t>
            </a:r>
          </a:p>
          <a:p>
            <a:r>
              <a:rPr lang="de-DE" sz="1000" dirty="0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Department </a:t>
            </a:r>
            <a:r>
              <a:rPr lang="de-DE" sz="1000" dirty="0" err="1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for</a:t>
            </a:r>
            <a:r>
              <a:rPr lang="de-DE" sz="1000" dirty="0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 General </a:t>
            </a:r>
            <a:r>
              <a:rPr lang="de-DE" sz="1000" dirty="0" err="1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Psychology</a:t>
            </a:r>
            <a:r>
              <a:rPr lang="de-DE" sz="1000" dirty="0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 and </a:t>
            </a:r>
            <a:r>
              <a:rPr lang="de-DE" sz="1000" dirty="0" err="1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Cognitive</a:t>
            </a:r>
            <a:r>
              <a:rPr lang="de-DE" sz="1000" dirty="0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de-DE" sz="1000" dirty="0" err="1">
                <a:solidFill>
                  <a:srgbClr val="002F5D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Neuroscience</a:t>
            </a:r>
            <a:endParaRPr lang="en-US" sz="1000" dirty="0">
              <a:solidFill>
                <a:srgbClr val="002F5D"/>
              </a:solidFill>
              <a:latin typeface="Roboto Condensed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9" name="Gerade Verbindung 8"/>
          <p:cNvCxnSpPr/>
          <p:nvPr/>
        </p:nvCxnSpPr>
        <p:spPr>
          <a:xfrm>
            <a:off x="508825" y="2913969"/>
            <a:ext cx="341709" cy="0"/>
          </a:xfrm>
          <a:prstGeom prst="line">
            <a:avLst/>
          </a:prstGeom>
          <a:ln w="44450">
            <a:solidFill>
              <a:srgbClr val="002F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475DD6-E875-14F4-10B0-ADEE27A640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6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2C0CE6-C1AB-52B6-3605-D60C8C4EDA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Gerade Verbindung 9">
            <a:extLst>
              <a:ext uri="{FF2B5EF4-FFF2-40B4-BE49-F238E27FC236}">
                <a16:creationId xmlns:a16="http://schemas.microsoft.com/office/drawing/2014/main" id="{F8B87183-45DE-1556-5E42-7AC8FD85D11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7F30C240-2BFB-17AD-E8A6-1A42218FF330}"/>
              </a:ext>
            </a:extLst>
          </p:cNvPr>
          <p:cNvSpPr txBox="1"/>
          <p:nvPr/>
        </p:nvSpPr>
        <p:spPr>
          <a:xfrm>
            <a:off x="340096" y="1677417"/>
            <a:ext cx="2803154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When we hear a voice….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011204-4784-4D23-B7C8-C896DF778B9A}"/>
              </a:ext>
            </a:extLst>
          </p:cNvPr>
          <p:cNvSpPr txBox="1"/>
          <p:nvPr/>
        </p:nvSpPr>
        <p:spPr>
          <a:xfrm>
            <a:off x="1413509" y="2298502"/>
            <a:ext cx="2114973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…. we hear a person!</a:t>
            </a:r>
          </a:p>
        </p:txBody>
      </p:sp>
    </p:spTree>
    <p:extLst>
      <p:ext uri="{BB962C8B-B14F-4D97-AF65-F5344CB8AC3E}">
        <p14:creationId xmlns:p14="http://schemas.microsoft.com/office/powerpoint/2010/main" val="371864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87D69D-C009-4130-9A52-0639259A2ABD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Person Perception from Voices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D0E1572-3B09-351C-8152-DD5759A65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84" y="1283561"/>
            <a:ext cx="5668631" cy="301235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EE22AF8-B507-99EF-21CA-4785ED9D7879}"/>
              </a:ext>
            </a:extLst>
          </p:cNvPr>
          <p:cNvSpPr txBox="1"/>
          <p:nvPr/>
        </p:nvSpPr>
        <p:spPr>
          <a:xfrm>
            <a:off x="3275088" y="4077795"/>
            <a:ext cx="19175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[</a:t>
            </a:r>
            <a:r>
              <a:rPr lang="de-DE" sz="900" dirty="0" err="1"/>
              <a:t>Lavan</a:t>
            </a:r>
            <a:r>
              <a:rPr lang="de-DE" sz="900" dirty="0"/>
              <a:t> &amp; </a:t>
            </a:r>
            <a:r>
              <a:rPr lang="de-DE" sz="900" dirty="0" err="1"/>
              <a:t>McGettigan</a:t>
            </a:r>
            <a:r>
              <a:rPr lang="de-DE" sz="900" dirty="0"/>
              <a:t>, 2023; </a:t>
            </a:r>
            <a:r>
              <a:rPr lang="de-DE" sz="900" dirty="0" err="1"/>
              <a:t>Lavan</a:t>
            </a:r>
            <a:r>
              <a:rPr lang="de-DE" sz="900" dirty="0"/>
              <a:t> 2023]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57DF323-4FB4-FD7D-14FF-654A5B328BF8}"/>
              </a:ext>
            </a:extLst>
          </p:cNvPr>
          <p:cNvSpPr txBox="1"/>
          <p:nvPr/>
        </p:nvSpPr>
        <p:spPr>
          <a:xfrm>
            <a:off x="330829" y="1711463"/>
            <a:ext cx="4732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odd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84DB1FE-55CB-E9C7-14FB-F823AD2B9F92}"/>
              </a:ext>
            </a:extLst>
          </p:cNvPr>
          <p:cNvSpPr txBox="1"/>
          <p:nvPr/>
        </p:nvSpPr>
        <p:spPr>
          <a:xfrm>
            <a:off x="5581718" y="794879"/>
            <a:ext cx="5998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weird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786EFA2-E70A-4CA2-A036-9CF04C1CA268}"/>
              </a:ext>
            </a:extLst>
          </p:cNvPr>
          <p:cNvSpPr txBox="1"/>
          <p:nvPr/>
        </p:nvSpPr>
        <p:spPr>
          <a:xfrm>
            <a:off x="5515994" y="3262130"/>
            <a:ext cx="7088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solidFill>
                  <a:srgbClr val="5B0503"/>
                </a:solidFill>
              </a:rPr>
              <a:t>bizarre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6CAF97A-72A2-54BF-2312-CA7717509603}"/>
              </a:ext>
            </a:extLst>
          </p:cNvPr>
          <p:cNvSpPr txBox="1"/>
          <p:nvPr/>
        </p:nvSpPr>
        <p:spPr>
          <a:xfrm>
            <a:off x="272454" y="2582308"/>
            <a:ext cx="7216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robotic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02C4A03-034C-108D-6BFF-DEACECC98962}"/>
              </a:ext>
            </a:extLst>
          </p:cNvPr>
          <p:cNvSpPr txBox="1"/>
          <p:nvPr/>
        </p:nvSpPr>
        <p:spPr>
          <a:xfrm>
            <a:off x="4115044" y="359248"/>
            <a:ext cx="9204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unhealthy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CDFDEAA-EA1B-1D2E-B3DF-1E75D0932C77}"/>
              </a:ext>
            </a:extLst>
          </p:cNvPr>
          <p:cNvSpPr txBox="1"/>
          <p:nvPr/>
        </p:nvSpPr>
        <p:spPr>
          <a:xfrm>
            <a:off x="5858396" y="2451934"/>
            <a:ext cx="7585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strange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9823116-294C-4D58-76FE-DF986AE07885}"/>
              </a:ext>
            </a:extLst>
          </p:cNvPr>
          <p:cNvSpPr txBox="1"/>
          <p:nvPr/>
        </p:nvSpPr>
        <p:spPr>
          <a:xfrm>
            <a:off x="638858" y="919320"/>
            <a:ext cx="10951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machinelike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596D8B6-08B1-6228-E7A2-B5A904DE8244}"/>
              </a:ext>
            </a:extLst>
          </p:cNvPr>
          <p:cNvSpPr txBox="1"/>
          <p:nvPr/>
        </p:nvSpPr>
        <p:spPr>
          <a:xfrm>
            <a:off x="901750" y="3289440"/>
            <a:ext cx="8707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distorted</a:t>
            </a:r>
            <a:endParaRPr lang="en-US" sz="1500" dirty="0">
              <a:solidFill>
                <a:srgbClr val="5B0503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5D29EA3-C739-9BE4-802E-AE24CAE0DF8E}"/>
              </a:ext>
            </a:extLst>
          </p:cNvPr>
          <p:cNvSpPr txBox="1"/>
          <p:nvPr/>
        </p:nvSpPr>
        <p:spPr>
          <a:xfrm>
            <a:off x="5859044" y="1528452"/>
            <a:ext cx="8130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 err="1">
                <a:solidFill>
                  <a:srgbClr val="5B0503"/>
                </a:solidFill>
              </a:rPr>
              <a:t>artificial</a:t>
            </a:r>
            <a:endParaRPr lang="en-US" sz="1500" dirty="0">
              <a:solidFill>
                <a:srgbClr val="5B05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29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C759641A-012E-94F6-ED8D-7169E802F00C}"/>
              </a:ext>
            </a:extLst>
          </p:cNvPr>
          <p:cNvSpPr txBox="1"/>
          <p:nvPr/>
        </p:nvSpPr>
        <p:spPr>
          <a:xfrm>
            <a:off x="814192" y="1763165"/>
            <a:ext cx="2058063" cy="100959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500" dirty="0"/>
              <a:t>What are </a:t>
            </a:r>
            <a:r>
              <a:rPr lang="en-US" sz="1500" b="1" dirty="0"/>
              <a:t>challenges </a:t>
            </a:r>
            <a:r>
              <a:rPr lang="en-US" sz="1500" dirty="0"/>
              <a:t>in voice naturalness research?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2C6C58-FADB-E90C-0B24-840CF9AB95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5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87D69D-C009-4130-9A52-0639259A2ABD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Conceptual </a:t>
            </a:r>
            <a:r>
              <a:rPr lang="en-US" sz="1500" dirty="0" err="1"/>
              <a:t>underspecification</a:t>
            </a:r>
            <a:endParaRPr lang="en-US" sz="15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70D7A27-E257-87E3-AE56-08648A47EF1A}"/>
              </a:ext>
            </a:extLst>
          </p:cNvPr>
          <p:cNvSpPr txBox="1"/>
          <p:nvPr/>
        </p:nvSpPr>
        <p:spPr>
          <a:xfrm>
            <a:off x="340096" y="3689088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&lt;50% of the identified articles don’t have an explicit definition of naturalness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AE98676-2D7A-9949-FF42-48C3DD451A27}"/>
              </a:ext>
            </a:extLst>
          </p:cNvPr>
          <p:cNvSpPr txBox="1"/>
          <p:nvPr/>
        </p:nvSpPr>
        <p:spPr>
          <a:xfrm flipH="1">
            <a:off x="1296140" y="1199904"/>
            <a:ext cx="1907089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/>
                </a:solidFill>
              </a:rPr>
              <a:t>“Naturalness was defined as conforming to the listener’s standards of rate, rhythm, intonation, and stress patterning and to the syntactic structure of the utterance being produced” [Abur et al. 2021, page 4687]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DDC3351-F2A9-15CA-C915-CF6F1D61FE06}"/>
              </a:ext>
            </a:extLst>
          </p:cNvPr>
          <p:cNvSpPr txBox="1"/>
          <p:nvPr/>
        </p:nvSpPr>
        <p:spPr>
          <a:xfrm flipH="1">
            <a:off x="1296140" y="2573991"/>
            <a:ext cx="1907089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/>
                </a:solidFill>
              </a:rPr>
              <a:t>"Naturalness’ will not be defined for you.“ [Martin 1984, page 54]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093030F-D1A3-1AA0-2336-1D5F3F7812B8}"/>
              </a:ext>
            </a:extLst>
          </p:cNvPr>
          <p:cNvSpPr txBox="1"/>
          <p:nvPr/>
        </p:nvSpPr>
        <p:spPr>
          <a:xfrm flipH="1">
            <a:off x="3485365" y="1196669"/>
            <a:ext cx="1907089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tx1"/>
                </a:solidFill>
              </a:rPr>
              <a:t>“Natural speech is the speech most closely perceived as a human voice.”</a:t>
            </a:r>
          </a:p>
          <a:p>
            <a:r>
              <a:rPr lang="en-US" sz="1000" i="1" dirty="0">
                <a:solidFill>
                  <a:schemeClr val="tx1"/>
                </a:solidFill>
              </a:rPr>
              <a:t>[</a:t>
            </a:r>
            <a:r>
              <a:rPr lang="en-US" sz="1000" i="1" dirty="0" err="1">
                <a:solidFill>
                  <a:schemeClr val="tx1"/>
                </a:solidFill>
              </a:rPr>
              <a:t>Mawalim</a:t>
            </a:r>
            <a:r>
              <a:rPr lang="en-US" sz="1000" i="1" dirty="0">
                <a:solidFill>
                  <a:schemeClr val="tx1"/>
                </a:solidFill>
              </a:rPr>
              <a:t> et al. 2022, page 10]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864BCA1-2EBC-75F4-6A48-09F376DFC355}"/>
              </a:ext>
            </a:extLst>
          </p:cNvPr>
          <p:cNvSpPr txBox="1"/>
          <p:nvPr/>
        </p:nvSpPr>
        <p:spPr>
          <a:xfrm flipH="1">
            <a:off x="3485365" y="2111535"/>
            <a:ext cx="1907089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002F5D"/>
                </a:solidFill>
              </a:rPr>
              <a:t>"By naturalness, we understand the voice stimulus to be perceived as a plausible outcome of the human speech production system. </a:t>
            </a:r>
            <a:r>
              <a:rPr lang="en-US" sz="1000" dirty="0">
                <a:solidFill>
                  <a:srgbClr val="002F5D"/>
                </a:solidFill>
              </a:rPr>
              <a:t>“ [Nussbaum, et. al. 2023, page 1]</a:t>
            </a:r>
          </a:p>
        </p:txBody>
      </p:sp>
    </p:spTree>
    <p:extLst>
      <p:ext uri="{BB962C8B-B14F-4D97-AF65-F5344CB8AC3E}">
        <p14:creationId xmlns:p14="http://schemas.microsoft.com/office/powerpoint/2010/main" val="30603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87D69D-C009-4130-9A52-0639259A2ABD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Heterogeneous terminology in the literature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Grafik 8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35841147-2288-586A-CAFA-9AA5B6CAA0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363" y="867114"/>
            <a:ext cx="3409274" cy="340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02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87D69D-C009-4130-9A52-0639259A2ABD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Lack of exchange between different research domains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0B850D0-87A1-4878-A49C-21D0AFAD6F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91" y="793609"/>
            <a:ext cx="4961504" cy="350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1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C759641A-012E-94F6-ED8D-7169E802F00C}"/>
              </a:ext>
            </a:extLst>
          </p:cNvPr>
          <p:cNvSpPr txBox="1"/>
          <p:nvPr/>
        </p:nvSpPr>
        <p:spPr>
          <a:xfrm>
            <a:off x="814192" y="1763165"/>
            <a:ext cx="2058063" cy="100959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500" dirty="0"/>
              <a:t>Towards a </a:t>
            </a:r>
            <a:r>
              <a:rPr lang="en-US" sz="1500" b="1" dirty="0"/>
              <a:t>concise framework </a:t>
            </a:r>
            <a:r>
              <a:rPr lang="en-US" sz="1500" dirty="0"/>
              <a:t>for voice naturalness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2C6C58-FADB-E90C-0B24-840CF9AB95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0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87D69D-C009-4130-9A52-0639259A2ABD}"/>
              </a:ext>
            </a:extLst>
          </p:cNvPr>
          <p:cNvSpPr txBox="1"/>
          <p:nvPr/>
        </p:nvSpPr>
        <p:spPr>
          <a:xfrm>
            <a:off x="340096" y="440203"/>
            <a:ext cx="6074992" cy="5232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Understanding Voice Naturalness (2025)</a:t>
            </a:r>
          </a:p>
          <a:p>
            <a:r>
              <a:rPr lang="en-US" sz="800" dirty="0"/>
              <a:t>Christine Nussbaum, Sascha </a:t>
            </a:r>
            <a:r>
              <a:rPr lang="en-US" sz="800" dirty="0" err="1"/>
              <a:t>Frühholz</a:t>
            </a:r>
            <a:r>
              <a:rPr lang="en-US" sz="800" dirty="0"/>
              <a:t> and Stefan R. </a:t>
            </a:r>
            <a:r>
              <a:rPr lang="en-US" sz="800" dirty="0" err="1"/>
              <a:t>Schweinberger</a:t>
            </a:r>
            <a:endParaRPr lang="en-US" sz="800" dirty="0"/>
          </a:p>
          <a:p>
            <a:r>
              <a:rPr lang="en-US" sz="800" dirty="0"/>
              <a:t>In </a:t>
            </a:r>
            <a:r>
              <a:rPr lang="de-DE" sz="800" i="1" dirty="0"/>
              <a:t>Trends in </a:t>
            </a:r>
            <a:r>
              <a:rPr lang="de-DE" sz="800" i="1" dirty="0" err="1"/>
              <a:t>Cognitive</a:t>
            </a:r>
            <a:r>
              <a:rPr lang="de-DE" sz="800" i="1" dirty="0"/>
              <a:t>  Sciences</a:t>
            </a:r>
            <a:endParaRPr lang="en-US" sz="8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1E0356A9-BD7E-F672-EE4B-24C9735551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94" y="1725828"/>
            <a:ext cx="6205301" cy="173488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8BDFD3AA-3A5A-1450-F2E0-A18CA0B13F69}"/>
              </a:ext>
            </a:extLst>
          </p:cNvPr>
          <p:cNvSpPr txBox="1"/>
          <p:nvPr/>
        </p:nvSpPr>
        <p:spPr>
          <a:xfrm>
            <a:off x="340096" y="3417672"/>
            <a:ext cx="4094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0" u="none" strike="noStrike" baseline="0" dirty="0">
                <a:latin typeface="Calibri" panose="020F0502020204030204" pitchFamily="34" charset="0"/>
              </a:rPr>
              <a:t>A conceptual framework for the definition of voice naturalness</a:t>
            </a:r>
            <a:endParaRPr lang="de-DE" sz="1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7EC6A8-0C2D-53E9-C840-A097A56D86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351" y="359248"/>
            <a:ext cx="812165" cy="81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0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87D69D-C009-4130-9A52-0639259A2ABD}"/>
              </a:ext>
            </a:extLst>
          </p:cNvPr>
          <p:cNvSpPr txBox="1"/>
          <p:nvPr/>
        </p:nvSpPr>
        <p:spPr>
          <a:xfrm>
            <a:off x="340096" y="440203"/>
            <a:ext cx="6074992" cy="5232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Understanding Voice Naturalness (2025)</a:t>
            </a:r>
          </a:p>
          <a:p>
            <a:r>
              <a:rPr lang="en-US" sz="800" dirty="0"/>
              <a:t>Christine Nussbaum, Sascha </a:t>
            </a:r>
            <a:r>
              <a:rPr lang="en-US" sz="800" dirty="0" err="1"/>
              <a:t>Frühholz</a:t>
            </a:r>
            <a:r>
              <a:rPr lang="en-US" sz="800" dirty="0"/>
              <a:t> and Stefan R. </a:t>
            </a:r>
            <a:r>
              <a:rPr lang="en-US" sz="800" dirty="0" err="1"/>
              <a:t>Schweinberger</a:t>
            </a:r>
            <a:endParaRPr lang="en-US" sz="800" dirty="0"/>
          </a:p>
          <a:p>
            <a:r>
              <a:rPr lang="en-US" sz="800" dirty="0"/>
              <a:t>In </a:t>
            </a:r>
            <a:r>
              <a:rPr lang="de-DE" sz="800" i="1" dirty="0"/>
              <a:t>Trends in </a:t>
            </a:r>
            <a:r>
              <a:rPr lang="de-DE" sz="800" i="1" dirty="0" err="1"/>
              <a:t>Cognitive</a:t>
            </a:r>
            <a:r>
              <a:rPr lang="de-DE" sz="800" i="1" dirty="0"/>
              <a:t>  Sciences</a:t>
            </a:r>
            <a:endParaRPr lang="en-US" sz="8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BDFD3AA-3A5A-1450-F2E0-A18CA0B13F69}"/>
              </a:ext>
            </a:extLst>
          </p:cNvPr>
          <p:cNvSpPr txBox="1"/>
          <p:nvPr/>
        </p:nvSpPr>
        <p:spPr>
          <a:xfrm>
            <a:off x="340096" y="3617498"/>
            <a:ext cx="34585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</a:rPr>
              <a:t>Rooting voice naturalness in voice-processing theory</a:t>
            </a:r>
            <a:endParaRPr lang="de-DE" sz="1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7EC6A8-0C2D-53E9-C840-A097A56D86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351" y="359248"/>
            <a:ext cx="812165" cy="8121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AB10016-DC69-40A5-A7CD-3E885CDE9D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67" y="1594866"/>
            <a:ext cx="6074665" cy="19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0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C759641A-012E-94F6-ED8D-7169E802F00C}"/>
              </a:ext>
            </a:extLst>
          </p:cNvPr>
          <p:cNvSpPr txBox="1"/>
          <p:nvPr/>
        </p:nvSpPr>
        <p:spPr>
          <a:xfrm>
            <a:off x="1025295" y="1979118"/>
            <a:ext cx="2118738" cy="11852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500" b="1" dirty="0"/>
              <a:t>Empirical work </a:t>
            </a:r>
            <a:r>
              <a:rPr lang="en-US" sz="1500" dirty="0"/>
              <a:t>on voice naturalness perception </a:t>
            </a:r>
          </a:p>
          <a:p>
            <a:pPr algn="ctr"/>
            <a:r>
              <a:rPr lang="en-US" sz="1500" dirty="0"/>
              <a:t>(this is the snapshot now…)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445AE4-9F1E-DA63-C492-AAB3A8499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0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1249D-12C1-8E35-3175-369447DC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8704658E-62A0-FD6E-94BB-1DD2CB15AE1C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12F2A5A-3B85-80C8-563D-0450D2486B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7670E80F-CBDE-80BF-5285-4E542AD4B1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41" y="705491"/>
            <a:ext cx="6205301" cy="1734882"/>
          </a:xfrm>
          <a:prstGeom prst="rect">
            <a:avLst/>
          </a:prstGeom>
        </p:spPr>
      </p:pic>
      <p:sp>
        <p:nvSpPr>
          <p:cNvPr id="4" name="Pfeil: nach oben 3">
            <a:extLst>
              <a:ext uri="{FF2B5EF4-FFF2-40B4-BE49-F238E27FC236}">
                <a16:creationId xmlns:a16="http://schemas.microsoft.com/office/drawing/2014/main" id="{ED477FE3-34E5-CE60-8135-D0CE551B32F0}"/>
              </a:ext>
            </a:extLst>
          </p:cNvPr>
          <p:cNvSpPr/>
          <p:nvPr/>
        </p:nvSpPr>
        <p:spPr>
          <a:xfrm>
            <a:off x="1536869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oben 10">
            <a:extLst>
              <a:ext uri="{FF2B5EF4-FFF2-40B4-BE49-F238E27FC236}">
                <a16:creationId xmlns:a16="http://schemas.microsoft.com/office/drawing/2014/main" id="{FB5FD39A-C049-A3BC-0FEA-D4F86D84DF52}"/>
              </a:ext>
            </a:extLst>
          </p:cNvPr>
          <p:cNvSpPr/>
          <p:nvPr/>
        </p:nvSpPr>
        <p:spPr>
          <a:xfrm>
            <a:off x="3124689" y="2397944"/>
            <a:ext cx="217450" cy="1124881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: nach oben 11">
            <a:extLst>
              <a:ext uri="{FF2B5EF4-FFF2-40B4-BE49-F238E27FC236}">
                <a16:creationId xmlns:a16="http://schemas.microsoft.com/office/drawing/2014/main" id="{484C6E29-24EB-D243-FDA3-3C404326FD2B}"/>
              </a:ext>
            </a:extLst>
          </p:cNvPr>
          <p:cNvSpPr/>
          <p:nvPr/>
        </p:nvSpPr>
        <p:spPr>
          <a:xfrm>
            <a:off x="4060463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7D23214-BD9A-BF3D-DF93-4AA34508F3DA}"/>
              </a:ext>
            </a:extLst>
          </p:cNvPr>
          <p:cNvSpPr txBox="1"/>
          <p:nvPr/>
        </p:nvSpPr>
        <p:spPr>
          <a:xfrm>
            <a:off x="912997" y="2996633"/>
            <a:ext cx="16826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perception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voice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ammenable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b="1" dirty="0" err="1"/>
              <a:t>perceptual</a:t>
            </a:r>
            <a:r>
              <a:rPr lang="de-DE" sz="1000" b="1" dirty="0"/>
              <a:t> </a:t>
            </a:r>
            <a:r>
              <a:rPr lang="de-DE" sz="1000" b="1" dirty="0" err="1"/>
              <a:t>manipulation</a:t>
            </a:r>
            <a:r>
              <a:rPr lang="de-DE" sz="1000" dirty="0"/>
              <a:t>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ECF7AB2-25FD-91D2-8E6C-3C3898CF452D}"/>
              </a:ext>
            </a:extLst>
          </p:cNvPr>
          <p:cNvSpPr txBox="1"/>
          <p:nvPr/>
        </p:nvSpPr>
        <p:spPr>
          <a:xfrm>
            <a:off x="2347120" y="3578828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Does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rating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depend</a:t>
            </a:r>
            <a:r>
              <a:rPr lang="de-DE" sz="1000" dirty="0"/>
              <a:t> on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b="1" dirty="0" err="1"/>
              <a:t>way</a:t>
            </a:r>
            <a:r>
              <a:rPr lang="de-DE" sz="1000" b="1" dirty="0"/>
              <a:t> </a:t>
            </a:r>
            <a:r>
              <a:rPr lang="de-DE" sz="1000" b="1" dirty="0" err="1"/>
              <a:t>it</a:t>
            </a:r>
            <a:r>
              <a:rPr lang="de-DE" sz="1000" b="1" dirty="0"/>
              <a:t> </a:t>
            </a:r>
            <a:r>
              <a:rPr lang="de-DE" sz="1000" b="1" dirty="0" err="1"/>
              <a:t>is</a:t>
            </a:r>
            <a:r>
              <a:rPr lang="de-DE" sz="1000" b="1" dirty="0"/>
              <a:t> </a:t>
            </a:r>
            <a:r>
              <a:rPr lang="de-DE" sz="1000" b="1" dirty="0" err="1"/>
              <a:t>measured</a:t>
            </a:r>
            <a:r>
              <a:rPr lang="de-DE" sz="1000" dirty="0"/>
              <a:t>?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1FBA45F-DE65-8366-BA1F-FFD2E11C3640}"/>
              </a:ext>
            </a:extLst>
          </p:cNvPr>
          <p:cNvSpPr txBox="1"/>
          <p:nvPr/>
        </p:nvSpPr>
        <p:spPr>
          <a:xfrm>
            <a:off x="3429000" y="2997533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Is the </a:t>
            </a:r>
            <a:r>
              <a:rPr lang="en-US" sz="1000" b="1" dirty="0"/>
              <a:t>perceptual transition </a:t>
            </a:r>
            <a:r>
              <a:rPr lang="en-US" sz="1000" dirty="0"/>
              <a:t>of human to synthetic voices </a:t>
            </a:r>
            <a:r>
              <a:rPr lang="en-US" sz="1000" b="1" dirty="0"/>
              <a:t>categorical or continuous?</a:t>
            </a:r>
            <a:endParaRPr lang="de-DE" sz="1000" b="1" dirty="0"/>
          </a:p>
        </p:txBody>
      </p:sp>
    </p:spTree>
    <p:extLst>
      <p:ext uri="{BB962C8B-B14F-4D97-AF65-F5344CB8AC3E}">
        <p14:creationId xmlns:p14="http://schemas.microsoft.com/office/powerpoint/2010/main" val="230738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1E0356A9-BD7E-F672-EE4B-24C9735551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41" y="705491"/>
            <a:ext cx="6205301" cy="1734882"/>
          </a:xfrm>
          <a:prstGeom prst="rect">
            <a:avLst/>
          </a:prstGeom>
        </p:spPr>
      </p:pic>
      <p:sp>
        <p:nvSpPr>
          <p:cNvPr id="4" name="Pfeil: nach oben 3">
            <a:extLst>
              <a:ext uri="{FF2B5EF4-FFF2-40B4-BE49-F238E27FC236}">
                <a16:creationId xmlns:a16="http://schemas.microsoft.com/office/drawing/2014/main" id="{D009F84F-BE39-4B2F-9914-9C5A55EAF2CA}"/>
              </a:ext>
            </a:extLst>
          </p:cNvPr>
          <p:cNvSpPr/>
          <p:nvPr/>
        </p:nvSpPr>
        <p:spPr>
          <a:xfrm>
            <a:off x="1536869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oben 10">
            <a:extLst>
              <a:ext uri="{FF2B5EF4-FFF2-40B4-BE49-F238E27FC236}">
                <a16:creationId xmlns:a16="http://schemas.microsoft.com/office/drawing/2014/main" id="{363E71E9-21B4-4E7B-BA2C-319B9E15F376}"/>
              </a:ext>
            </a:extLst>
          </p:cNvPr>
          <p:cNvSpPr/>
          <p:nvPr/>
        </p:nvSpPr>
        <p:spPr>
          <a:xfrm>
            <a:off x="3124689" y="2397944"/>
            <a:ext cx="217450" cy="1124881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: nach oben 11">
            <a:extLst>
              <a:ext uri="{FF2B5EF4-FFF2-40B4-BE49-F238E27FC236}">
                <a16:creationId xmlns:a16="http://schemas.microsoft.com/office/drawing/2014/main" id="{F2D320AE-9A72-4416-929C-09985D0BDCD4}"/>
              </a:ext>
            </a:extLst>
          </p:cNvPr>
          <p:cNvSpPr/>
          <p:nvPr/>
        </p:nvSpPr>
        <p:spPr>
          <a:xfrm>
            <a:off x="4060463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8CA3977-780A-41A2-B807-E073962A602F}"/>
              </a:ext>
            </a:extLst>
          </p:cNvPr>
          <p:cNvSpPr txBox="1"/>
          <p:nvPr/>
        </p:nvSpPr>
        <p:spPr>
          <a:xfrm>
            <a:off x="804272" y="2993127"/>
            <a:ext cx="1682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/>
              <a:t>Study 1: </a:t>
            </a:r>
            <a:r>
              <a:rPr lang="en-US" sz="1000" dirty="0"/>
              <a:t>Perceptual adaptation to naturalness in voices</a:t>
            </a:r>
            <a:r>
              <a:rPr lang="de-DE" sz="1000" dirty="0"/>
              <a:t>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0F767A6-4CAC-4AD7-A0F4-2AA0311C5FCC}"/>
              </a:ext>
            </a:extLst>
          </p:cNvPr>
          <p:cNvSpPr txBox="1"/>
          <p:nvPr/>
        </p:nvSpPr>
        <p:spPr>
          <a:xfrm>
            <a:off x="2347120" y="3545129"/>
            <a:ext cx="1772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/>
              <a:t>Study 2: </a:t>
            </a:r>
            <a:r>
              <a:rPr lang="de-DE" sz="1000" dirty="0" err="1"/>
              <a:t>Effects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rating</a:t>
            </a:r>
            <a:r>
              <a:rPr lang="de-DE" sz="1000" dirty="0"/>
              <a:t> </a:t>
            </a:r>
            <a:r>
              <a:rPr lang="de-DE" sz="1000" dirty="0" err="1"/>
              <a:t>scale</a:t>
            </a:r>
            <a:r>
              <a:rPr lang="de-DE" sz="1000" dirty="0"/>
              <a:t> on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impressions</a:t>
            </a:r>
            <a:endParaRPr lang="de-DE" sz="1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A2586E1-A05E-4211-8EAC-550DDD5B7F1D}"/>
              </a:ext>
            </a:extLst>
          </p:cNvPr>
          <p:cNvSpPr txBox="1"/>
          <p:nvPr/>
        </p:nvSpPr>
        <p:spPr>
          <a:xfrm>
            <a:off x="3282894" y="3031605"/>
            <a:ext cx="1772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/>
              <a:t>Study 3: </a:t>
            </a:r>
            <a:r>
              <a:rPr lang="en-US" sz="1000" dirty="0"/>
              <a:t>The Categorical Perception of Voice Naturalness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75740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510C7-9487-0931-2643-72AF0C6BB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433AB1-BD41-405F-98E8-0525133CFE9B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Our Voice Morphing Approach</a:t>
            </a:r>
          </a:p>
          <a:p>
            <a:endParaRPr lang="en-US" sz="15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4B79AFD-E12B-4B13-B6A3-BB0477305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96" y="762436"/>
            <a:ext cx="5734850" cy="1495634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5D77D1CF-C38B-41C7-8FE0-CE0539A9177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9"/>
          <a:stretch/>
        </p:blipFill>
        <p:spPr>
          <a:xfrm>
            <a:off x="855536" y="2407641"/>
            <a:ext cx="4266011" cy="2034508"/>
          </a:xfrm>
          <a:prstGeom prst="rect">
            <a:avLst/>
          </a:prstGeom>
        </p:spPr>
      </p:pic>
      <p:sp>
        <p:nvSpPr>
          <p:cNvPr id="52" name="Textfeld 51">
            <a:extLst>
              <a:ext uri="{FF2B5EF4-FFF2-40B4-BE49-F238E27FC236}">
                <a16:creationId xmlns:a16="http://schemas.microsoft.com/office/drawing/2014/main" id="{D8587ACC-2109-40BC-90DF-419DDC49C02C}"/>
              </a:ext>
            </a:extLst>
          </p:cNvPr>
          <p:cNvSpPr txBox="1"/>
          <p:nvPr/>
        </p:nvSpPr>
        <p:spPr>
          <a:xfrm>
            <a:off x="5212080" y="4319313"/>
            <a:ext cx="16550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Sebastian Goerke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3876671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510C7-9487-0931-2643-72AF0C6BB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433AB1-BD41-405F-98E8-0525133CFE9B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Study 1: </a:t>
            </a:r>
            <a:r>
              <a:rPr lang="en-US" sz="1600" dirty="0"/>
              <a:t>Perceptual adaptation to naturalness in voices</a:t>
            </a:r>
            <a:r>
              <a:rPr lang="de-DE" sz="1600" dirty="0"/>
              <a:t> </a:t>
            </a:r>
            <a:endParaRPr lang="en-US" sz="1500" dirty="0"/>
          </a:p>
          <a:p>
            <a:endParaRPr lang="en-US" sz="15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C9B4BF5-BCB0-445E-81D2-D531B8FEF752}"/>
              </a:ext>
            </a:extLst>
          </p:cNvPr>
          <p:cNvSpPr txBox="1"/>
          <p:nvPr/>
        </p:nvSpPr>
        <p:spPr>
          <a:xfrm>
            <a:off x="5212080" y="4319313"/>
            <a:ext cx="16550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Sebastian Goerke</a:t>
            </a:r>
            <a:endParaRPr lang="en-US" sz="800" i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8E58A26-070D-A7B4-EFBC-FB6AFC30E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17" y="1009432"/>
            <a:ext cx="5668166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67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76E3-B628-3154-0CA4-856B6C67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782D8ED3-8653-0AB7-6E23-B04D10C4092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3A346AD-031E-14FB-EE77-151D53DD7F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FD860A2-82C0-39C0-5929-58D6884AC5F8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Study 1: </a:t>
            </a:r>
            <a:r>
              <a:rPr lang="en-US" sz="1600" dirty="0"/>
              <a:t>Perceptual adaptation to naturalness in voices</a:t>
            </a:r>
            <a:r>
              <a:rPr lang="de-DE" sz="1600" dirty="0"/>
              <a:t> </a:t>
            </a:r>
            <a:endParaRPr lang="en-US" sz="1500" dirty="0"/>
          </a:p>
          <a:p>
            <a:endParaRPr lang="en-US" sz="15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5D047A-3609-0151-7CDA-33E5C1E173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43" y="1025912"/>
            <a:ext cx="6183352" cy="30916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C2A72D4-8E4C-E321-61F9-8D761F595FDF}"/>
              </a:ext>
            </a:extLst>
          </p:cNvPr>
          <p:cNvSpPr txBox="1"/>
          <p:nvPr/>
        </p:nvSpPr>
        <p:spPr>
          <a:xfrm>
            <a:off x="5212080" y="4319313"/>
            <a:ext cx="16550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Sebastian Goerke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4215706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510C7-9487-0931-2643-72AF0C6BB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433AB1-BD41-405F-98E8-0525133CFE9B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EEG Study (preliminary, ongoing)</a:t>
            </a:r>
          </a:p>
          <a:p>
            <a:endParaRPr lang="en-US" sz="15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B001A5D-BFFD-4774-9DCF-8A6654155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222" y="104211"/>
            <a:ext cx="830424" cy="103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1174DA5-9DDF-498D-8063-B659FC8219D2}"/>
              </a:ext>
            </a:extLst>
          </p:cNvPr>
          <p:cNvSpPr txBox="1"/>
          <p:nvPr/>
        </p:nvSpPr>
        <p:spPr>
          <a:xfrm>
            <a:off x="3918835" y="128362"/>
            <a:ext cx="19327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1000" dirty="0"/>
              <a:t>Ibrahim Vefa Arslan, PhD-student on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project</a:t>
            </a:r>
            <a:r>
              <a:rPr lang="de-DE" sz="1000" dirty="0"/>
              <a:t> „</a:t>
            </a:r>
            <a:r>
              <a:rPr lang="en-US" sz="1000" i="1" dirty="0"/>
              <a:t>Neurocognitive</a:t>
            </a:r>
          </a:p>
          <a:p>
            <a:pPr algn="just"/>
            <a:r>
              <a:rPr lang="en-US" sz="1000" i="1" dirty="0"/>
              <a:t>processing of voice naturalness in human and synthetic voices </a:t>
            </a:r>
            <a:r>
              <a:rPr lang="de-DE" sz="1000" dirty="0"/>
              <a:t>“, </a:t>
            </a:r>
          </a:p>
          <a:p>
            <a:pPr algn="just"/>
            <a:r>
              <a:rPr lang="de-DE" sz="1000" dirty="0" err="1"/>
              <a:t>funded</a:t>
            </a:r>
            <a:r>
              <a:rPr lang="de-DE" sz="1000" dirty="0"/>
              <a:t> </a:t>
            </a:r>
            <a:r>
              <a:rPr lang="de-DE" sz="1000" dirty="0" err="1"/>
              <a:t>by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EU-MSCA </a:t>
            </a:r>
            <a:r>
              <a:rPr lang="de-DE" sz="1000" dirty="0" err="1"/>
              <a:t>Nework</a:t>
            </a:r>
            <a:r>
              <a:rPr lang="de-DE" sz="1000" dirty="0"/>
              <a:t> „Voice Communication Sciences“</a:t>
            </a:r>
            <a:endParaRPr lang="en-US" sz="1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CBCC30-9E11-43AC-9EC8-57BD34DFE9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42" y="1455867"/>
            <a:ext cx="3453633" cy="219634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C030131-2C6C-4AEE-8BF3-624F8687FF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53" y="1385459"/>
            <a:ext cx="2970676" cy="237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2908-4256-022A-1C77-33818D67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D171FC8E-D3AF-DBA8-F469-1F14941D881E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DDC366B-1DA0-92FF-7303-6AC1E9F69D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BD850492-6D5C-C053-45BB-A72D5E3659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41" y="705491"/>
            <a:ext cx="6205301" cy="1734882"/>
          </a:xfrm>
          <a:prstGeom prst="rect">
            <a:avLst/>
          </a:prstGeom>
        </p:spPr>
      </p:pic>
      <p:sp>
        <p:nvSpPr>
          <p:cNvPr id="4" name="Pfeil: nach oben 3">
            <a:extLst>
              <a:ext uri="{FF2B5EF4-FFF2-40B4-BE49-F238E27FC236}">
                <a16:creationId xmlns:a16="http://schemas.microsoft.com/office/drawing/2014/main" id="{F60E259C-88B2-C154-40C2-25A1CFA956C9}"/>
              </a:ext>
            </a:extLst>
          </p:cNvPr>
          <p:cNvSpPr/>
          <p:nvPr/>
        </p:nvSpPr>
        <p:spPr>
          <a:xfrm>
            <a:off x="1536869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oben 10">
            <a:extLst>
              <a:ext uri="{FF2B5EF4-FFF2-40B4-BE49-F238E27FC236}">
                <a16:creationId xmlns:a16="http://schemas.microsoft.com/office/drawing/2014/main" id="{250704EB-60A1-99F7-713C-1274741BAB28}"/>
              </a:ext>
            </a:extLst>
          </p:cNvPr>
          <p:cNvSpPr/>
          <p:nvPr/>
        </p:nvSpPr>
        <p:spPr>
          <a:xfrm>
            <a:off x="3124689" y="2397944"/>
            <a:ext cx="217450" cy="1124881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: nach oben 11">
            <a:extLst>
              <a:ext uri="{FF2B5EF4-FFF2-40B4-BE49-F238E27FC236}">
                <a16:creationId xmlns:a16="http://schemas.microsoft.com/office/drawing/2014/main" id="{6AA32EE6-F759-95CF-AD08-8E9B13E696AA}"/>
              </a:ext>
            </a:extLst>
          </p:cNvPr>
          <p:cNvSpPr/>
          <p:nvPr/>
        </p:nvSpPr>
        <p:spPr>
          <a:xfrm>
            <a:off x="4060463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7A24F54-2DC6-7AE2-31EB-B874F3233E2E}"/>
              </a:ext>
            </a:extLst>
          </p:cNvPr>
          <p:cNvSpPr txBox="1"/>
          <p:nvPr/>
        </p:nvSpPr>
        <p:spPr>
          <a:xfrm>
            <a:off x="804272" y="3011182"/>
            <a:ext cx="16826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perception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voice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ammenable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b="1" dirty="0" err="1"/>
              <a:t>perceptual</a:t>
            </a:r>
            <a:r>
              <a:rPr lang="de-DE" sz="1000" b="1" dirty="0"/>
              <a:t> </a:t>
            </a:r>
            <a:r>
              <a:rPr lang="de-DE" sz="1000" b="1" dirty="0" err="1"/>
              <a:t>manipulation</a:t>
            </a:r>
            <a:r>
              <a:rPr lang="de-DE" sz="1000" dirty="0"/>
              <a:t>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5637A9D-B59B-6F92-7FF9-947BA3D90883}"/>
              </a:ext>
            </a:extLst>
          </p:cNvPr>
          <p:cNvSpPr txBox="1"/>
          <p:nvPr/>
        </p:nvSpPr>
        <p:spPr>
          <a:xfrm>
            <a:off x="2347120" y="3578828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Does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rating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depend</a:t>
            </a:r>
            <a:r>
              <a:rPr lang="de-DE" sz="1000" dirty="0"/>
              <a:t> on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b="1" dirty="0" err="1"/>
              <a:t>way</a:t>
            </a:r>
            <a:r>
              <a:rPr lang="de-DE" sz="1000" b="1" dirty="0"/>
              <a:t> </a:t>
            </a:r>
            <a:r>
              <a:rPr lang="de-DE" sz="1000" b="1" dirty="0" err="1"/>
              <a:t>it</a:t>
            </a:r>
            <a:r>
              <a:rPr lang="de-DE" sz="1000" b="1" dirty="0"/>
              <a:t> </a:t>
            </a:r>
            <a:r>
              <a:rPr lang="de-DE" sz="1000" b="1" dirty="0" err="1"/>
              <a:t>is</a:t>
            </a:r>
            <a:r>
              <a:rPr lang="de-DE" sz="1000" b="1" dirty="0"/>
              <a:t> </a:t>
            </a:r>
            <a:r>
              <a:rPr lang="de-DE" sz="1000" b="1" dirty="0" err="1"/>
              <a:t>measured</a:t>
            </a:r>
            <a:r>
              <a:rPr lang="de-DE" sz="1000" dirty="0"/>
              <a:t>?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57DAD47-9597-777A-A38F-077F0D8F6CC3}"/>
              </a:ext>
            </a:extLst>
          </p:cNvPr>
          <p:cNvSpPr txBox="1"/>
          <p:nvPr/>
        </p:nvSpPr>
        <p:spPr>
          <a:xfrm>
            <a:off x="3429000" y="2997533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Is the </a:t>
            </a:r>
            <a:r>
              <a:rPr lang="en-US" sz="1000" b="1" dirty="0"/>
              <a:t>perceptual transition </a:t>
            </a:r>
            <a:r>
              <a:rPr lang="en-US" sz="1000" dirty="0"/>
              <a:t>of human to synthetic voices </a:t>
            </a:r>
            <a:r>
              <a:rPr lang="en-US" sz="1000" b="1" dirty="0"/>
              <a:t>categorical </a:t>
            </a:r>
            <a:r>
              <a:rPr lang="en-US" sz="1000" dirty="0"/>
              <a:t>or continuous?</a:t>
            </a:r>
            <a:endParaRPr lang="de-DE" sz="1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6A08BF8-2DC1-66D9-8B5D-8BBC41FA1A79}"/>
              </a:ext>
            </a:extLst>
          </p:cNvPr>
          <p:cNvSpPr txBox="1"/>
          <p:nvPr/>
        </p:nvSpPr>
        <p:spPr>
          <a:xfrm>
            <a:off x="1479172" y="3600754"/>
            <a:ext cx="332844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1500" dirty="0"/>
              <a:t>YES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3340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510C7-9487-0931-2643-72AF0C6BB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433AB1-BD41-405F-98E8-0525133CFE9B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Study 2: </a:t>
            </a:r>
            <a:r>
              <a:rPr lang="de-DE" sz="1600" dirty="0" err="1"/>
              <a:t>Effects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rating</a:t>
            </a:r>
            <a:r>
              <a:rPr lang="de-DE" sz="1600" dirty="0"/>
              <a:t> </a:t>
            </a:r>
            <a:r>
              <a:rPr lang="de-DE" sz="1600" dirty="0" err="1"/>
              <a:t>scale</a:t>
            </a:r>
            <a:r>
              <a:rPr lang="de-DE" sz="1600" dirty="0"/>
              <a:t> on </a:t>
            </a:r>
            <a:r>
              <a:rPr lang="de-DE" sz="1600" dirty="0" err="1"/>
              <a:t>naturalness</a:t>
            </a:r>
            <a:r>
              <a:rPr lang="de-DE" sz="1600" dirty="0"/>
              <a:t> </a:t>
            </a:r>
            <a:r>
              <a:rPr lang="de-DE" sz="1600" dirty="0" err="1"/>
              <a:t>impressions</a:t>
            </a:r>
            <a:endParaRPr lang="en-US" sz="15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6B354BE-F94C-4D51-BF72-0B39B458E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43" y="712654"/>
            <a:ext cx="4874621" cy="28100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2598446-9217-4371-9023-4471B20F0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86" y="3229658"/>
            <a:ext cx="5166250" cy="119982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B7F56958-E849-4092-A1A0-33E5CCF57A0B}"/>
              </a:ext>
            </a:extLst>
          </p:cNvPr>
          <p:cNvSpPr txBox="1"/>
          <p:nvPr/>
        </p:nvSpPr>
        <p:spPr>
          <a:xfrm>
            <a:off x="5282800" y="4319313"/>
            <a:ext cx="1584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Simone Dahmen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3985951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0ABE-CA74-028F-C7EC-43F5BDC3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338915DB-D053-491B-5C59-941FBA477EEA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992D2D0-2EE4-F400-E584-C7826B1F2E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BDCD7D1-70B1-E86F-AC02-19E6E2BA5D32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Study 2: </a:t>
            </a:r>
            <a:r>
              <a:rPr lang="de-DE" sz="1600" dirty="0" err="1"/>
              <a:t>Effects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rating</a:t>
            </a:r>
            <a:r>
              <a:rPr lang="de-DE" sz="1600" dirty="0"/>
              <a:t> </a:t>
            </a:r>
            <a:r>
              <a:rPr lang="de-DE" sz="1600" dirty="0" err="1"/>
              <a:t>scale</a:t>
            </a:r>
            <a:r>
              <a:rPr lang="de-DE" sz="1600" dirty="0"/>
              <a:t> on </a:t>
            </a:r>
            <a:r>
              <a:rPr lang="de-DE" sz="1600" dirty="0" err="1"/>
              <a:t>naturalness</a:t>
            </a:r>
            <a:r>
              <a:rPr lang="de-DE" sz="1600" dirty="0"/>
              <a:t> </a:t>
            </a:r>
            <a:r>
              <a:rPr lang="de-DE" sz="1600" dirty="0" err="1"/>
              <a:t>impressions</a:t>
            </a:r>
            <a:endParaRPr lang="en-US" sz="15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C72B589-9E60-A012-0339-A56607F4F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51" y="754622"/>
            <a:ext cx="4781282" cy="356469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9ECB230-6F02-855B-D585-70596FF57FDF}"/>
              </a:ext>
            </a:extLst>
          </p:cNvPr>
          <p:cNvSpPr txBox="1"/>
          <p:nvPr/>
        </p:nvSpPr>
        <p:spPr>
          <a:xfrm>
            <a:off x="5282800" y="4319313"/>
            <a:ext cx="1584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Simone Dahmen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2167949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510C7-9487-0931-2643-72AF0C6BB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433AB1-BD41-405F-98E8-0525133CFE9B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Study 2: </a:t>
            </a:r>
            <a:r>
              <a:rPr lang="de-DE" sz="1600" dirty="0"/>
              <a:t>Validation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morphing</a:t>
            </a:r>
            <a:r>
              <a:rPr lang="de-DE" sz="1600" dirty="0"/>
              <a:t> </a:t>
            </a:r>
            <a:r>
              <a:rPr lang="de-DE" sz="1600" dirty="0" err="1"/>
              <a:t>procedure</a:t>
            </a:r>
            <a:endParaRPr lang="en-US" sz="15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9F12EA8-1887-4A61-AC16-3B556748BE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6" y="985104"/>
            <a:ext cx="3235364" cy="32353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F167B37-E96B-4EDE-A9E0-5898E27142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897" y="985104"/>
            <a:ext cx="3086840" cy="3086840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3CDC906B-AF19-428A-92CC-7445AFEAA6AD}"/>
              </a:ext>
            </a:extLst>
          </p:cNvPr>
          <p:cNvSpPr/>
          <p:nvPr/>
        </p:nvSpPr>
        <p:spPr>
          <a:xfrm>
            <a:off x="1929161" y="2528524"/>
            <a:ext cx="1455234" cy="85029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6E11AF2-F2CF-4EEB-8A6B-C8D347CB28B2}"/>
              </a:ext>
            </a:extLst>
          </p:cNvPr>
          <p:cNvSpPr txBox="1"/>
          <p:nvPr/>
        </p:nvSpPr>
        <p:spPr>
          <a:xfrm>
            <a:off x="5282800" y="4319313"/>
            <a:ext cx="1584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Simone Dahmen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11804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F94B-57EF-8942-E1B5-4227F701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7208DFC8-DCA1-0F8A-A303-6CC575245DFB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40A6DF7-A5A2-8EAE-E44D-5A9B08DE6B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F63CBF3C-282A-63AA-75C3-587E2212B6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41" y="705491"/>
            <a:ext cx="6205301" cy="1734882"/>
          </a:xfrm>
          <a:prstGeom prst="rect">
            <a:avLst/>
          </a:prstGeom>
        </p:spPr>
      </p:pic>
      <p:sp>
        <p:nvSpPr>
          <p:cNvPr id="4" name="Pfeil: nach oben 3">
            <a:extLst>
              <a:ext uri="{FF2B5EF4-FFF2-40B4-BE49-F238E27FC236}">
                <a16:creationId xmlns:a16="http://schemas.microsoft.com/office/drawing/2014/main" id="{F60EA7B7-2409-2D5E-4A78-2F7111A5E9F0}"/>
              </a:ext>
            </a:extLst>
          </p:cNvPr>
          <p:cNvSpPr/>
          <p:nvPr/>
        </p:nvSpPr>
        <p:spPr>
          <a:xfrm>
            <a:off x="1536869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oben 10">
            <a:extLst>
              <a:ext uri="{FF2B5EF4-FFF2-40B4-BE49-F238E27FC236}">
                <a16:creationId xmlns:a16="http://schemas.microsoft.com/office/drawing/2014/main" id="{B0C56A65-E101-86A2-BFD9-9A19FEFEDACD}"/>
              </a:ext>
            </a:extLst>
          </p:cNvPr>
          <p:cNvSpPr/>
          <p:nvPr/>
        </p:nvSpPr>
        <p:spPr>
          <a:xfrm>
            <a:off x="3124689" y="2397944"/>
            <a:ext cx="217450" cy="1124881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: nach oben 11">
            <a:extLst>
              <a:ext uri="{FF2B5EF4-FFF2-40B4-BE49-F238E27FC236}">
                <a16:creationId xmlns:a16="http://schemas.microsoft.com/office/drawing/2014/main" id="{35FEB523-5624-7810-55BC-334910DB8457}"/>
              </a:ext>
            </a:extLst>
          </p:cNvPr>
          <p:cNvSpPr/>
          <p:nvPr/>
        </p:nvSpPr>
        <p:spPr>
          <a:xfrm>
            <a:off x="4060463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20CACFC-3C84-C28F-D8A7-C75046DC4719}"/>
              </a:ext>
            </a:extLst>
          </p:cNvPr>
          <p:cNvSpPr txBox="1"/>
          <p:nvPr/>
        </p:nvSpPr>
        <p:spPr>
          <a:xfrm>
            <a:off x="804272" y="2996633"/>
            <a:ext cx="16826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perception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voice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ammenable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b="1" dirty="0" err="1"/>
              <a:t>perceptual</a:t>
            </a:r>
            <a:r>
              <a:rPr lang="de-DE" sz="1000" b="1" dirty="0"/>
              <a:t> </a:t>
            </a:r>
            <a:r>
              <a:rPr lang="de-DE" sz="1000" b="1" dirty="0" err="1"/>
              <a:t>manipulation</a:t>
            </a:r>
            <a:r>
              <a:rPr lang="de-DE" sz="1000" dirty="0"/>
              <a:t>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8F88117-835B-677A-9C02-B0717AB2798C}"/>
              </a:ext>
            </a:extLst>
          </p:cNvPr>
          <p:cNvSpPr txBox="1"/>
          <p:nvPr/>
        </p:nvSpPr>
        <p:spPr>
          <a:xfrm>
            <a:off x="2347120" y="3578828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Does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rating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depend</a:t>
            </a:r>
            <a:r>
              <a:rPr lang="de-DE" sz="1000" dirty="0"/>
              <a:t> on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b="1" dirty="0" err="1"/>
              <a:t>way</a:t>
            </a:r>
            <a:r>
              <a:rPr lang="de-DE" sz="1000" b="1" dirty="0"/>
              <a:t> </a:t>
            </a:r>
            <a:r>
              <a:rPr lang="de-DE" sz="1000" b="1" dirty="0" err="1"/>
              <a:t>it</a:t>
            </a:r>
            <a:r>
              <a:rPr lang="de-DE" sz="1000" b="1" dirty="0"/>
              <a:t> </a:t>
            </a:r>
            <a:r>
              <a:rPr lang="de-DE" sz="1000" b="1" dirty="0" err="1"/>
              <a:t>is</a:t>
            </a:r>
            <a:r>
              <a:rPr lang="de-DE" sz="1000" b="1" dirty="0"/>
              <a:t> </a:t>
            </a:r>
            <a:r>
              <a:rPr lang="de-DE" sz="1000" b="1" dirty="0" err="1"/>
              <a:t>measured</a:t>
            </a:r>
            <a:r>
              <a:rPr lang="de-DE" sz="1000" dirty="0"/>
              <a:t>?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F7FED23-D6BB-4B23-BAF0-655A28E5293B}"/>
              </a:ext>
            </a:extLst>
          </p:cNvPr>
          <p:cNvSpPr txBox="1"/>
          <p:nvPr/>
        </p:nvSpPr>
        <p:spPr>
          <a:xfrm>
            <a:off x="3429000" y="2997533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Is the </a:t>
            </a:r>
            <a:r>
              <a:rPr lang="en-US" sz="1000" b="1" dirty="0"/>
              <a:t>perceptual transition </a:t>
            </a:r>
            <a:r>
              <a:rPr lang="en-US" sz="1000" dirty="0"/>
              <a:t>of human to synthetic voices </a:t>
            </a:r>
            <a:r>
              <a:rPr lang="en-US" sz="1000" b="1" dirty="0"/>
              <a:t>categorical or continuous</a:t>
            </a:r>
            <a:r>
              <a:rPr lang="en-US" sz="1000" dirty="0"/>
              <a:t>?</a:t>
            </a:r>
            <a:endParaRPr lang="de-DE" sz="1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507794-9761-FC9C-F573-C8061B23DCD5}"/>
              </a:ext>
            </a:extLst>
          </p:cNvPr>
          <p:cNvSpPr txBox="1"/>
          <p:nvPr/>
        </p:nvSpPr>
        <p:spPr>
          <a:xfrm>
            <a:off x="1479172" y="3600754"/>
            <a:ext cx="332844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1500" dirty="0"/>
              <a:t>YES</a:t>
            </a:r>
            <a:endParaRPr lang="en-US" sz="15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12F3A04-78E1-66E6-378C-8EA1178F16AD}"/>
              </a:ext>
            </a:extLst>
          </p:cNvPr>
          <p:cNvSpPr txBox="1"/>
          <p:nvPr/>
        </p:nvSpPr>
        <p:spPr>
          <a:xfrm>
            <a:off x="3124689" y="4161405"/>
            <a:ext cx="332844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1500" dirty="0" err="1"/>
              <a:t>No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99079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510C7-9487-0931-2643-72AF0C6BB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433AB1-BD41-405F-98E8-0525133CFE9B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Study 3: </a:t>
            </a:r>
            <a:r>
              <a:rPr lang="en-US" sz="1600" dirty="0"/>
              <a:t>The Categorical Perception of Voice Naturalness</a:t>
            </a:r>
            <a:endParaRPr lang="en-US" sz="15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DBFC0DA-72C1-40B2-B8E1-8E5B112C691D}"/>
              </a:ext>
            </a:extLst>
          </p:cNvPr>
          <p:cNvSpPr txBox="1"/>
          <p:nvPr/>
        </p:nvSpPr>
        <p:spPr>
          <a:xfrm>
            <a:off x="5282800" y="4319313"/>
            <a:ext cx="1584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Sophia Hering</a:t>
            </a:r>
            <a:endParaRPr lang="en-US" sz="800" i="1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15C3BC0-3670-D2CF-DA33-0C6A54A809D9}"/>
              </a:ext>
            </a:extLst>
          </p:cNvPr>
          <p:cNvGrpSpPr/>
          <p:nvPr/>
        </p:nvGrpSpPr>
        <p:grpSpPr>
          <a:xfrm>
            <a:off x="627233" y="1639874"/>
            <a:ext cx="1351448" cy="1262024"/>
            <a:chOff x="627233" y="1639874"/>
            <a:chExt cx="1351448" cy="1262024"/>
          </a:xfrm>
        </p:grpSpPr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017CA252-0025-9F09-4E2C-578CE0103FC0}"/>
                </a:ext>
              </a:extLst>
            </p:cNvPr>
            <p:cNvCxnSpPr>
              <a:cxnSpLocks/>
            </p:cNvCxnSpPr>
            <p:nvPr/>
          </p:nvCxnSpPr>
          <p:spPr>
            <a:xfrm>
              <a:off x="627233" y="1639874"/>
              <a:ext cx="0" cy="12620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6077AEDC-2D7E-B084-43AF-2DBEF24156E5}"/>
                </a:ext>
              </a:extLst>
            </p:cNvPr>
            <p:cNvCxnSpPr>
              <a:cxnSpLocks/>
            </p:cNvCxnSpPr>
            <p:nvPr/>
          </p:nvCxnSpPr>
          <p:spPr>
            <a:xfrm>
              <a:off x="627233" y="2901898"/>
              <a:ext cx="135144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8352646-1398-3515-1B08-1E1B67C95848}"/>
              </a:ext>
            </a:extLst>
          </p:cNvPr>
          <p:cNvGrpSpPr/>
          <p:nvPr/>
        </p:nvGrpSpPr>
        <p:grpSpPr>
          <a:xfrm>
            <a:off x="2547976" y="1626020"/>
            <a:ext cx="1351448" cy="1262024"/>
            <a:chOff x="2570647" y="1626020"/>
            <a:chExt cx="1351448" cy="1262024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CA0CBAC0-2D82-0C7C-0B82-6C6F987C79B1}"/>
                </a:ext>
              </a:extLst>
            </p:cNvPr>
            <p:cNvCxnSpPr>
              <a:cxnSpLocks/>
            </p:cNvCxnSpPr>
            <p:nvPr/>
          </p:nvCxnSpPr>
          <p:spPr>
            <a:xfrm>
              <a:off x="2570647" y="1626020"/>
              <a:ext cx="0" cy="12620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56DCACBF-3BBB-ABC7-2232-D06B9966C0E7}"/>
                </a:ext>
              </a:extLst>
            </p:cNvPr>
            <p:cNvCxnSpPr>
              <a:cxnSpLocks/>
            </p:cNvCxnSpPr>
            <p:nvPr/>
          </p:nvCxnSpPr>
          <p:spPr>
            <a:xfrm>
              <a:off x="2570647" y="2888044"/>
              <a:ext cx="135144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01722C3-0974-77A0-E88A-A27F1E470857}"/>
              </a:ext>
            </a:extLst>
          </p:cNvPr>
          <p:cNvGrpSpPr/>
          <p:nvPr/>
        </p:nvGrpSpPr>
        <p:grpSpPr>
          <a:xfrm>
            <a:off x="4483835" y="1626020"/>
            <a:ext cx="1351448" cy="1262024"/>
            <a:chOff x="4483835" y="1626020"/>
            <a:chExt cx="1351448" cy="1262024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17FEE457-CBB7-0F3B-72E7-31F41A8D1916}"/>
                </a:ext>
              </a:extLst>
            </p:cNvPr>
            <p:cNvCxnSpPr>
              <a:cxnSpLocks/>
            </p:cNvCxnSpPr>
            <p:nvPr/>
          </p:nvCxnSpPr>
          <p:spPr>
            <a:xfrm>
              <a:off x="4483835" y="1626020"/>
              <a:ext cx="0" cy="12620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E82F630E-540C-1FDB-8457-6BC7A4DE783B}"/>
                </a:ext>
              </a:extLst>
            </p:cNvPr>
            <p:cNvCxnSpPr>
              <a:cxnSpLocks/>
            </p:cNvCxnSpPr>
            <p:nvPr/>
          </p:nvCxnSpPr>
          <p:spPr>
            <a:xfrm>
              <a:off x="4483835" y="2888044"/>
              <a:ext cx="135144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1" name="Verbinder: gekrümmt 20">
            <a:extLst>
              <a:ext uri="{FF2B5EF4-FFF2-40B4-BE49-F238E27FC236}">
                <a16:creationId xmlns:a16="http://schemas.microsoft.com/office/drawing/2014/main" id="{3F39EDD5-0289-0DDE-977E-2FC688F818DD}"/>
              </a:ext>
            </a:extLst>
          </p:cNvPr>
          <p:cNvCxnSpPr/>
          <p:nvPr/>
        </p:nvCxnSpPr>
        <p:spPr>
          <a:xfrm flipV="1">
            <a:off x="808602" y="1806129"/>
            <a:ext cx="1050426" cy="929514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D32F551-BA93-3ACA-B55D-4B9E33860855}"/>
              </a:ext>
            </a:extLst>
          </p:cNvPr>
          <p:cNvCxnSpPr/>
          <p:nvPr/>
        </p:nvCxnSpPr>
        <p:spPr>
          <a:xfrm>
            <a:off x="2682744" y="273564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9C25BB82-3189-479B-2C0A-8D7527B2CA6F}"/>
              </a:ext>
            </a:extLst>
          </p:cNvPr>
          <p:cNvGrpSpPr/>
          <p:nvPr/>
        </p:nvGrpSpPr>
        <p:grpSpPr>
          <a:xfrm>
            <a:off x="2798617" y="2123524"/>
            <a:ext cx="877245" cy="407518"/>
            <a:chOff x="2798617" y="2078182"/>
            <a:chExt cx="877245" cy="407518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E4991B88-24BF-3968-BA88-59FE5101A5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8617" y="2078182"/>
              <a:ext cx="438308" cy="40751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FF7EB727-A5DD-55A9-655F-B062576A6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7554" y="2078182"/>
              <a:ext cx="438308" cy="40751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2" name="Textfeld 31">
            <a:extLst>
              <a:ext uri="{FF2B5EF4-FFF2-40B4-BE49-F238E27FC236}">
                <a16:creationId xmlns:a16="http://schemas.microsoft.com/office/drawing/2014/main" id="{F0D0F5CB-EF77-C5CF-92BD-21EE25D979DD}"/>
              </a:ext>
            </a:extLst>
          </p:cNvPr>
          <p:cNvSpPr txBox="1"/>
          <p:nvPr/>
        </p:nvSpPr>
        <p:spPr>
          <a:xfrm>
            <a:off x="2090359" y="1956872"/>
            <a:ext cx="271627" cy="4387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3200" dirty="0"/>
              <a:t>+</a:t>
            </a:r>
            <a:endParaRPr lang="en-US" sz="320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3B4731D-24E6-0974-4CFF-8E4F713ECE82}"/>
              </a:ext>
            </a:extLst>
          </p:cNvPr>
          <p:cNvSpPr txBox="1"/>
          <p:nvPr/>
        </p:nvSpPr>
        <p:spPr>
          <a:xfrm>
            <a:off x="4026217" y="1966791"/>
            <a:ext cx="271627" cy="4387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3200" dirty="0"/>
              <a:t>+</a:t>
            </a:r>
            <a:endParaRPr lang="en-US" sz="3200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93A956F-F75B-6B85-B4DD-E69EA93F4100}"/>
              </a:ext>
            </a:extLst>
          </p:cNvPr>
          <p:cNvSpPr txBox="1"/>
          <p:nvPr/>
        </p:nvSpPr>
        <p:spPr>
          <a:xfrm>
            <a:off x="808602" y="3068154"/>
            <a:ext cx="1231795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500" dirty="0"/>
              <a:t>Categorization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B2E96A6-E5CD-82D0-47B6-158289FC533B}"/>
              </a:ext>
            </a:extLst>
          </p:cNvPr>
          <p:cNvSpPr txBox="1"/>
          <p:nvPr/>
        </p:nvSpPr>
        <p:spPr>
          <a:xfrm>
            <a:off x="2669517" y="3077835"/>
            <a:ext cx="1231795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de-DE" sz="1500" dirty="0" err="1"/>
              <a:t>Discrimination</a:t>
            </a:r>
            <a:endParaRPr lang="en-US" sz="1500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4090E57C-A069-2CC9-A09F-8B353FB837D3}"/>
              </a:ext>
            </a:extLst>
          </p:cNvPr>
          <p:cNvSpPr txBox="1"/>
          <p:nvPr/>
        </p:nvSpPr>
        <p:spPr>
          <a:xfrm>
            <a:off x="4603488" y="3068153"/>
            <a:ext cx="1231795" cy="83127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pPr algn="ctr"/>
            <a:r>
              <a:rPr lang="de-DE" sz="1500" dirty="0" err="1"/>
              <a:t>Categorization</a:t>
            </a:r>
            <a:r>
              <a:rPr lang="de-DE" sz="1500" dirty="0"/>
              <a:t> </a:t>
            </a:r>
            <a:r>
              <a:rPr lang="de-DE" sz="1500" dirty="0" err="1"/>
              <a:t>predicts</a:t>
            </a:r>
            <a:r>
              <a:rPr lang="de-DE" sz="1500" dirty="0"/>
              <a:t> </a:t>
            </a:r>
            <a:r>
              <a:rPr lang="de-DE" sz="1500" dirty="0" err="1"/>
              <a:t>Discrimination</a:t>
            </a:r>
            <a:endParaRPr lang="en-US" sz="1500" dirty="0"/>
          </a:p>
        </p:txBody>
      </p:sp>
      <p:cxnSp>
        <p:nvCxnSpPr>
          <p:cNvPr id="41" name="Verbinder: gekrümmt 40">
            <a:extLst>
              <a:ext uri="{FF2B5EF4-FFF2-40B4-BE49-F238E27FC236}">
                <a16:creationId xmlns:a16="http://schemas.microsoft.com/office/drawing/2014/main" id="{022D8D73-9114-A1CE-3B3D-741BC2008D4F}"/>
              </a:ext>
            </a:extLst>
          </p:cNvPr>
          <p:cNvCxnSpPr/>
          <p:nvPr/>
        </p:nvCxnSpPr>
        <p:spPr>
          <a:xfrm flipV="1">
            <a:off x="4628889" y="1806129"/>
            <a:ext cx="1050426" cy="929514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95752FBA-46E4-14D9-E7FD-35E26130A494}"/>
              </a:ext>
            </a:extLst>
          </p:cNvPr>
          <p:cNvGrpSpPr/>
          <p:nvPr/>
        </p:nvGrpSpPr>
        <p:grpSpPr>
          <a:xfrm>
            <a:off x="4737623" y="2182203"/>
            <a:ext cx="877245" cy="407518"/>
            <a:chOff x="2798617" y="2078182"/>
            <a:chExt cx="877245" cy="407518"/>
          </a:xfrm>
        </p:grpSpPr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DBC3FCF7-D3FF-EBFE-297D-2F3820F96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8617" y="2078182"/>
              <a:ext cx="438308" cy="40751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6EC6349A-D587-9EC3-2904-F7234B3F26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7554" y="2078182"/>
              <a:ext cx="438308" cy="40751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2054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3718A-5CE7-BC1A-F57D-71B8B09E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69E60C06-1747-F6B0-4B56-794562BECCA4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28B295-108D-8159-DCEE-4E3F824498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94A062C-33DE-0426-D31D-0CCB241B724C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Study 3: </a:t>
            </a:r>
            <a:r>
              <a:rPr lang="en-US" sz="1600" dirty="0"/>
              <a:t>The Categorical Perception of Voice Naturalness</a:t>
            </a:r>
            <a:endParaRPr lang="en-US" sz="15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14108EA-EA00-1239-8CDC-7D2ACCF5CF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083" y="1246542"/>
            <a:ext cx="3713356" cy="278423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3FED3AC0-0C5A-7BFB-0D26-0826D9883689}"/>
              </a:ext>
            </a:extLst>
          </p:cNvPr>
          <p:cNvSpPr txBox="1"/>
          <p:nvPr/>
        </p:nvSpPr>
        <p:spPr>
          <a:xfrm>
            <a:off x="5282800" y="4319313"/>
            <a:ext cx="1584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Sophia Hering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1859107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B363D-F6F7-30BB-2C27-2CD7C066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0C007B10-651C-F0F6-7A9D-A1629953F88B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1E3688-76B5-F885-968E-4C485B2F41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Grafik 6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8B44A2B9-3CB8-44AF-CD56-5F63380EC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41" y="705491"/>
            <a:ext cx="6205301" cy="1734882"/>
          </a:xfrm>
          <a:prstGeom prst="rect">
            <a:avLst/>
          </a:prstGeom>
        </p:spPr>
      </p:pic>
      <p:sp>
        <p:nvSpPr>
          <p:cNvPr id="4" name="Pfeil: nach oben 3">
            <a:extLst>
              <a:ext uri="{FF2B5EF4-FFF2-40B4-BE49-F238E27FC236}">
                <a16:creationId xmlns:a16="http://schemas.microsoft.com/office/drawing/2014/main" id="{C3459B19-35FD-8F5F-BAE0-23536077A8C7}"/>
              </a:ext>
            </a:extLst>
          </p:cNvPr>
          <p:cNvSpPr/>
          <p:nvPr/>
        </p:nvSpPr>
        <p:spPr>
          <a:xfrm>
            <a:off x="1536869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nach oben 10">
            <a:extLst>
              <a:ext uri="{FF2B5EF4-FFF2-40B4-BE49-F238E27FC236}">
                <a16:creationId xmlns:a16="http://schemas.microsoft.com/office/drawing/2014/main" id="{8FFD21E3-6BD5-EFE6-795D-162FB9C7CD91}"/>
              </a:ext>
            </a:extLst>
          </p:cNvPr>
          <p:cNvSpPr/>
          <p:nvPr/>
        </p:nvSpPr>
        <p:spPr>
          <a:xfrm>
            <a:off x="3124689" y="2397944"/>
            <a:ext cx="217450" cy="1124881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: nach oben 11">
            <a:extLst>
              <a:ext uri="{FF2B5EF4-FFF2-40B4-BE49-F238E27FC236}">
                <a16:creationId xmlns:a16="http://schemas.microsoft.com/office/drawing/2014/main" id="{25A0EE9D-32B9-A518-8DDA-38861D48A138}"/>
              </a:ext>
            </a:extLst>
          </p:cNvPr>
          <p:cNvSpPr/>
          <p:nvPr/>
        </p:nvSpPr>
        <p:spPr>
          <a:xfrm>
            <a:off x="4060463" y="2397944"/>
            <a:ext cx="217450" cy="554415"/>
          </a:xfrm>
          <a:prstGeom prst="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7C11DD9-6FB0-2434-EF00-508A6073D945}"/>
              </a:ext>
            </a:extLst>
          </p:cNvPr>
          <p:cNvSpPr txBox="1"/>
          <p:nvPr/>
        </p:nvSpPr>
        <p:spPr>
          <a:xfrm>
            <a:off x="804272" y="2980746"/>
            <a:ext cx="16826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perception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voice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ammenable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b="1" dirty="0" err="1"/>
              <a:t>perceptual</a:t>
            </a:r>
            <a:r>
              <a:rPr lang="de-DE" sz="1000" b="1" dirty="0"/>
              <a:t> </a:t>
            </a:r>
            <a:r>
              <a:rPr lang="de-DE" sz="1000" b="1" dirty="0" err="1"/>
              <a:t>manipulation</a:t>
            </a:r>
            <a:r>
              <a:rPr lang="de-DE" sz="1000" dirty="0"/>
              <a:t>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CABED51-19C9-3AA7-731F-77BE594A3956}"/>
              </a:ext>
            </a:extLst>
          </p:cNvPr>
          <p:cNvSpPr txBox="1"/>
          <p:nvPr/>
        </p:nvSpPr>
        <p:spPr>
          <a:xfrm>
            <a:off x="2347120" y="3578828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/>
              <a:t>Does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rating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naturalness</a:t>
            </a:r>
            <a:r>
              <a:rPr lang="de-DE" sz="1000" dirty="0"/>
              <a:t> </a:t>
            </a:r>
            <a:r>
              <a:rPr lang="de-DE" sz="1000" dirty="0" err="1"/>
              <a:t>depend</a:t>
            </a:r>
            <a:r>
              <a:rPr lang="de-DE" sz="1000" dirty="0"/>
              <a:t> on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b="1" dirty="0" err="1"/>
              <a:t>way</a:t>
            </a:r>
            <a:r>
              <a:rPr lang="de-DE" sz="1000" b="1" dirty="0"/>
              <a:t> </a:t>
            </a:r>
            <a:r>
              <a:rPr lang="de-DE" sz="1000" b="1" dirty="0" err="1"/>
              <a:t>it</a:t>
            </a:r>
            <a:r>
              <a:rPr lang="de-DE" sz="1000" b="1" dirty="0"/>
              <a:t> </a:t>
            </a:r>
            <a:r>
              <a:rPr lang="de-DE" sz="1000" b="1" dirty="0" err="1"/>
              <a:t>is</a:t>
            </a:r>
            <a:r>
              <a:rPr lang="de-DE" sz="1000" b="1" dirty="0"/>
              <a:t> </a:t>
            </a:r>
            <a:r>
              <a:rPr lang="de-DE" sz="1000" b="1" dirty="0" err="1"/>
              <a:t>measured</a:t>
            </a:r>
            <a:r>
              <a:rPr lang="de-DE" sz="1000" dirty="0"/>
              <a:t>?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9C7BFE6-1E84-3209-70A4-177E9F8BBA00}"/>
              </a:ext>
            </a:extLst>
          </p:cNvPr>
          <p:cNvSpPr txBox="1"/>
          <p:nvPr/>
        </p:nvSpPr>
        <p:spPr>
          <a:xfrm>
            <a:off x="3429000" y="2997533"/>
            <a:ext cx="17725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Is the </a:t>
            </a:r>
            <a:r>
              <a:rPr lang="en-US" sz="1000" b="1" dirty="0"/>
              <a:t>perceptual transition </a:t>
            </a:r>
            <a:r>
              <a:rPr lang="en-US" sz="1000" dirty="0"/>
              <a:t>of human to synthetic voices </a:t>
            </a:r>
            <a:r>
              <a:rPr lang="en-US" sz="1000" b="1" dirty="0"/>
              <a:t>categorical or continuous</a:t>
            </a:r>
            <a:r>
              <a:rPr lang="en-US" sz="1000" dirty="0"/>
              <a:t>?</a:t>
            </a:r>
            <a:endParaRPr lang="de-DE" sz="1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ABF51A6-DB6F-53A9-7622-FFA03000C1C1}"/>
              </a:ext>
            </a:extLst>
          </p:cNvPr>
          <p:cNvSpPr txBox="1"/>
          <p:nvPr/>
        </p:nvSpPr>
        <p:spPr>
          <a:xfrm>
            <a:off x="1479172" y="3600754"/>
            <a:ext cx="332844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1500" dirty="0"/>
              <a:t>YES</a:t>
            </a:r>
            <a:endParaRPr lang="en-US" sz="15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674FA4E-1BE4-B7BD-691C-674F3BE25B4D}"/>
              </a:ext>
            </a:extLst>
          </p:cNvPr>
          <p:cNvSpPr txBox="1"/>
          <p:nvPr/>
        </p:nvSpPr>
        <p:spPr>
          <a:xfrm>
            <a:off x="3124689" y="4161405"/>
            <a:ext cx="332844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1500" dirty="0" err="1"/>
              <a:t>No</a:t>
            </a:r>
            <a:endParaRPr lang="en-US" sz="15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AF9C9CD-9DC2-6F1C-DDFC-4FE04E0F1D5D}"/>
              </a:ext>
            </a:extLst>
          </p:cNvPr>
          <p:cNvSpPr txBox="1"/>
          <p:nvPr/>
        </p:nvSpPr>
        <p:spPr>
          <a:xfrm>
            <a:off x="4541289" y="3590934"/>
            <a:ext cx="713198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1500" dirty="0"/>
              <a:t>Maybe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88275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263A-5B8B-9ADC-8C18-1814510F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765F709-7029-B078-88DF-C268665F39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510C7-9487-0931-2643-72AF0C6BB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433AB1-BD41-405F-98E8-0525133CFE9B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To be continued…. </a:t>
            </a:r>
          </a:p>
          <a:p>
            <a:endParaRPr lang="en-US" sz="15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7FEB37A-2A26-B543-0EA7-8E649CC4CF16}"/>
              </a:ext>
            </a:extLst>
          </p:cNvPr>
          <p:cNvSpPr txBox="1"/>
          <p:nvPr/>
        </p:nvSpPr>
        <p:spPr>
          <a:xfrm flipH="1">
            <a:off x="594250" y="1520113"/>
            <a:ext cx="2597678" cy="3231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sz="1500" dirty="0"/>
              <a:t>Brain </a:t>
            </a:r>
            <a:r>
              <a:rPr lang="de-DE" sz="1500" dirty="0" err="1"/>
              <a:t>processing</a:t>
            </a:r>
            <a:endParaRPr lang="en-US" sz="15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B8DE5E6-0705-7B3F-A296-DFCFBF8F27A3}"/>
              </a:ext>
            </a:extLst>
          </p:cNvPr>
          <p:cNvSpPr txBox="1"/>
          <p:nvPr/>
        </p:nvSpPr>
        <p:spPr>
          <a:xfrm flipH="1">
            <a:off x="594250" y="2340894"/>
            <a:ext cx="2597678" cy="3231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Individual differences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6AD5C0A-F5F3-A4AC-E071-7445F252B062}"/>
              </a:ext>
            </a:extLst>
          </p:cNvPr>
          <p:cNvSpPr txBox="1"/>
          <p:nvPr/>
        </p:nvSpPr>
        <p:spPr>
          <a:xfrm flipH="1">
            <a:off x="3473441" y="2340894"/>
            <a:ext cx="2597678" cy="3231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Flexibility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3EA0412-B679-FD51-51AE-E93AF6C25876}"/>
              </a:ext>
            </a:extLst>
          </p:cNvPr>
          <p:cNvSpPr txBox="1"/>
          <p:nvPr/>
        </p:nvSpPr>
        <p:spPr>
          <a:xfrm flipH="1">
            <a:off x="3473441" y="1520114"/>
            <a:ext cx="2597678" cy="3231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Context dependence</a:t>
            </a:r>
          </a:p>
        </p:txBody>
      </p:sp>
      <p:pic>
        <p:nvPicPr>
          <p:cNvPr id="13" name="Grafik 12" descr="Ein Bild, das Text, Screenshot, Schrift, Design enthält.&#10;&#10;Automatisch generierte Beschreibung">
            <a:extLst>
              <a:ext uri="{FF2B5EF4-FFF2-40B4-BE49-F238E27FC236}">
                <a16:creationId xmlns:a16="http://schemas.microsoft.com/office/drawing/2014/main" id="{6C1925B4-8FEC-E6A5-37E2-EA6F46A000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927" y="3305298"/>
            <a:ext cx="3591329" cy="100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38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8DE26-5A5C-6AD2-E976-EDD101FD8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0827AAB2-2552-7277-DB37-D97C4C33CA3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ACE860-D714-1DC2-6F68-BC849E5588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34D53F3-4094-DA77-3506-614634DF55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3"/>
          <a:stretch>
            <a:fillRect/>
          </a:stretch>
        </p:blipFill>
        <p:spPr>
          <a:xfrm>
            <a:off x="1" y="0"/>
            <a:ext cx="6858000" cy="45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07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CC5BF39F-47D4-4797-B6C2-DE3E5F098A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B9EFDE1-D0FB-B407-A424-28A8135DF0C1}"/>
              </a:ext>
            </a:extLst>
          </p:cNvPr>
          <p:cNvGrpSpPr/>
          <p:nvPr/>
        </p:nvGrpSpPr>
        <p:grpSpPr>
          <a:xfrm>
            <a:off x="359621" y="3033280"/>
            <a:ext cx="4022967" cy="804503"/>
            <a:chOff x="-549698" y="3033280"/>
            <a:chExt cx="3069378" cy="804503"/>
          </a:xfrm>
        </p:grpSpPr>
        <p:sp>
          <p:nvSpPr>
            <p:cNvPr id="5" name="Rechteck 4"/>
            <p:cNvSpPr/>
            <p:nvPr/>
          </p:nvSpPr>
          <p:spPr>
            <a:xfrm>
              <a:off x="-549698" y="3033280"/>
              <a:ext cx="3069378" cy="80450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-409849" y="3279025"/>
              <a:ext cx="2689499" cy="530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500" dirty="0"/>
                <a:t>Thank you for your attention </a:t>
              </a:r>
              <a:r>
                <a:rPr lang="en-US" sz="1500" dirty="0">
                  <a:sym typeface="Wingdings" panose="05000000000000000000" pitchFamily="2" charset="2"/>
                </a:rPr>
                <a:t></a:t>
              </a:r>
              <a:endParaRPr lang="en-US" sz="1500" dirty="0"/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44E112-E982-451A-A302-F14F9A908B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6" name="Gerade Verbindung 15"/>
          <p:cNvCxnSpPr/>
          <p:nvPr/>
        </p:nvCxnSpPr>
        <p:spPr>
          <a:xfrm>
            <a:off x="499471" y="3215725"/>
            <a:ext cx="27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647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4D236-57DD-90B2-A1DC-838066AD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EA7E370D-1573-29EE-00AE-8CFD2C46288F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FA19168-146B-63D9-2277-12815E5117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C4FCC07-5499-1BE5-B9D7-E6A42635223D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de-DE" sz="1500" dirty="0"/>
              <a:t>Parameter-</a:t>
            </a:r>
            <a:r>
              <a:rPr lang="de-DE" sz="1500" dirty="0" err="1"/>
              <a:t>specific</a:t>
            </a:r>
            <a:r>
              <a:rPr lang="de-DE" sz="1500" dirty="0"/>
              <a:t> </a:t>
            </a:r>
            <a:r>
              <a:rPr lang="de-DE" sz="1500" dirty="0" err="1"/>
              <a:t>adaptation</a:t>
            </a:r>
            <a:r>
              <a:rPr lang="de-DE" sz="1500" dirty="0"/>
              <a:t> (</a:t>
            </a:r>
            <a:r>
              <a:rPr lang="de-DE" sz="1500" dirty="0" err="1"/>
              <a:t>preliminary</a:t>
            </a:r>
            <a:r>
              <a:rPr lang="de-DE" sz="1500" dirty="0"/>
              <a:t>, N = 29)</a:t>
            </a:r>
            <a:endParaRPr lang="en-US" sz="1500" dirty="0"/>
          </a:p>
          <a:p>
            <a:endParaRPr lang="en-US" sz="15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5570CA0-1FC3-42AA-D36B-42A44F7394FC}"/>
              </a:ext>
            </a:extLst>
          </p:cNvPr>
          <p:cNvSpPr txBox="1"/>
          <p:nvPr/>
        </p:nvSpPr>
        <p:spPr>
          <a:xfrm>
            <a:off x="5074921" y="4319313"/>
            <a:ext cx="1783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Bachelor </a:t>
            </a:r>
            <a:r>
              <a:rPr lang="de-DE" sz="800" i="1" dirty="0" err="1"/>
              <a:t>thesis</a:t>
            </a:r>
            <a:r>
              <a:rPr lang="de-DE" sz="800" i="1" dirty="0"/>
              <a:t> </a:t>
            </a:r>
            <a:r>
              <a:rPr lang="de-DE" sz="800" i="1" dirty="0" err="1"/>
              <a:t>of</a:t>
            </a:r>
            <a:r>
              <a:rPr lang="de-DE" sz="800" i="1" dirty="0"/>
              <a:t> Klara Heck (</a:t>
            </a:r>
            <a:r>
              <a:rPr lang="de-DE" sz="800" i="1" dirty="0" err="1"/>
              <a:t>ongoing</a:t>
            </a:r>
            <a:r>
              <a:rPr lang="de-DE" sz="800" i="1" dirty="0"/>
              <a:t>)</a:t>
            </a:r>
            <a:endParaRPr lang="en-US" sz="800" i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FE2A8-ED65-B326-4866-F64BBFE80C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3" y="936914"/>
            <a:ext cx="5703570" cy="285178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7C7E6E33-A696-CF6C-7B95-E152FD5B38B0}"/>
              </a:ext>
            </a:extLst>
          </p:cNvPr>
          <p:cNvSpPr txBox="1"/>
          <p:nvPr/>
        </p:nvSpPr>
        <p:spPr>
          <a:xfrm>
            <a:off x="513542" y="4012960"/>
            <a:ext cx="4012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800" i="1" dirty="0"/>
              <a:t>FULL: </a:t>
            </a:r>
            <a:r>
              <a:rPr lang="de-DE" sz="800" i="1" dirty="0" err="1"/>
              <a:t>adaptors</a:t>
            </a:r>
            <a:r>
              <a:rPr lang="de-DE" sz="800" i="1" dirty="0"/>
              <a:t> </a:t>
            </a:r>
            <a:r>
              <a:rPr lang="de-DE" sz="800" i="1" dirty="0" err="1"/>
              <a:t>are</a:t>
            </a:r>
            <a:r>
              <a:rPr lang="de-DE" sz="800" i="1" dirty="0"/>
              <a:t> </a:t>
            </a:r>
            <a:r>
              <a:rPr lang="de-DE" sz="800" i="1" dirty="0" err="1"/>
              <a:t>full</a:t>
            </a:r>
            <a:r>
              <a:rPr lang="de-DE" sz="800" i="1" dirty="0"/>
              <a:t> </a:t>
            </a:r>
            <a:r>
              <a:rPr lang="de-DE" sz="800" i="1" dirty="0" err="1"/>
              <a:t>morphs</a:t>
            </a:r>
            <a:r>
              <a:rPr lang="de-DE" sz="800" i="1" dirty="0"/>
              <a:t> (F0 + </a:t>
            </a:r>
            <a:r>
              <a:rPr lang="de-DE" sz="800" i="1" dirty="0" err="1"/>
              <a:t>timbre</a:t>
            </a:r>
            <a:r>
              <a:rPr lang="de-DE" sz="800" i="1" dirty="0"/>
              <a:t>)</a:t>
            </a:r>
          </a:p>
          <a:p>
            <a:pPr algn="just"/>
            <a:r>
              <a:rPr lang="de-DE" sz="800" i="1" dirty="0"/>
              <a:t>TBR: </a:t>
            </a:r>
            <a:r>
              <a:rPr lang="de-DE" sz="800" i="1" dirty="0" err="1"/>
              <a:t>adaptors</a:t>
            </a:r>
            <a:r>
              <a:rPr lang="de-DE" sz="800" i="1" dirty="0"/>
              <a:t> </a:t>
            </a:r>
            <a:r>
              <a:rPr lang="de-DE" sz="800" i="1" dirty="0" err="1"/>
              <a:t>are</a:t>
            </a:r>
            <a:r>
              <a:rPr lang="de-DE" sz="800" i="1" dirty="0"/>
              <a:t> </a:t>
            </a:r>
            <a:r>
              <a:rPr lang="de-DE" sz="800" i="1" dirty="0" err="1"/>
              <a:t>timbre</a:t>
            </a:r>
            <a:r>
              <a:rPr lang="de-DE" sz="800" i="1" dirty="0"/>
              <a:t> </a:t>
            </a:r>
            <a:r>
              <a:rPr lang="de-DE" sz="800" i="1" dirty="0" err="1"/>
              <a:t>morphs</a:t>
            </a:r>
            <a:r>
              <a:rPr lang="de-DE" sz="800" i="1" dirty="0"/>
              <a:t> (human/</a:t>
            </a:r>
            <a:r>
              <a:rPr lang="de-DE" sz="800" i="1" dirty="0" err="1"/>
              <a:t>synthetic</a:t>
            </a:r>
            <a:r>
              <a:rPr lang="de-DE" sz="800" i="1" dirty="0"/>
              <a:t> </a:t>
            </a:r>
            <a:r>
              <a:rPr lang="de-DE" sz="800" i="1" dirty="0" err="1"/>
              <a:t>info</a:t>
            </a:r>
            <a:r>
              <a:rPr lang="de-DE" sz="800" i="1" dirty="0"/>
              <a:t> </a:t>
            </a:r>
            <a:r>
              <a:rPr lang="de-DE" sz="800" i="1" dirty="0" err="1"/>
              <a:t>only</a:t>
            </a:r>
            <a:r>
              <a:rPr lang="de-DE" sz="800" i="1" dirty="0"/>
              <a:t> </a:t>
            </a:r>
            <a:r>
              <a:rPr lang="de-DE" sz="800" i="1" dirty="0" err="1"/>
              <a:t>expressed</a:t>
            </a:r>
            <a:r>
              <a:rPr lang="de-DE" sz="800" i="1" dirty="0"/>
              <a:t> via </a:t>
            </a:r>
            <a:r>
              <a:rPr lang="de-DE" sz="800" i="1" dirty="0" err="1"/>
              <a:t>timbre</a:t>
            </a:r>
            <a:r>
              <a:rPr lang="de-DE" sz="800" i="1" dirty="0"/>
              <a:t>)</a:t>
            </a:r>
          </a:p>
          <a:p>
            <a:pPr algn="just"/>
            <a:r>
              <a:rPr lang="de-DE" sz="800" i="1" dirty="0"/>
              <a:t>F0: </a:t>
            </a:r>
            <a:r>
              <a:rPr lang="de-DE" sz="800" i="1" dirty="0" err="1"/>
              <a:t>adaptors</a:t>
            </a:r>
            <a:r>
              <a:rPr lang="de-DE" sz="800" i="1" dirty="0"/>
              <a:t> </a:t>
            </a:r>
            <a:r>
              <a:rPr lang="de-DE" sz="800" i="1" dirty="0" err="1"/>
              <a:t>are</a:t>
            </a:r>
            <a:r>
              <a:rPr lang="de-DE" sz="800" i="1" dirty="0"/>
              <a:t> F0 </a:t>
            </a:r>
            <a:r>
              <a:rPr lang="de-DE" sz="800" i="1" dirty="0" err="1"/>
              <a:t>morphs</a:t>
            </a:r>
            <a:r>
              <a:rPr lang="de-DE" sz="800" i="1" dirty="0"/>
              <a:t> (human/</a:t>
            </a:r>
            <a:r>
              <a:rPr lang="de-DE" sz="800" i="1" dirty="0" err="1"/>
              <a:t>synthetic</a:t>
            </a:r>
            <a:r>
              <a:rPr lang="de-DE" sz="800" i="1" dirty="0"/>
              <a:t> </a:t>
            </a:r>
            <a:r>
              <a:rPr lang="de-DE" sz="800" i="1" dirty="0" err="1"/>
              <a:t>info</a:t>
            </a:r>
            <a:r>
              <a:rPr lang="de-DE" sz="800" i="1" dirty="0"/>
              <a:t> </a:t>
            </a:r>
            <a:r>
              <a:rPr lang="de-DE" sz="800" i="1" dirty="0" err="1"/>
              <a:t>only</a:t>
            </a:r>
            <a:r>
              <a:rPr lang="de-DE" sz="800" i="1" dirty="0"/>
              <a:t> </a:t>
            </a:r>
            <a:r>
              <a:rPr lang="de-DE" sz="800" i="1" dirty="0" err="1"/>
              <a:t>expressed</a:t>
            </a:r>
            <a:r>
              <a:rPr lang="de-DE" sz="800" i="1" dirty="0"/>
              <a:t> via fundamental </a:t>
            </a:r>
            <a:r>
              <a:rPr lang="de-DE" sz="800" i="1" dirty="0" err="1"/>
              <a:t>frequency</a:t>
            </a:r>
            <a:r>
              <a:rPr lang="de-DE" sz="800" i="1" dirty="0"/>
              <a:t>)</a:t>
            </a:r>
          </a:p>
          <a:p>
            <a:pPr algn="just"/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2513608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9B13-347D-08EB-6CF1-ABD628BD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1E7A699-6F2F-2C93-B60A-1DBA1728BA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BD0EA2-BDCD-C054-12BD-D1A864C43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02" y="279730"/>
            <a:ext cx="4834812" cy="1971337"/>
          </a:xfrm>
          <a:prstGeom prst="rect">
            <a:avLst/>
          </a:prstGeom>
        </p:spPr>
      </p:pic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A3BDAED6-C640-B3E7-F727-8886A7BF8CB4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FD15F2CD-70BC-282D-9BEF-BDC70659D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314" y="526028"/>
            <a:ext cx="1588168" cy="104069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595F826-9509-AC1B-E319-141F153CE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314" y="1575701"/>
            <a:ext cx="1588168" cy="101480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63A7E8F-FE8B-45E3-D526-B57546484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7065" y="2330586"/>
            <a:ext cx="1953461" cy="1971338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C2B9116-1643-3191-A3D1-C87FC1C864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991" y="2330585"/>
            <a:ext cx="1955336" cy="197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65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3F23-9E61-BB2D-0C56-23667A1DA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D51D5C92-5950-CEC8-CEAA-BF030372EBBD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E41FE3F-E708-E265-7843-30370DB45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AEA241F-0C7A-32C8-6DC3-E8A0ACA209CC}"/>
              </a:ext>
            </a:extLst>
          </p:cNvPr>
          <p:cNvSpPr txBox="1"/>
          <p:nvPr/>
        </p:nvSpPr>
        <p:spPr>
          <a:xfrm>
            <a:off x="340095" y="398809"/>
            <a:ext cx="4868277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Understanding voice perception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5649F11-A2BD-6BDE-2048-742BFE419D04}"/>
              </a:ext>
            </a:extLst>
          </p:cNvPr>
          <p:cNvSpPr txBox="1"/>
          <p:nvPr/>
        </p:nvSpPr>
        <p:spPr>
          <a:xfrm>
            <a:off x="4857488" y="4111563"/>
            <a:ext cx="1217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Belin et al (2011)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24B790A-90D7-D672-B202-87713CF9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17" y="963373"/>
            <a:ext cx="5344966" cy="309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13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887D69D-C009-4130-9A52-0639259A2ABD}"/>
              </a:ext>
            </a:extLst>
          </p:cNvPr>
          <p:cNvSpPr txBox="1"/>
          <p:nvPr/>
        </p:nvSpPr>
        <p:spPr>
          <a:xfrm>
            <a:off x="340096" y="440204"/>
            <a:ext cx="6074992" cy="272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>
            <a:noAutofit/>
          </a:bodyPr>
          <a:lstStyle/>
          <a:p>
            <a:r>
              <a:rPr lang="en-US" sz="1500" dirty="0"/>
              <a:t>Person Perception from Voices (PPV)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06B5722-213E-4240-8C49-D2BB90B5D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1E16443-6563-D8EF-2502-1795F5C5A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6" y="1012378"/>
            <a:ext cx="6415088" cy="304067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BBCCB91-C694-E1DB-D69E-1ACFBCB66AAC}"/>
              </a:ext>
            </a:extLst>
          </p:cNvPr>
          <p:cNvSpPr txBox="1"/>
          <p:nvPr/>
        </p:nvSpPr>
        <p:spPr>
          <a:xfrm>
            <a:off x="3034862" y="2780382"/>
            <a:ext cx="7882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highlight>
                  <a:srgbClr val="C0C0C0"/>
                </a:highlight>
              </a:rPr>
              <a:t>Naturalness</a:t>
            </a:r>
            <a:endParaRPr lang="en-US" sz="900" dirty="0">
              <a:highlight>
                <a:srgbClr val="C0C0C0"/>
              </a:highlight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B29EC58-CF60-4485-B05A-CF94C5313637}"/>
              </a:ext>
            </a:extLst>
          </p:cNvPr>
          <p:cNvSpPr txBox="1"/>
          <p:nvPr/>
        </p:nvSpPr>
        <p:spPr>
          <a:xfrm>
            <a:off x="5490318" y="4270997"/>
            <a:ext cx="14205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(</a:t>
            </a:r>
            <a:r>
              <a:rPr lang="de-DE" sz="900" dirty="0" err="1"/>
              <a:t>Lavan</a:t>
            </a:r>
            <a:r>
              <a:rPr lang="de-DE" sz="900" dirty="0"/>
              <a:t> &amp; </a:t>
            </a:r>
            <a:r>
              <a:rPr lang="de-DE" sz="900" dirty="0" err="1"/>
              <a:t>McGettigan</a:t>
            </a:r>
            <a:r>
              <a:rPr lang="de-DE" sz="900" dirty="0"/>
              <a:t> 2023)</a:t>
            </a:r>
          </a:p>
        </p:txBody>
      </p:sp>
    </p:spTree>
    <p:extLst>
      <p:ext uri="{BB962C8B-B14F-4D97-AF65-F5344CB8AC3E}">
        <p14:creationId xmlns:p14="http://schemas.microsoft.com/office/powerpoint/2010/main" val="250476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Universität Jena Blau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versität">
      <a:majorFont>
        <a:latin typeface="Palatino nova Medium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1177</Words>
  <Application>Microsoft Office PowerPoint</Application>
  <PresentationFormat>Benutzerdefiniert</PresentationFormat>
  <Paragraphs>187</Paragraphs>
  <Slides>32</Slides>
  <Notes>32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8" baseType="lpstr">
      <vt:lpstr>Palatino Linotype</vt:lpstr>
      <vt:lpstr>Wingdings</vt:lpstr>
      <vt:lpstr>Calibri</vt:lpstr>
      <vt:lpstr>Arial</vt:lpstr>
      <vt:lpstr>Roboto Condensed</vt:lpstr>
      <vt:lpstr>Universität Jena Blau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FSU Jena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Liana Franke</dc:creator>
  <cp:lastModifiedBy>Christine Nussbaum</cp:lastModifiedBy>
  <cp:revision>1089</cp:revision>
  <cp:lastPrinted>2017-04-12T09:06:57Z</cp:lastPrinted>
  <dcterms:created xsi:type="dcterms:W3CDTF">2017-03-23T10:34:48Z</dcterms:created>
  <dcterms:modified xsi:type="dcterms:W3CDTF">2026-07-14T12:12:35Z</dcterms:modified>
</cp:coreProperties>
</file>