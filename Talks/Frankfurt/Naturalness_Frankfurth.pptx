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55" r:id="rId1"/>
  </p:sldMasterIdLst>
  <p:notesMasterIdLst>
    <p:notesMasterId r:id="rId32"/>
  </p:notesMasterIdLst>
  <p:handoutMasterIdLst>
    <p:handoutMasterId r:id="rId33"/>
  </p:handoutMasterIdLst>
  <p:sldIdLst>
    <p:sldId id="328" r:id="rId2"/>
    <p:sldId id="405" r:id="rId3"/>
    <p:sldId id="410" r:id="rId4"/>
    <p:sldId id="406" r:id="rId5"/>
    <p:sldId id="425" r:id="rId6"/>
    <p:sldId id="411" r:id="rId7"/>
    <p:sldId id="412" r:id="rId8"/>
    <p:sldId id="413" r:id="rId9"/>
    <p:sldId id="356" r:id="rId10"/>
    <p:sldId id="353" r:id="rId11"/>
    <p:sldId id="414" r:id="rId12"/>
    <p:sldId id="430" r:id="rId13"/>
    <p:sldId id="409" r:id="rId14"/>
    <p:sldId id="431" r:id="rId15"/>
    <p:sldId id="423" r:id="rId16"/>
    <p:sldId id="432" r:id="rId17"/>
    <p:sldId id="433" r:id="rId18"/>
    <p:sldId id="434" r:id="rId19"/>
    <p:sldId id="439" r:id="rId20"/>
    <p:sldId id="435" r:id="rId21"/>
    <p:sldId id="436" r:id="rId22"/>
    <p:sldId id="437" r:id="rId23"/>
    <p:sldId id="438" r:id="rId24"/>
    <p:sldId id="424" r:id="rId25"/>
    <p:sldId id="427" r:id="rId26"/>
    <p:sldId id="428" r:id="rId27"/>
    <p:sldId id="354" r:id="rId28"/>
    <p:sldId id="397" r:id="rId29"/>
    <p:sldId id="429" r:id="rId30"/>
    <p:sldId id="407" r:id="rId31"/>
  </p:sldIdLst>
  <p:sldSz cx="6858000" cy="5143500"/>
  <p:notesSz cx="6858000" cy="9144000"/>
  <p:embeddedFontLst>
    <p:embeddedFont>
      <p:font typeface="Palatino Linotype" panose="02040502050505030304" pitchFamily="18" charset="0"/>
      <p:regular r:id="rId34"/>
      <p:bold r:id="rId35"/>
      <p:italic r:id="rId36"/>
      <p:boldItalic r:id="rId37"/>
    </p:embeddedFont>
    <p:embeddedFont>
      <p:font typeface="Roboto Condensed" panose="02000000000000000000" pitchFamily="2" charset="0"/>
      <p:regular r:id="rId38"/>
      <p:bold r:id="rId39"/>
      <p:italic r:id="rId40"/>
      <p:boldItalic r:id="rId41"/>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orient="horz" pos="3162" userDrawn="1">
          <p15:clr>
            <a:srgbClr val="A4A3A4"/>
          </p15:clr>
        </p15:guide>
        <p15:guide id="3" orient="horz" pos="2414" userDrawn="1">
          <p15:clr>
            <a:srgbClr val="A4A3A4"/>
          </p15:clr>
        </p15:guide>
        <p15:guide id="5" orient="horz" pos="2867" userDrawn="1">
          <p15:clr>
            <a:srgbClr val="A4A3A4"/>
          </p15:clr>
        </p15:guide>
        <p15:guide id="6" orient="horz" pos="214" userDrawn="1">
          <p15:clr>
            <a:srgbClr val="A4A3A4"/>
          </p15:clr>
        </p15:guide>
        <p15:guide id="7" orient="horz" pos="696" userDrawn="1">
          <p15:clr>
            <a:srgbClr val="A4A3A4"/>
          </p15:clr>
        </p15:guide>
        <p15:guide id="8" orient="horz" pos="2709" userDrawn="1">
          <p15:clr>
            <a:srgbClr val="A4A3A4"/>
          </p15:clr>
        </p15:guide>
        <p15:guide id="9" pos="1514" userDrawn="1">
          <p15:clr>
            <a:srgbClr val="A4A3A4"/>
          </p15:clr>
        </p15:guide>
        <p15:guide id="10" pos="1292" userDrawn="1">
          <p15:clr>
            <a:srgbClr val="A4A3A4"/>
          </p15:clr>
        </p15:guide>
        <p15:guide id="11" pos="4106" userDrawn="1">
          <p15:clr>
            <a:srgbClr val="A4A3A4"/>
          </p15:clr>
        </p15:guide>
        <p15:guide id="12" pos="221" userDrawn="1">
          <p15:clr>
            <a:srgbClr val="A4A3A4"/>
          </p15:clr>
        </p15:guide>
        <p15:guide id="13" pos="3025" userDrawn="1">
          <p15:clr>
            <a:srgbClr val="A4A3A4"/>
          </p15:clr>
        </p15:guide>
        <p15:guide id="14" pos="2809" userDrawn="1">
          <p15:clr>
            <a:srgbClr val="A4A3A4"/>
          </p15:clr>
        </p15:guide>
        <p15:guide id="15" pos="2378" userDrawn="1">
          <p15:clr>
            <a:srgbClr val="A4A3A4"/>
          </p15:clr>
        </p15:guide>
        <p15:guide id="16" pos="433" userDrawn="1">
          <p15:clr>
            <a:srgbClr val="A4A3A4"/>
          </p15:clr>
        </p15:guide>
        <p15:guide id="17" pos="648" userDrawn="1">
          <p15:clr>
            <a:srgbClr val="A4A3A4"/>
          </p15:clr>
        </p15:guide>
        <p15:guide id="18" pos="867" userDrawn="1">
          <p15:clr>
            <a:srgbClr val="A4A3A4"/>
          </p15:clr>
        </p15:guide>
        <p15:guide id="19" pos="1082" userDrawn="1">
          <p15:clr>
            <a:srgbClr val="A4A3A4"/>
          </p15:clr>
        </p15:guide>
        <p15:guide id="20" pos="1734" userDrawn="1">
          <p15:clr>
            <a:srgbClr val="A4A3A4"/>
          </p15:clr>
        </p15:guide>
        <p15:guide id="21" pos="1946" userDrawn="1">
          <p15:clr>
            <a:srgbClr val="A4A3A4"/>
          </p15:clr>
        </p15:guide>
        <p15:guide id="22" pos="2160" userDrawn="1">
          <p15:clr>
            <a:srgbClr val="A4A3A4"/>
          </p15:clr>
        </p15:guide>
        <p15:guide id="23" pos="2594" userDrawn="1">
          <p15:clr>
            <a:srgbClr val="A4A3A4"/>
          </p15:clr>
        </p15:guide>
        <p15:guide id="25" pos="3453" userDrawn="1">
          <p15:clr>
            <a:srgbClr val="A4A3A4"/>
          </p15:clr>
        </p15:guide>
        <p15:guide id="26" pos="3674" userDrawn="1">
          <p15:clr>
            <a:srgbClr val="A4A3A4"/>
          </p15:clr>
        </p15:guide>
        <p15:guide id="27" pos="3890" userDrawn="1">
          <p15:clr>
            <a:srgbClr val="A4A3A4"/>
          </p15:clr>
        </p15:guide>
        <p15:guide id="28" orient="horz" pos="3153" userDrawn="1">
          <p15:clr>
            <a:srgbClr val="A4A3A4"/>
          </p15:clr>
        </p15:guide>
        <p15:guide id="29" orient="horz" pos="2836" userDrawn="1">
          <p15:clr>
            <a:srgbClr val="A4A3A4"/>
          </p15:clr>
        </p15:guide>
        <p15:guide id="30" pos="324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2F5D"/>
    <a:srgbClr val="5B0503"/>
    <a:srgbClr val="6C7921"/>
    <a:srgbClr val="384519"/>
    <a:srgbClr val="104E28"/>
    <a:srgbClr val="FFFFFF"/>
    <a:srgbClr val="BD9F21"/>
    <a:srgbClr val="FFC864"/>
    <a:srgbClr val="FFBE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839" autoAdjust="0"/>
    <p:restoredTop sz="95033" autoAdjust="0"/>
  </p:normalViewPr>
  <p:slideViewPr>
    <p:cSldViewPr snapToGrid="0" snapToObjects="1">
      <p:cViewPr varScale="1">
        <p:scale>
          <a:sx n="167" d="100"/>
          <a:sy n="167" d="100"/>
        </p:scale>
        <p:origin x="1062" y="138"/>
      </p:cViewPr>
      <p:guideLst>
        <p:guide orient="horz" pos="1620"/>
        <p:guide orient="horz" pos="3162"/>
        <p:guide orient="horz" pos="2414"/>
        <p:guide orient="horz" pos="2867"/>
        <p:guide orient="horz" pos="214"/>
        <p:guide orient="horz" pos="696"/>
        <p:guide orient="horz" pos="2709"/>
        <p:guide pos="1514"/>
        <p:guide pos="1292"/>
        <p:guide pos="4106"/>
        <p:guide pos="221"/>
        <p:guide pos="3025"/>
        <p:guide pos="2809"/>
        <p:guide pos="2378"/>
        <p:guide pos="433"/>
        <p:guide pos="648"/>
        <p:guide pos="867"/>
        <p:guide pos="1082"/>
        <p:guide pos="1734"/>
        <p:guide pos="1946"/>
        <p:guide pos="2160"/>
        <p:guide pos="2594"/>
        <p:guide pos="3453"/>
        <p:guide pos="3674"/>
        <p:guide pos="3890"/>
        <p:guide orient="horz" pos="3153"/>
        <p:guide orient="horz" pos="2836"/>
        <p:guide pos="3241"/>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2772"/>
    </p:cViewPr>
  </p:sorterViewPr>
  <p:notesViewPr>
    <p:cSldViewPr snapToGrid="0" snapToObjects="1" showGuides="1">
      <p:cViewPr varScale="1">
        <p:scale>
          <a:sx n="98" d="100"/>
          <a:sy n="98" d="100"/>
        </p:scale>
        <p:origin x="3594" y="96"/>
      </p:cViewPr>
      <p:guideLst>
        <p:guide orient="horz" pos="2880"/>
        <p:guide pos="2160"/>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font" Target="fonts/font8.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52642F8-4030-468B-846F-DE3B6AB6CE0D}" type="datetimeFigureOut">
              <a:rPr lang="de-DE" smtClean="0"/>
              <a:t>11.07.2026</a:t>
            </a:fld>
            <a:endParaRPr lang="de-DE"/>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6AA542-7317-4AC6-A4A4-9C0CA7435764}" type="slidenum">
              <a:rPr lang="de-DE" smtClean="0"/>
              <a:t>‹Nr.›</a:t>
            </a:fld>
            <a:endParaRPr lang="de-DE"/>
          </a:p>
        </p:txBody>
      </p:sp>
    </p:spTree>
    <p:extLst>
      <p:ext uri="{BB962C8B-B14F-4D97-AF65-F5344CB8AC3E}">
        <p14:creationId xmlns:p14="http://schemas.microsoft.com/office/powerpoint/2010/main" val="26024962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1AB2040-EA4D-4002-BC41-13AC0377AF84}" type="datetimeFigureOut">
              <a:rPr lang="de-DE" smtClean="0"/>
              <a:t>11.07.2026</a:t>
            </a:fld>
            <a:endParaRPr lang="de-DE"/>
          </a:p>
        </p:txBody>
      </p:sp>
      <p:sp>
        <p:nvSpPr>
          <p:cNvPr id="4" name="Folienbildplatzhalt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DADD7A-5464-40FD-B5CC-4CA36D7CC1F5}" type="slidenum">
              <a:rPr lang="de-DE" smtClean="0"/>
              <a:t>‹Nr.›</a:t>
            </a:fld>
            <a:endParaRPr lang="de-DE"/>
          </a:p>
        </p:txBody>
      </p:sp>
    </p:spTree>
    <p:extLst>
      <p:ext uri="{BB962C8B-B14F-4D97-AF65-F5344CB8AC3E}">
        <p14:creationId xmlns:p14="http://schemas.microsoft.com/office/powerpoint/2010/main" val="14953059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143000" y="685800"/>
            <a:ext cx="4572000" cy="3429000"/>
          </a:xfrm>
        </p:spPr>
      </p:sp>
      <p:sp>
        <p:nvSpPr>
          <p:cNvPr id="3" name="Notizenplatzhalter 2"/>
          <p:cNvSpPr>
            <a:spLocks noGrp="1"/>
          </p:cNvSpPr>
          <p:nvPr>
            <p:ph type="body" idx="1"/>
          </p:nvPr>
        </p:nvSpPr>
        <p:spPr/>
        <p:txBody>
          <a:bodyPr/>
          <a:lstStyle/>
          <a:p>
            <a:pPr marL="0" indent="0">
              <a:buFontTx/>
              <a:buNone/>
            </a:pPr>
            <a:endParaRPr lang="de-DE" dirty="0"/>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DADD7A-5464-40FD-B5CC-4CA36D7CC1F5}"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30517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5BDADD7A-5464-40FD-B5CC-4CA36D7CC1F5}" type="slidenum">
              <a:rPr lang="de-DE" smtClean="0"/>
              <a:t>2</a:t>
            </a:fld>
            <a:endParaRPr lang="de-DE"/>
          </a:p>
        </p:txBody>
      </p:sp>
    </p:spTree>
    <p:extLst>
      <p:ext uri="{BB962C8B-B14F-4D97-AF65-F5344CB8AC3E}">
        <p14:creationId xmlns:p14="http://schemas.microsoft.com/office/powerpoint/2010/main" val="36216955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5BDADD7A-5464-40FD-B5CC-4CA36D7CC1F5}" type="slidenum">
              <a:rPr lang="de-DE" smtClean="0"/>
              <a:t>3</a:t>
            </a:fld>
            <a:endParaRPr lang="de-DE"/>
          </a:p>
        </p:txBody>
      </p:sp>
    </p:spTree>
    <p:extLst>
      <p:ext uri="{BB962C8B-B14F-4D97-AF65-F5344CB8AC3E}">
        <p14:creationId xmlns:p14="http://schemas.microsoft.com/office/powerpoint/2010/main" val="1169524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Foliennummernplatzhalter 3"/>
          <p:cNvSpPr>
            <a:spLocks noGrp="1"/>
          </p:cNvSpPr>
          <p:nvPr>
            <p:ph type="sldNum" sz="quarter" idx="5"/>
          </p:nvPr>
        </p:nvSpPr>
        <p:spPr/>
        <p:txBody>
          <a:bodyPr/>
          <a:lstStyle/>
          <a:p>
            <a:fld id="{5BDADD7A-5464-40FD-B5CC-4CA36D7CC1F5}" type="slidenum">
              <a:rPr lang="de-DE" smtClean="0"/>
              <a:t>4</a:t>
            </a:fld>
            <a:endParaRPr lang="de-DE"/>
          </a:p>
        </p:txBody>
      </p:sp>
    </p:spTree>
    <p:extLst>
      <p:ext uri="{BB962C8B-B14F-4D97-AF65-F5344CB8AC3E}">
        <p14:creationId xmlns:p14="http://schemas.microsoft.com/office/powerpoint/2010/main" val="6263998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r>
              <a:rPr lang="de-DE" dirty="0" err="1"/>
              <a:t>ToDo</a:t>
            </a:r>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5</a:t>
            </a:fld>
            <a:endParaRPr lang="de-DE"/>
          </a:p>
        </p:txBody>
      </p:sp>
    </p:spTree>
    <p:extLst>
      <p:ext uri="{BB962C8B-B14F-4D97-AF65-F5344CB8AC3E}">
        <p14:creationId xmlns:p14="http://schemas.microsoft.com/office/powerpoint/2010/main" val="38898638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6</a:t>
            </a:fld>
            <a:endParaRPr lang="de-DE"/>
          </a:p>
        </p:txBody>
      </p:sp>
    </p:spTree>
    <p:extLst>
      <p:ext uri="{BB962C8B-B14F-4D97-AF65-F5344CB8AC3E}">
        <p14:creationId xmlns:p14="http://schemas.microsoft.com/office/powerpoint/2010/main" val="2110808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7</a:t>
            </a:fld>
            <a:endParaRPr lang="de-DE"/>
          </a:p>
        </p:txBody>
      </p:sp>
    </p:spTree>
    <p:extLst>
      <p:ext uri="{BB962C8B-B14F-4D97-AF65-F5344CB8AC3E}">
        <p14:creationId xmlns:p14="http://schemas.microsoft.com/office/powerpoint/2010/main" val="1008132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8</a:t>
            </a:fld>
            <a:endParaRPr lang="de-DE"/>
          </a:p>
        </p:txBody>
      </p:sp>
    </p:spTree>
    <p:extLst>
      <p:ext uri="{BB962C8B-B14F-4D97-AF65-F5344CB8AC3E}">
        <p14:creationId xmlns:p14="http://schemas.microsoft.com/office/powerpoint/2010/main" val="38101460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 Deviation-</a:t>
            </a:r>
            <a:r>
              <a:rPr lang="de-DE" dirty="0" err="1"/>
              <a:t>based</a:t>
            </a:r>
            <a:r>
              <a:rPr lang="de-DE" dirty="0"/>
              <a:t> </a:t>
            </a:r>
          </a:p>
          <a:p>
            <a:pPr marL="0" indent="0">
              <a:buFontTx/>
              <a:buNone/>
            </a:pPr>
            <a:r>
              <a:rPr lang="de-DE" dirty="0"/>
              <a:t>- </a:t>
            </a:r>
            <a:r>
              <a:rPr lang="de-DE" dirty="0" err="1"/>
              <a:t>Category-based</a:t>
            </a:r>
            <a:endParaRPr lang="de-DE" dirty="0"/>
          </a:p>
          <a:p>
            <a:pPr marL="0" indent="0">
              <a:buFontTx/>
              <a:buNone/>
            </a:pPr>
            <a:endParaRPr lang="de-DE" dirty="0"/>
          </a:p>
          <a:p>
            <a:pPr marL="171450" indent="-171450">
              <a:buFontTx/>
              <a:buChar char="-"/>
            </a:pPr>
            <a:r>
              <a:rPr lang="de-DE" dirty="0" err="1"/>
              <a:t>Agree</a:t>
            </a:r>
            <a:r>
              <a:rPr lang="de-DE" dirty="0"/>
              <a:t> on </a:t>
            </a:r>
            <a:r>
              <a:rPr lang="de-DE" dirty="0" err="1"/>
              <a:t>two</a:t>
            </a:r>
            <a:r>
              <a:rPr lang="de-DE" dirty="0"/>
              <a:t> </a:t>
            </a:r>
            <a:r>
              <a:rPr lang="de-DE" dirty="0" err="1"/>
              <a:t>things</a:t>
            </a:r>
            <a:r>
              <a:rPr lang="de-DE" dirty="0"/>
              <a:t>: </a:t>
            </a:r>
          </a:p>
          <a:p>
            <a:pPr marL="171450" indent="-171450">
              <a:buFontTx/>
              <a:buChar char="-"/>
            </a:pPr>
            <a:r>
              <a:rPr lang="de-DE" dirty="0" err="1"/>
              <a:t>Subjective</a:t>
            </a:r>
            <a:r>
              <a:rPr lang="de-DE" dirty="0"/>
              <a:t> and </a:t>
            </a:r>
            <a:r>
              <a:rPr lang="de-DE" dirty="0" err="1"/>
              <a:t>multifactorial</a:t>
            </a:r>
            <a:r>
              <a:rPr lang="de-DE" dirty="0"/>
              <a:t>/multidimensional (</a:t>
            </a:r>
            <a:r>
              <a:rPr lang="de-DE" dirty="0" err="1"/>
              <a:t>you</a:t>
            </a:r>
            <a:r>
              <a:rPr lang="de-DE" dirty="0"/>
              <a:t> </a:t>
            </a:r>
            <a:r>
              <a:rPr lang="de-DE" dirty="0" err="1"/>
              <a:t>dont</a:t>
            </a:r>
            <a:r>
              <a:rPr lang="de-DE" dirty="0"/>
              <a:t> </a:t>
            </a:r>
            <a:r>
              <a:rPr lang="de-DE" dirty="0" err="1"/>
              <a:t>know</a:t>
            </a:r>
            <a:r>
              <a:rPr lang="de-DE" dirty="0"/>
              <a:t> </a:t>
            </a:r>
            <a:r>
              <a:rPr lang="de-DE" dirty="0" err="1"/>
              <a:t>whic</a:t>
            </a:r>
            <a:r>
              <a:rPr lang="de-DE" dirty="0"/>
              <a:t> </a:t>
            </a:r>
            <a:r>
              <a:rPr lang="de-DE" dirty="0" err="1"/>
              <a:t>acoustic</a:t>
            </a:r>
            <a:r>
              <a:rPr lang="de-DE" dirty="0"/>
              <a:t> </a:t>
            </a:r>
            <a:r>
              <a:rPr lang="de-DE" dirty="0" err="1"/>
              <a:t>features</a:t>
            </a:r>
            <a:r>
              <a:rPr lang="de-DE" dirty="0"/>
              <a:t> </a:t>
            </a:r>
            <a:r>
              <a:rPr lang="de-DE" dirty="0" err="1"/>
              <a:t>listeners</a:t>
            </a:r>
            <a:r>
              <a:rPr lang="de-DE" dirty="0"/>
              <a:t> </a:t>
            </a:r>
            <a:r>
              <a:rPr lang="de-DE" dirty="0" err="1"/>
              <a:t>attend</a:t>
            </a:r>
            <a:r>
              <a:rPr lang="de-DE" dirty="0"/>
              <a:t> </a:t>
            </a:r>
            <a:r>
              <a:rPr lang="de-DE" dirty="0" err="1"/>
              <a:t>to</a:t>
            </a:r>
            <a:r>
              <a:rPr lang="de-DE" dirty="0"/>
              <a:t>)</a:t>
            </a:r>
          </a:p>
        </p:txBody>
      </p:sp>
      <p:sp>
        <p:nvSpPr>
          <p:cNvPr id="4" name="Foliennummernplatzhalter 3"/>
          <p:cNvSpPr>
            <a:spLocks noGrp="1"/>
          </p:cNvSpPr>
          <p:nvPr>
            <p:ph type="sldNum" sz="quarter" idx="5"/>
          </p:nvPr>
        </p:nvSpPr>
        <p:spPr/>
        <p:txBody>
          <a:bodyPr/>
          <a:lstStyle/>
          <a:p>
            <a:fld id="{5BDADD7A-5464-40FD-B5CC-4CA36D7CC1F5}" type="slidenum">
              <a:rPr lang="de-DE" smtClean="0"/>
              <a:t>9</a:t>
            </a:fld>
            <a:endParaRPr lang="de-DE"/>
          </a:p>
        </p:txBody>
      </p:sp>
    </p:spTree>
    <p:extLst>
      <p:ext uri="{BB962C8B-B14F-4D97-AF65-F5344CB8AC3E}">
        <p14:creationId xmlns:p14="http://schemas.microsoft.com/office/powerpoint/2010/main" val="3165254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buFontTx/>
              <a:buNone/>
            </a:pPr>
            <a:endParaRPr lang="de-DE" dirty="0"/>
          </a:p>
        </p:txBody>
      </p:sp>
      <p:sp>
        <p:nvSpPr>
          <p:cNvPr id="4" name="Foliennummernplatzhalter 3"/>
          <p:cNvSpPr>
            <a:spLocks noGrp="1"/>
          </p:cNvSpPr>
          <p:nvPr>
            <p:ph type="sldNum" sz="quarter" idx="5"/>
          </p:nvPr>
        </p:nvSpPr>
        <p:spPr/>
        <p:txBody>
          <a:bodyPr/>
          <a:lstStyle/>
          <a:p>
            <a:fld id="{5BDADD7A-5464-40FD-B5CC-4CA36D7CC1F5}" type="slidenum">
              <a:rPr lang="de-DE" smtClean="0"/>
              <a:t>10</a:t>
            </a:fld>
            <a:endParaRPr lang="de-DE"/>
          </a:p>
        </p:txBody>
      </p:sp>
    </p:spTree>
    <p:extLst>
      <p:ext uri="{BB962C8B-B14F-4D97-AF65-F5344CB8AC3E}">
        <p14:creationId xmlns:p14="http://schemas.microsoft.com/office/powerpoint/2010/main" val="626399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buFontTx/>
              <a:buNone/>
            </a:pPr>
            <a:endParaRPr lang="de-DE" dirty="0"/>
          </a:p>
        </p:txBody>
      </p:sp>
      <p:sp>
        <p:nvSpPr>
          <p:cNvPr id="4" name="Foliennummernplatzhalter 3"/>
          <p:cNvSpPr>
            <a:spLocks noGrp="1"/>
          </p:cNvSpPr>
          <p:nvPr>
            <p:ph type="sldNum" sz="quarter" idx="5"/>
          </p:nvPr>
        </p:nvSpPr>
        <p:spPr/>
        <p:txBody>
          <a:bodyPr/>
          <a:lstStyle/>
          <a:p>
            <a:fld id="{5BDADD7A-5464-40FD-B5CC-4CA36D7CC1F5}" type="slidenum">
              <a:rPr lang="de-DE" smtClean="0"/>
              <a:t>11</a:t>
            </a:fld>
            <a:endParaRPr lang="de-DE"/>
          </a:p>
        </p:txBody>
      </p:sp>
    </p:spTree>
    <p:extLst>
      <p:ext uri="{BB962C8B-B14F-4D97-AF65-F5344CB8AC3E}">
        <p14:creationId xmlns:p14="http://schemas.microsoft.com/office/powerpoint/2010/main" val="1739397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12</a:t>
            </a:fld>
            <a:endParaRPr lang="de-DE"/>
          </a:p>
        </p:txBody>
      </p:sp>
    </p:spTree>
    <p:extLst>
      <p:ext uri="{BB962C8B-B14F-4D97-AF65-F5344CB8AC3E}">
        <p14:creationId xmlns:p14="http://schemas.microsoft.com/office/powerpoint/2010/main" val="32430181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p:txBody>
      </p:sp>
      <p:sp>
        <p:nvSpPr>
          <p:cNvPr id="4" name="Foliennummernplatzhalter 3"/>
          <p:cNvSpPr>
            <a:spLocks noGrp="1"/>
          </p:cNvSpPr>
          <p:nvPr>
            <p:ph type="sldNum" sz="quarter" idx="5"/>
          </p:nvPr>
        </p:nvSpPr>
        <p:spPr/>
        <p:txBody>
          <a:bodyPr/>
          <a:lstStyle/>
          <a:p>
            <a:fld id="{5BDADD7A-5464-40FD-B5CC-4CA36D7CC1F5}" type="slidenum">
              <a:rPr lang="de-DE" smtClean="0"/>
              <a:t>13</a:t>
            </a:fld>
            <a:endParaRPr lang="de-DE"/>
          </a:p>
        </p:txBody>
      </p:sp>
    </p:spTree>
    <p:extLst>
      <p:ext uri="{BB962C8B-B14F-4D97-AF65-F5344CB8AC3E}">
        <p14:creationId xmlns:p14="http://schemas.microsoft.com/office/powerpoint/2010/main" val="29920738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p:txBody>
      </p:sp>
      <p:sp>
        <p:nvSpPr>
          <p:cNvPr id="4" name="Foliennummernplatzhalter 3"/>
          <p:cNvSpPr>
            <a:spLocks noGrp="1"/>
          </p:cNvSpPr>
          <p:nvPr>
            <p:ph type="sldNum" sz="quarter" idx="5"/>
          </p:nvPr>
        </p:nvSpPr>
        <p:spPr/>
        <p:txBody>
          <a:bodyPr/>
          <a:lstStyle/>
          <a:p>
            <a:fld id="{5BDADD7A-5464-40FD-B5CC-4CA36D7CC1F5}" type="slidenum">
              <a:rPr lang="de-DE" smtClean="0"/>
              <a:t>14</a:t>
            </a:fld>
            <a:endParaRPr lang="de-DE"/>
          </a:p>
        </p:txBody>
      </p:sp>
    </p:spTree>
    <p:extLst>
      <p:ext uri="{BB962C8B-B14F-4D97-AF65-F5344CB8AC3E}">
        <p14:creationId xmlns:p14="http://schemas.microsoft.com/office/powerpoint/2010/main" val="34416916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r>
              <a:rPr lang="de-DE" dirty="0" err="1"/>
              <a:t>ToDo</a:t>
            </a:r>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15</a:t>
            </a:fld>
            <a:endParaRPr lang="de-DE"/>
          </a:p>
        </p:txBody>
      </p:sp>
    </p:spTree>
    <p:extLst>
      <p:ext uri="{BB962C8B-B14F-4D97-AF65-F5344CB8AC3E}">
        <p14:creationId xmlns:p14="http://schemas.microsoft.com/office/powerpoint/2010/main" val="40600157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p:txBody>
      </p:sp>
      <p:sp>
        <p:nvSpPr>
          <p:cNvPr id="4" name="Foliennummernplatzhalter 3"/>
          <p:cNvSpPr>
            <a:spLocks noGrp="1"/>
          </p:cNvSpPr>
          <p:nvPr>
            <p:ph type="sldNum" sz="quarter" idx="5"/>
          </p:nvPr>
        </p:nvSpPr>
        <p:spPr/>
        <p:txBody>
          <a:bodyPr/>
          <a:lstStyle/>
          <a:p>
            <a:fld id="{5BDADD7A-5464-40FD-B5CC-4CA36D7CC1F5}" type="slidenum">
              <a:rPr lang="de-DE" smtClean="0"/>
              <a:t>16</a:t>
            </a:fld>
            <a:endParaRPr lang="de-DE"/>
          </a:p>
        </p:txBody>
      </p:sp>
    </p:spTree>
    <p:extLst>
      <p:ext uri="{BB962C8B-B14F-4D97-AF65-F5344CB8AC3E}">
        <p14:creationId xmlns:p14="http://schemas.microsoft.com/office/powerpoint/2010/main" val="20922975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17</a:t>
            </a:fld>
            <a:endParaRPr lang="de-DE"/>
          </a:p>
        </p:txBody>
      </p:sp>
    </p:spTree>
    <p:extLst>
      <p:ext uri="{BB962C8B-B14F-4D97-AF65-F5344CB8AC3E}">
        <p14:creationId xmlns:p14="http://schemas.microsoft.com/office/powerpoint/2010/main" val="34206022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18</a:t>
            </a:fld>
            <a:endParaRPr lang="de-DE"/>
          </a:p>
        </p:txBody>
      </p:sp>
    </p:spTree>
    <p:extLst>
      <p:ext uri="{BB962C8B-B14F-4D97-AF65-F5344CB8AC3E}">
        <p14:creationId xmlns:p14="http://schemas.microsoft.com/office/powerpoint/2010/main" val="25230073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52E5A-8F31-5A10-E4F2-C7E3B33B1F0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13B76FD-5713-F029-11F1-145B681326E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554D2FB-BD26-5DDD-4172-30347B98928B}"/>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6FD89D2F-1F81-BFA5-5050-743A95095B2E}"/>
              </a:ext>
            </a:extLst>
          </p:cNvPr>
          <p:cNvSpPr>
            <a:spLocks noGrp="1"/>
          </p:cNvSpPr>
          <p:nvPr>
            <p:ph type="sldNum" sz="quarter" idx="5"/>
          </p:nvPr>
        </p:nvSpPr>
        <p:spPr/>
        <p:txBody>
          <a:bodyPr/>
          <a:lstStyle/>
          <a:p>
            <a:fld id="{5BDADD7A-5464-40FD-B5CC-4CA36D7CC1F5}" type="slidenum">
              <a:rPr lang="de-DE" smtClean="0"/>
              <a:t>19</a:t>
            </a:fld>
            <a:endParaRPr lang="de-DE"/>
          </a:p>
        </p:txBody>
      </p:sp>
    </p:spTree>
    <p:extLst>
      <p:ext uri="{BB962C8B-B14F-4D97-AF65-F5344CB8AC3E}">
        <p14:creationId xmlns:p14="http://schemas.microsoft.com/office/powerpoint/2010/main" val="8523639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20</a:t>
            </a:fld>
            <a:endParaRPr lang="de-DE"/>
          </a:p>
        </p:txBody>
      </p:sp>
    </p:spTree>
    <p:extLst>
      <p:ext uri="{BB962C8B-B14F-4D97-AF65-F5344CB8AC3E}">
        <p14:creationId xmlns:p14="http://schemas.microsoft.com/office/powerpoint/2010/main" val="35894497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21</a:t>
            </a:fld>
            <a:endParaRPr lang="de-DE"/>
          </a:p>
        </p:txBody>
      </p:sp>
    </p:spTree>
    <p:extLst>
      <p:ext uri="{BB962C8B-B14F-4D97-AF65-F5344CB8AC3E}">
        <p14:creationId xmlns:p14="http://schemas.microsoft.com/office/powerpoint/2010/main" val="3312712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22</a:t>
            </a:fld>
            <a:endParaRPr lang="de-DE"/>
          </a:p>
        </p:txBody>
      </p:sp>
    </p:spTree>
    <p:extLst>
      <p:ext uri="{BB962C8B-B14F-4D97-AF65-F5344CB8AC3E}">
        <p14:creationId xmlns:p14="http://schemas.microsoft.com/office/powerpoint/2010/main" val="24115720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23</a:t>
            </a:fld>
            <a:endParaRPr lang="de-DE"/>
          </a:p>
        </p:txBody>
      </p:sp>
    </p:spTree>
    <p:extLst>
      <p:ext uri="{BB962C8B-B14F-4D97-AF65-F5344CB8AC3E}">
        <p14:creationId xmlns:p14="http://schemas.microsoft.com/office/powerpoint/2010/main" val="36189939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BBEA0-619F-1C01-462E-0BCCE372FF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A8480D-B5E9-2FD7-6433-ECED7DD9656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3CDBDB2-DC43-07D7-1500-FABEACDD1839}"/>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0D59498-C50C-FAC8-F3E4-AA34B4FA5902}"/>
              </a:ext>
            </a:extLst>
          </p:cNvPr>
          <p:cNvSpPr>
            <a:spLocks noGrp="1"/>
          </p:cNvSpPr>
          <p:nvPr>
            <p:ph type="sldNum" sz="quarter" idx="5"/>
          </p:nvPr>
        </p:nvSpPr>
        <p:spPr/>
        <p:txBody>
          <a:bodyPr/>
          <a:lstStyle/>
          <a:p>
            <a:fld id="{5BDADD7A-5464-40FD-B5CC-4CA36D7CC1F5}" type="slidenum">
              <a:rPr lang="de-DE" smtClean="0"/>
              <a:t>24</a:t>
            </a:fld>
            <a:endParaRPr lang="de-DE"/>
          </a:p>
        </p:txBody>
      </p:sp>
    </p:spTree>
    <p:extLst>
      <p:ext uri="{BB962C8B-B14F-4D97-AF65-F5344CB8AC3E}">
        <p14:creationId xmlns:p14="http://schemas.microsoft.com/office/powerpoint/2010/main" val="41042573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BD0F7-3EA9-3E40-1E1D-63DA6169471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94D3364-51A3-A1A4-70D4-6ECCE7A4822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38C39D7-5EE5-536D-5E84-7FD78AC6AC18}"/>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F2E2E0EF-F69E-B87C-9F73-4B4AAF08E94B}"/>
              </a:ext>
            </a:extLst>
          </p:cNvPr>
          <p:cNvSpPr>
            <a:spLocks noGrp="1"/>
          </p:cNvSpPr>
          <p:nvPr>
            <p:ph type="sldNum" sz="quarter" idx="5"/>
          </p:nvPr>
        </p:nvSpPr>
        <p:spPr/>
        <p:txBody>
          <a:bodyPr/>
          <a:lstStyle/>
          <a:p>
            <a:fld id="{5BDADD7A-5464-40FD-B5CC-4CA36D7CC1F5}" type="slidenum">
              <a:rPr lang="de-DE" smtClean="0"/>
              <a:t>25</a:t>
            </a:fld>
            <a:endParaRPr lang="de-DE"/>
          </a:p>
        </p:txBody>
      </p:sp>
    </p:spTree>
    <p:extLst>
      <p:ext uri="{BB962C8B-B14F-4D97-AF65-F5344CB8AC3E}">
        <p14:creationId xmlns:p14="http://schemas.microsoft.com/office/powerpoint/2010/main" val="18554532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08C26-3A38-7F5A-562B-35388DCC731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D2C5E9B-AE0F-00B9-C76B-F042E1FADB5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4933849-D8BE-7B45-55F6-E5B5C3321BDF}"/>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1B151728-795B-50AD-D52B-4C13CFBA452C}"/>
              </a:ext>
            </a:extLst>
          </p:cNvPr>
          <p:cNvSpPr>
            <a:spLocks noGrp="1"/>
          </p:cNvSpPr>
          <p:nvPr>
            <p:ph type="sldNum" sz="quarter" idx="5"/>
          </p:nvPr>
        </p:nvSpPr>
        <p:spPr/>
        <p:txBody>
          <a:bodyPr/>
          <a:lstStyle/>
          <a:p>
            <a:fld id="{5BDADD7A-5464-40FD-B5CC-4CA36D7CC1F5}" type="slidenum">
              <a:rPr lang="de-DE" smtClean="0"/>
              <a:t>26</a:t>
            </a:fld>
            <a:endParaRPr lang="de-DE"/>
          </a:p>
        </p:txBody>
      </p:sp>
    </p:spTree>
    <p:extLst>
      <p:ext uri="{BB962C8B-B14F-4D97-AF65-F5344CB8AC3E}">
        <p14:creationId xmlns:p14="http://schemas.microsoft.com/office/powerpoint/2010/main" val="41438725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5BDADD7A-5464-40FD-B5CC-4CA36D7CC1F5}" type="slidenum">
              <a:rPr lang="de-DE" smtClean="0"/>
              <a:t>27</a:t>
            </a:fld>
            <a:endParaRPr lang="de-DE"/>
          </a:p>
        </p:txBody>
      </p:sp>
    </p:spTree>
    <p:extLst>
      <p:ext uri="{BB962C8B-B14F-4D97-AF65-F5344CB8AC3E}">
        <p14:creationId xmlns:p14="http://schemas.microsoft.com/office/powerpoint/2010/main" val="2454134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F5EB3-E294-FFEC-BE71-24E4DB4DF96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346B5F-071C-825F-B6FC-187BF6906CD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6A1BD15-BC48-A1EE-BE5E-65EB58ED2A75}"/>
              </a:ext>
            </a:extLst>
          </p:cNvPr>
          <p:cNvSpPr>
            <a:spLocks noGrp="1"/>
          </p:cNvSpPr>
          <p:nvPr>
            <p:ph type="body" idx="1"/>
          </p:nvPr>
        </p:nvSpPr>
        <p:spPr/>
        <p:txBody>
          <a:bodyPr/>
          <a:lstStyle/>
          <a:p>
            <a:pPr marL="171450" indent="-171450">
              <a:buFont typeface="Wingdings" panose="05000000000000000000" pitchFamily="2" charset="2"/>
              <a:buChar char="è"/>
            </a:pPr>
            <a:r>
              <a:rPr lang="de-DE" dirty="0" err="1"/>
              <a:t>Where</a:t>
            </a:r>
            <a:r>
              <a:rPr lang="de-DE" dirty="0"/>
              <a:t> </a:t>
            </a:r>
            <a:r>
              <a:rPr lang="de-DE" dirty="0" err="1"/>
              <a:t>does</a:t>
            </a:r>
            <a:r>
              <a:rPr lang="de-DE" dirty="0"/>
              <a:t> </a:t>
            </a:r>
            <a:r>
              <a:rPr lang="de-DE" dirty="0" err="1"/>
              <a:t>naturalness</a:t>
            </a:r>
            <a:r>
              <a:rPr lang="de-DE" dirty="0"/>
              <a:t> </a:t>
            </a:r>
            <a:r>
              <a:rPr lang="de-DE" dirty="0" err="1"/>
              <a:t>affect</a:t>
            </a:r>
            <a:r>
              <a:rPr lang="de-DE" dirty="0"/>
              <a:t> </a:t>
            </a:r>
            <a:r>
              <a:rPr lang="de-DE" dirty="0" err="1"/>
              <a:t>the</a:t>
            </a:r>
            <a:r>
              <a:rPr lang="de-DE" dirty="0"/>
              <a:t> </a:t>
            </a:r>
            <a:r>
              <a:rPr lang="de-DE" dirty="0" err="1"/>
              <a:t>processing</a:t>
            </a:r>
            <a:r>
              <a:rPr lang="de-DE" dirty="0"/>
              <a:t> </a:t>
            </a:r>
            <a:r>
              <a:rPr lang="de-DE" dirty="0" err="1"/>
              <a:t>pipeline</a:t>
            </a:r>
            <a:r>
              <a:rPr lang="de-DE" dirty="0"/>
              <a:t>?</a:t>
            </a:r>
          </a:p>
        </p:txBody>
      </p:sp>
      <p:sp>
        <p:nvSpPr>
          <p:cNvPr id="4" name="Foliennummernplatzhalter 3">
            <a:extLst>
              <a:ext uri="{FF2B5EF4-FFF2-40B4-BE49-F238E27FC236}">
                <a16:creationId xmlns:a16="http://schemas.microsoft.com/office/drawing/2014/main" id="{BE9E9BEA-8EFC-1170-B87A-673061B009B6}"/>
              </a:ext>
            </a:extLst>
          </p:cNvPr>
          <p:cNvSpPr>
            <a:spLocks noGrp="1"/>
          </p:cNvSpPr>
          <p:nvPr>
            <p:ph type="sldNum" sz="quarter" idx="5"/>
          </p:nvPr>
        </p:nvSpPr>
        <p:spPr/>
        <p:txBody>
          <a:bodyPr/>
          <a:lstStyle/>
          <a:p>
            <a:fld id="{5BDADD7A-5464-40FD-B5CC-4CA36D7CC1F5}" type="slidenum">
              <a:rPr lang="de-DE" smtClean="0"/>
              <a:t>28</a:t>
            </a:fld>
            <a:endParaRPr lang="de-DE"/>
          </a:p>
        </p:txBody>
      </p:sp>
    </p:spTree>
    <p:extLst>
      <p:ext uri="{BB962C8B-B14F-4D97-AF65-F5344CB8AC3E}">
        <p14:creationId xmlns:p14="http://schemas.microsoft.com/office/powerpoint/2010/main" val="27017415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86302-78E3-2FB2-2F2D-7752ACFF297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022094E-97F4-4C5A-67F9-8F06B3A275E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ADCD5D5-569C-9455-060E-996F1B3F86E2}"/>
              </a:ext>
            </a:extLst>
          </p:cNvPr>
          <p:cNvSpPr>
            <a:spLocks noGrp="1"/>
          </p:cNvSpPr>
          <p:nvPr>
            <p:ph type="body" idx="1"/>
          </p:nvPr>
        </p:nvSpPr>
        <p:spPr/>
        <p:txBody>
          <a:bodyPr/>
          <a:lstStyle/>
          <a:p>
            <a:pPr marL="171450" indent="-171450">
              <a:buFont typeface="Wingdings" panose="05000000000000000000" pitchFamily="2" charset="2"/>
              <a:buChar char="è"/>
            </a:pPr>
            <a:r>
              <a:rPr lang="de-DE" dirty="0" err="1"/>
              <a:t>Where</a:t>
            </a:r>
            <a:r>
              <a:rPr lang="de-DE" dirty="0"/>
              <a:t> </a:t>
            </a:r>
            <a:r>
              <a:rPr lang="de-DE" dirty="0" err="1"/>
              <a:t>does</a:t>
            </a:r>
            <a:r>
              <a:rPr lang="de-DE" dirty="0"/>
              <a:t> </a:t>
            </a:r>
            <a:r>
              <a:rPr lang="de-DE" dirty="0" err="1"/>
              <a:t>naturalness</a:t>
            </a:r>
            <a:r>
              <a:rPr lang="de-DE" dirty="0"/>
              <a:t> </a:t>
            </a:r>
            <a:r>
              <a:rPr lang="de-DE" dirty="0" err="1"/>
              <a:t>affect</a:t>
            </a:r>
            <a:r>
              <a:rPr lang="de-DE" dirty="0"/>
              <a:t> </a:t>
            </a:r>
            <a:r>
              <a:rPr lang="de-DE" dirty="0" err="1"/>
              <a:t>the</a:t>
            </a:r>
            <a:r>
              <a:rPr lang="de-DE" dirty="0"/>
              <a:t> </a:t>
            </a:r>
            <a:r>
              <a:rPr lang="de-DE" dirty="0" err="1"/>
              <a:t>processing</a:t>
            </a:r>
            <a:r>
              <a:rPr lang="de-DE" dirty="0"/>
              <a:t> </a:t>
            </a:r>
            <a:r>
              <a:rPr lang="de-DE" dirty="0" err="1"/>
              <a:t>pipeline</a:t>
            </a:r>
            <a:r>
              <a:rPr lang="de-DE" dirty="0"/>
              <a:t>?</a:t>
            </a:r>
          </a:p>
        </p:txBody>
      </p:sp>
      <p:sp>
        <p:nvSpPr>
          <p:cNvPr id="4" name="Foliennummernplatzhalter 3">
            <a:extLst>
              <a:ext uri="{FF2B5EF4-FFF2-40B4-BE49-F238E27FC236}">
                <a16:creationId xmlns:a16="http://schemas.microsoft.com/office/drawing/2014/main" id="{07205825-012B-70EE-5C6C-588A125DCCF4}"/>
              </a:ext>
            </a:extLst>
          </p:cNvPr>
          <p:cNvSpPr>
            <a:spLocks noGrp="1"/>
          </p:cNvSpPr>
          <p:nvPr>
            <p:ph type="sldNum" sz="quarter" idx="5"/>
          </p:nvPr>
        </p:nvSpPr>
        <p:spPr/>
        <p:txBody>
          <a:bodyPr/>
          <a:lstStyle/>
          <a:p>
            <a:fld id="{5BDADD7A-5464-40FD-B5CC-4CA36D7CC1F5}" type="slidenum">
              <a:rPr lang="de-DE" smtClean="0"/>
              <a:t>29</a:t>
            </a:fld>
            <a:endParaRPr lang="de-DE"/>
          </a:p>
        </p:txBody>
      </p:sp>
    </p:spTree>
    <p:extLst>
      <p:ext uri="{BB962C8B-B14F-4D97-AF65-F5344CB8AC3E}">
        <p14:creationId xmlns:p14="http://schemas.microsoft.com/office/powerpoint/2010/main" val="30291810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err="1"/>
              <a:t>Good</a:t>
            </a:r>
            <a:r>
              <a:rPr lang="de-DE" dirty="0"/>
              <a:t> </a:t>
            </a:r>
            <a:r>
              <a:rPr lang="de-DE" dirty="0" err="1"/>
              <a:t>starting</a:t>
            </a:r>
            <a:r>
              <a:rPr lang="de-DE" dirty="0"/>
              <a:t> </a:t>
            </a:r>
            <a:r>
              <a:rPr lang="de-DE" dirty="0" err="1"/>
              <a:t>point</a:t>
            </a:r>
            <a:endParaRPr lang="de-DE"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err="1"/>
              <a:t>We</a:t>
            </a:r>
            <a:r>
              <a:rPr lang="de-DE" dirty="0"/>
              <a:t> form </a:t>
            </a:r>
            <a:r>
              <a:rPr lang="de-DE" dirty="0" err="1"/>
              <a:t>impressions</a:t>
            </a:r>
            <a:r>
              <a:rPr lang="de-DE" dirty="0"/>
              <a:t> </a:t>
            </a:r>
            <a:r>
              <a:rPr lang="de-DE" dirty="0" err="1"/>
              <a:t>about</a:t>
            </a:r>
            <a:r>
              <a:rPr lang="de-DE" dirty="0"/>
              <a:t> </a:t>
            </a:r>
            <a:r>
              <a:rPr lang="de-DE" dirty="0" err="1"/>
              <a:t>voices</a:t>
            </a:r>
            <a:r>
              <a:rPr lang="de-DE" dirty="0"/>
              <a:t> </a:t>
            </a:r>
            <a:r>
              <a:rPr lang="de-DE" dirty="0" err="1"/>
              <a:t>the</a:t>
            </a:r>
            <a:r>
              <a:rPr lang="de-DE" dirty="0"/>
              <a:t> </a:t>
            </a:r>
            <a:r>
              <a:rPr lang="de-DE" dirty="0" err="1"/>
              <a:t>moment</a:t>
            </a:r>
            <a:r>
              <a:rPr lang="de-DE" dirty="0"/>
              <a:t> </a:t>
            </a:r>
            <a:r>
              <a:rPr lang="de-DE" dirty="0" err="1"/>
              <a:t>we</a:t>
            </a:r>
            <a:r>
              <a:rPr lang="de-DE" dirty="0"/>
              <a:t> </a:t>
            </a:r>
            <a:r>
              <a:rPr lang="de-DE" dirty="0" err="1"/>
              <a:t>hear</a:t>
            </a:r>
            <a:r>
              <a:rPr lang="de-DE" dirty="0"/>
              <a:t> </a:t>
            </a:r>
            <a:r>
              <a:rPr lang="de-DE" dirty="0" err="1"/>
              <a:t>them</a:t>
            </a:r>
            <a:endParaRPr lang="de-DE"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err="1"/>
              <a:t>Manifold</a:t>
            </a:r>
            <a:r>
              <a:rPr lang="de-DE" dirty="0"/>
              <a:t>, and </a:t>
            </a:r>
            <a:r>
              <a:rPr lang="de-DE" dirty="0" err="1"/>
              <a:t>they</a:t>
            </a:r>
            <a:r>
              <a:rPr lang="de-DE" dirty="0"/>
              <a:t> </a:t>
            </a:r>
            <a:r>
              <a:rPr lang="de-DE" dirty="0" err="1"/>
              <a:t>interact</a:t>
            </a:r>
            <a:endParaRPr lang="de-DE"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de-DE" dirty="0"/>
              <a:t>I </a:t>
            </a:r>
            <a:r>
              <a:rPr lang="de-DE" dirty="0" err="1"/>
              <a:t>added</a:t>
            </a:r>
            <a:r>
              <a:rPr lang="de-DE" dirty="0"/>
              <a:t> </a:t>
            </a:r>
            <a:r>
              <a:rPr lang="de-DE" dirty="0" err="1"/>
              <a:t>two</a:t>
            </a:r>
            <a:r>
              <a:rPr lang="de-DE" dirty="0"/>
              <a:t>…</a:t>
            </a:r>
          </a:p>
          <a:p>
            <a:pPr marL="171450" indent="-171450">
              <a:buFontTx/>
              <a:buChar char="-"/>
            </a:pPr>
            <a:r>
              <a:rPr lang="de-DE" dirty="0"/>
              <a:t>„</a:t>
            </a:r>
            <a:r>
              <a:rPr lang="en-US" sz="1200" b="0" i="0" u="none" strike="noStrike" kern="1200" baseline="0" dirty="0">
                <a:solidFill>
                  <a:schemeClr val="tx1"/>
                </a:solidFill>
                <a:latin typeface="+mn-lt"/>
                <a:ea typeface="+mn-ea"/>
                <a:cs typeface="+mn-cs"/>
              </a:rPr>
              <a:t>When hearing a voice, listeners can form a detailed impression of the person behind the </a:t>
            </a:r>
            <a:r>
              <a:rPr lang="de-DE" sz="1200" b="0" i="0" u="none" strike="noStrike" kern="1200" baseline="0" dirty="0" err="1">
                <a:solidFill>
                  <a:schemeClr val="tx1"/>
                </a:solidFill>
                <a:latin typeface="+mn-lt"/>
                <a:ea typeface="+mn-ea"/>
                <a:cs typeface="+mn-cs"/>
              </a:rPr>
              <a:t>voice</a:t>
            </a:r>
            <a:r>
              <a:rPr lang="de-DE" sz="1200" b="0" i="0" u="none" strike="noStrike" kern="1200" baseline="0" dirty="0">
                <a:solidFill>
                  <a:schemeClr val="tx1"/>
                </a:solidFill>
                <a:latin typeface="+mn-lt"/>
                <a:ea typeface="+mn-ea"/>
                <a:cs typeface="+mn-cs"/>
              </a:rPr>
              <a:t>. </a:t>
            </a:r>
            <a:r>
              <a:rPr lang="de-DE" dirty="0"/>
              <a:t>“</a:t>
            </a:r>
          </a:p>
          <a:p>
            <a:r>
              <a:rPr lang="de-DE" dirty="0"/>
              <a:t>- “</a:t>
            </a:r>
            <a:r>
              <a:rPr lang="de-DE" sz="1200" b="0" i="0" u="none" strike="noStrike" kern="1200" baseline="0" dirty="0" err="1">
                <a:solidFill>
                  <a:schemeClr val="tx1"/>
                </a:solidFill>
                <a:latin typeface="+mn-lt"/>
                <a:ea typeface="+mn-ea"/>
                <a:cs typeface="+mn-cs"/>
              </a:rPr>
              <a:t>how</a:t>
            </a:r>
            <a:r>
              <a:rPr lang="de-DE" sz="1200" b="0" i="0" u="none" strike="noStrike" kern="1200" baseline="0" dirty="0">
                <a:solidFill>
                  <a:schemeClr val="tx1"/>
                </a:solidFill>
                <a:latin typeface="+mn-lt"/>
                <a:ea typeface="+mn-ea"/>
                <a:cs typeface="+mn-cs"/>
              </a:rPr>
              <a:t> </a:t>
            </a:r>
            <a:r>
              <a:rPr lang="de-DE" sz="1200" b="0" i="0" u="none" strike="noStrike" kern="1200" baseline="0" dirty="0" err="1">
                <a:solidFill>
                  <a:schemeClr val="tx1"/>
                </a:solidFill>
                <a:latin typeface="+mn-lt"/>
                <a:ea typeface="+mn-ea"/>
                <a:cs typeface="+mn-cs"/>
              </a:rPr>
              <a:t>the</a:t>
            </a:r>
            <a:r>
              <a:rPr lang="de-DE" sz="1200" b="0" i="0" u="none" strike="noStrike" kern="1200" baseline="0" dirty="0">
                <a:solidFill>
                  <a:schemeClr val="tx1"/>
                </a:solidFill>
                <a:latin typeface="+mn-lt"/>
                <a:ea typeface="+mn-ea"/>
                <a:cs typeface="+mn-cs"/>
              </a:rPr>
              <a:t> </a:t>
            </a:r>
            <a:r>
              <a:rPr lang="en-US" sz="1200" b="0" i="0" u="none" strike="noStrike" kern="1200" baseline="0" dirty="0">
                <a:solidFill>
                  <a:schemeClr val="tx1"/>
                </a:solidFill>
                <a:latin typeface="+mn-lt"/>
                <a:ea typeface="+mn-ea"/>
                <a:cs typeface="+mn-cs"/>
              </a:rPr>
              <a:t>perception of different person characteristics may interact and </a:t>
            </a:r>
            <a:r>
              <a:rPr lang="de-DE" sz="1200" b="0" i="0" u="none" strike="noStrike" kern="1200" baseline="0" dirty="0" err="1">
                <a:solidFill>
                  <a:schemeClr val="tx1"/>
                </a:solidFill>
                <a:latin typeface="+mn-lt"/>
                <a:ea typeface="+mn-ea"/>
                <a:cs typeface="+mn-cs"/>
              </a:rPr>
              <a:t>inform</a:t>
            </a:r>
            <a:r>
              <a:rPr lang="de-DE" sz="1200" b="0" i="0" u="none" strike="noStrike" kern="1200" baseline="0" dirty="0">
                <a:solidFill>
                  <a:schemeClr val="tx1"/>
                </a:solidFill>
                <a:latin typeface="+mn-lt"/>
                <a:ea typeface="+mn-ea"/>
                <a:cs typeface="+mn-cs"/>
              </a:rPr>
              <a:t> </a:t>
            </a:r>
            <a:r>
              <a:rPr lang="de-DE" sz="1200" b="0" i="0" u="none" strike="noStrike" kern="1200" baseline="0" dirty="0" err="1">
                <a:solidFill>
                  <a:schemeClr val="tx1"/>
                </a:solidFill>
                <a:latin typeface="+mn-lt"/>
                <a:ea typeface="+mn-ea"/>
                <a:cs typeface="+mn-cs"/>
              </a:rPr>
              <a:t>each</a:t>
            </a:r>
            <a:r>
              <a:rPr lang="de-DE" sz="1200" b="0" i="0" u="none" strike="noStrike" kern="1200" baseline="0" dirty="0">
                <a:solidFill>
                  <a:schemeClr val="tx1"/>
                </a:solidFill>
                <a:latin typeface="+mn-lt"/>
                <a:ea typeface="+mn-ea"/>
                <a:cs typeface="+mn-cs"/>
              </a:rPr>
              <a:t> </a:t>
            </a:r>
            <a:r>
              <a:rPr lang="de-DE" sz="1200" b="0" i="0" u="none" strike="noStrike" kern="1200" baseline="0" dirty="0" err="1">
                <a:solidFill>
                  <a:schemeClr val="tx1"/>
                </a:solidFill>
                <a:latin typeface="+mn-lt"/>
                <a:ea typeface="+mn-ea"/>
                <a:cs typeface="+mn-cs"/>
              </a:rPr>
              <a:t>other</a:t>
            </a:r>
            <a:r>
              <a:rPr lang="de-DE" sz="1200" b="0" i="0" u="none" strike="noStrike" kern="1200" baseline="0" dirty="0">
                <a:solidFill>
                  <a:schemeClr val="tx1"/>
                </a:solidFill>
                <a:latin typeface="+mn-lt"/>
                <a:ea typeface="+mn-ea"/>
                <a:cs typeface="+mn-cs"/>
              </a:rPr>
              <a:t>,</a:t>
            </a:r>
            <a:r>
              <a:rPr lang="de-DE"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-&gt; Theory </a:t>
            </a:r>
            <a:r>
              <a:rPr lang="de-DE" dirty="0" err="1"/>
              <a:t>driven</a:t>
            </a:r>
            <a:r>
              <a:rPr lang="de-DE" dirty="0"/>
              <a:t> </a:t>
            </a:r>
            <a:r>
              <a:rPr lang="de-DE" dirty="0" err="1"/>
              <a:t>thinking</a:t>
            </a:r>
            <a:r>
              <a:rPr lang="de-DE" dirty="0"/>
              <a:t> </a:t>
            </a:r>
            <a:r>
              <a:rPr lang="de-DE" dirty="0" err="1"/>
              <a:t>may</a:t>
            </a:r>
            <a:r>
              <a:rPr lang="de-DE" dirty="0"/>
              <a:t> prompt </a:t>
            </a:r>
            <a:r>
              <a:rPr lang="de-DE" dirty="0" err="1"/>
              <a:t>some</a:t>
            </a:r>
            <a:r>
              <a:rPr lang="de-DE" dirty="0"/>
              <a:t> </a:t>
            </a:r>
            <a:r>
              <a:rPr lang="de-DE" dirty="0" err="1"/>
              <a:t>obvious</a:t>
            </a:r>
            <a:r>
              <a:rPr lang="de-DE" dirty="0"/>
              <a:t> </a:t>
            </a:r>
            <a:r>
              <a:rPr lang="de-DE" dirty="0" err="1"/>
              <a:t>research</a:t>
            </a:r>
            <a:r>
              <a:rPr lang="de-DE" dirty="0"/>
              <a:t> </a:t>
            </a:r>
            <a:r>
              <a:rPr lang="de-DE" dirty="0" err="1"/>
              <a:t>questions</a:t>
            </a:r>
            <a:r>
              <a:rPr lang="de-DE" dirty="0"/>
              <a:t> </a:t>
            </a:r>
            <a:r>
              <a:rPr lang="de-DE" dirty="0" err="1"/>
              <a:t>that</a:t>
            </a:r>
            <a:r>
              <a:rPr lang="de-DE" dirty="0"/>
              <a:t> </a:t>
            </a:r>
            <a:r>
              <a:rPr lang="de-DE" dirty="0" err="1"/>
              <a:t>have</a:t>
            </a:r>
            <a:r>
              <a:rPr lang="de-DE" dirty="0"/>
              <a:t> not </a:t>
            </a:r>
            <a:r>
              <a:rPr lang="de-DE" dirty="0" err="1"/>
              <a:t>been</a:t>
            </a:r>
            <a:r>
              <a:rPr lang="de-DE" dirty="0"/>
              <a:t> </a:t>
            </a:r>
            <a:r>
              <a:rPr lang="de-DE" dirty="0" err="1"/>
              <a:t>answered</a:t>
            </a:r>
            <a:r>
              <a:rPr lang="de-DE" dirty="0"/>
              <a:t> </a:t>
            </a:r>
            <a:r>
              <a:rPr lang="de-DE" dirty="0" err="1"/>
              <a:t>yet</a:t>
            </a:r>
            <a:endParaRPr lang="de-DE" dirty="0"/>
          </a:p>
          <a:p>
            <a:pPr marL="0" indent="0">
              <a:buFontTx/>
              <a:buNone/>
            </a:pPr>
            <a:endParaRPr lang="de-DE" dirty="0"/>
          </a:p>
        </p:txBody>
      </p:sp>
      <p:sp>
        <p:nvSpPr>
          <p:cNvPr id="4" name="Foliennummernplatzhalter 3"/>
          <p:cNvSpPr>
            <a:spLocks noGrp="1"/>
          </p:cNvSpPr>
          <p:nvPr>
            <p:ph type="sldNum" sz="quarter" idx="5"/>
          </p:nvPr>
        </p:nvSpPr>
        <p:spPr/>
        <p:txBody>
          <a:bodyPr/>
          <a:lstStyle/>
          <a:p>
            <a:fld id="{5BDADD7A-5464-40FD-B5CC-4CA36D7CC1F5}" type="slidenum">
              <a:rPr lang="de-DE" smtClean="0"/>
              <a:t>30</a:t>
            </a:fld>
            <a:endParaRPr lang="de-DE"/>
          </a:p>
        </p:txBody>
      </p:sp>
    </p:spTree>
    <p:extLst>
      <p:ext uri="{BB962C8B-B14F-4D97-AF65-F5344CB8AC3E}">
        <p14:creationId xmlns:p14="http://schemas.microsoft.com/office/powerpoint/2010/main" val="6263998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haltsseite">
    <p:spTree>
      <p:nvGrpSpPr>
        <p:cNvPr id="1" name=""/>
        <p:cNvGrpSpPr/>
        <p:nvPr/>
      </p:nvGrpSpPr>
      <p:grpSpPr>
        <a:xfrm>
          <a:off x="0" y="0"/>
          <a:ext cx="0" cy="0"/>
          <a:chOff x="0" y="0"/>
          <a:chExt cx="0" cy="0"/>
        </a:xfrm>
      </p:grpSpPr>
      <p:sp>
        <p:nvSpPr>
          <p:cNvPr id="2" name="Rechteck 1"/>
          <p:cNvSpPr/>
          <p:nvPr userDrawn="1"/>
        </p:nvSpPr>
        <p:spPr>
          <a:xfrm flipV="1">
            <a:off x="-1" y="4500000"/>
            <a:ext cx="3442500" cy="3960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pic>
        <p:nvPicPr>
          <p:cNvPr id="7" name="Grafik 6"/>
          <p:cNvPicPr preferRelativeResize="0">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3430787" y="4500000"/>
            <a:ext cx="3429000" cy="39600"/>
          </a:xfrm>
          <a:prstGeom prst="rect">
            <a:avLst/>
          </a:prstGeom>
        </p:spPr>
      </p:pic>
      <p:sp>
        <p:nvSpPr>
          <p:cNvPr id="9" name="Textplatzhalter 24"/>
          <p:cNvSpPr>
            <a:spLocks noGrp="1"/>
          </p:cNvSpPr>
          <p:nvPr>
            <p:ph type="body" sz="quarter" idx="11" hasCustomPrompt="1"/>
          </p:nvPr>
        </p:nvSpPr>
        <p:spPr>
          <a:xfrm>
            <a:off x="2249685" y="4719770"/>
            <a:ext cx="4266010" cy="144000"/>
          </a:xfrm>
        </p:spPr>
        <p:txBody>
          <a:bodyPr>
            <a:noAutofit/>
          </a:bodyPr>
          <a:lstStyle>
            <a:lvl1pPr marL="0" indent="0" algn="r">
              <a:buFontTx/>
              <a:buNone/>
              <a:defRPr lang="de-DE" sz="75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r>
              <a:rPr lang="en-US" sz="800" dirty="0"/>
              <a:t>Naturalness in Voices</a:t>
            </a:r>
            <a:endParaRPr lang="de-DE" dirty="0"/>
          </a:p>
        </p:txBody>
      </p:sp>
      <p:sp>
        <p:nvSpPr>
          <p:cNvPr id="6" name="Textplatzhalter 24"/>
          <p:cNvSpPr txBox="1">
            <a:spLocks/>
          </p:cNvSpPr>
          <p:nvPr userDrawn="1"/>
        </p:nvSpPr>
        <p:spPr>
          <a:xfrm>
            <a:off x="2641231" y="4884575"/>
            <a:ext cx="3874464" cy="154205"/>
          </a:xfrm>
          <a:prstGeom prst="rect">
            <a:avLst/>
          </a:prstGeom>
        </p:spPr>
        <p:txBody>
          <a:bodyPr lIns="0" tIns="0" rIns="0" bIns="0">
            <a:noAutofit/>
          </a:bodyPr>
          <a:lstStyle>
            <a:lvl1pPr marL="0" marR="0" indent="0" algn="r" defTabSz="914400" rtl="0" eaLnBrk="1" fontAlgn="auto" latinLnBrk="0" hangingPunct="1">
              <a:lnSpc>
                <a:spcPct val="100000"/>
              </a:lnSpc>
              <a:spcBef>
                <a:spcPct val="20000"/>
              </a:spcBef>
              <a:spcAft>
                <a:spcPts val="0"/>
              </a:spcAft>
              <a:buClrTx/>
              <a:buSzTx/>
              <a:buFontTx/>
              <a:buNone/>
              <a:tabLst/>
              <a:defRPr lang="de-DE" sz="1000" kern="1200" baseline="0" dirty="0">
                <a:solidFill>
                  <a:schemeClr val="tx2"/>
                </a:solidFill>
                <a:latin typeface="Roboto Condensed" panose="02000000000000000000" pitchFamily="2" charset="0"/>
                <a:ea typeface="Roboto Condensed" panose="02000000000000000000" pitchFamily="2" charset="0"/>
                <a:cs typeface="Roboto Condensed" panose="02000000000000000000" pitchFamily="2"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fld id="{822FCD78-D96D-4F80-9AD7-6954839C45E1}" type="slidenum">
              <a:rPr lang="de-DE" sz="750" smtClean="0">
                <a:solidFill>
                  <a:schemeClr val="bg1"/>
                </a:solidFill>
                <a:latin typeface="Roboto Condensed" pitchFamily="2" charset="0"/>
                <a:ea typeface="Roboto Condensed" pitchFamily="2" charset="0"/>
              </a:rPr>
              <a:pPr>
                <a:defRPr/>
              </a:pPr>
              <a:t>‹Nr.›</a:t>
            </a:fld>
            <a:r>
              <a:rPr lang="de-DE" sz="750" dirty="0">
                <a:solidFill>
                  <a:schemeClr val="bg1"/>
                </a:solidFill>
                <a:latin typeface="Roboto Condensed" pitchFamily="2" charset="0"/>
                <a:ea typeface="Roboto Condensed" pitchFamily="2" charset="0"/>
              </a:rPr>
              <a:t> / 26</a:t>
            </a:r>
          </a:p>
        </p:txBody>
      </p:sp>
    </p:spTree>
    <p:extLst>
      <p:ext uri="{BB962C8B-B14F-4D97-AF65-F5344CB8AC3E}">
        <p14:creationId xmlns:p14="http://schemas.microsoft.com/office/powerpoint/2010/main" val="63193198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Inhaltsseite">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92DAAA6B-CED7-218B-3BCB-3A4298BA5AE3}"/>
              </a:ext>
            </a:extLst>
          </p:cNvPr>
          <p:cNvSpPr/>
          <p:nvPr userDrawn="1"/>
        </p:nvSpPr>
        <p:spPr>
          <a:xfrm>
            <a:off x="3251200" y="0"/>
            <a:ext cx="3606800" cy="4502398"/>
          </a:xfrm>
          <a:prstGeom prst="rect">
            <a:avLst/>
          </a:prstGeom>
          <a:gradFill flip="none" rotWithShape="1">
            <a:gsLst>
              <a:gs pos="46000">
                <a:schemeClr val="bg1"/>
              </a:gs>
              <a:gs pos="64000">
                <a:schemeClr val="accent2">
                  <a:lumMod val="45000"/>
                  <a:lumOff val="55000"/>
                </a:schemeClr>
              </a:gs>
              <a:gs pos="83000">
                <a:schemeClr val="tx1"/>
              </a:gs>
              <a:gs pos="99000">
                <a:schemeClr val="tx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hteck 1"/>
          <p:cNvSpPr/>
          <p:nvPr userDrawn="1"/>
        </p:nvSpPr>
        <p:spPr>
          <a:xfrm flipV="1">
            <a:off x="-1" y="4500000"/>
            <a:ext cx="3442500" cy="39600"/>
          </a:xfrm>
          <a:prstGeom prst="rect">
            <a:avLst/>
          </a:pr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350"/>
          </a:p>
        </p:txBody>
      </p:sp>
      <p:pic>
        <p:nvPicPr>
          <p:cNvPr id="7" name="Grafik 6"/>
          <p:cNvPicPr preferRelativeResize="0">
            <a:picLocks/>
          </p:cNvPicPr>
          <p:nvPr userDrawn="1"/>
        </p:nvPicPr>
        <p:blipFill>
          <a:blip r:embed="rId2" cstate="print">
            <a:extLst>
              <a:ext uri="{28A0092B-C50C-407E-A947-70E740481C1C}">
                <a14:useLocalDpi xmlns:a14="http://schemas.microsoft.com/office/drawing/2010/main" val="0"/>
              </a:ext>
            </a:extLst>
          </a:blip>
          <a:stretch>
            <a:fillRect/>
          </a:stretch>
        </p:blipFill>
        <p:spPr>
          <a:xfrm>
            <a:off x="3430787" y="4500000"/>
            <a:ext cx="3429000" cy="39600"/>
          </a:xfrm>
          <a:prstGeom prst="rect">
            <a:avLst/>
          </a:prstGeom>
        </p:spPr>
      </p:pic>
      <p:sp>
        <p:nvSpPr>
          <p:cNvPr id="9" name="Textplatzhalter 24"/>
          <p:cNvSpPr>
            <a:spLocks noGrp="1"/>
          </p:cNvSpPr>
          <p:nvPr>
            <p:ph type="body" sz="quarter" idx="11" hasCustomPrompt="1"/>
          </p:nvPr>
        </p:nvSpPr>
        <p:spPr>
          <a:xfrm>
            <a:off x="2249685" y="4719770"/>
            <a:ext cx="4266010" cy="144000"/>
          </a:xfrm>
        </p:spPr>
        <p:txBody>
          <a:bodyPr>
            <a:noAutofit/>
          </a:bodyPr>
          <a:lstStyle>
            <a:lvl1pPr marL="0" indent="0" algn="r">
              <a:buFontTx/>
              <a:buNone/>
              <a:defRPr lang="de-DE" sz="750" dirty="0">
                <a:solidFill>
                  <a:schemeClr val="bg1"/>
                </a:solidFill>
                <a:latin typeface="Roboto Condensed" panose="02000000000000000000" pitchFamily="2" charset="0"/>
                <a:ea typeface="Roboto Condensed" panose="02000000000000000000" pitchFamily="2" charset="0"/>
                <a:cs typeface="Roboto Condensed" panose="02000000000000000000" pitchFamily="2" charset="0"/>
              </a:defRPr>
            </a:lvl1pPr>
          </a:lstStyle>
          <a:p>
            <a:r>
              <a:rPr lang="en-US" sz="800" dirty="0" err="1"/>
              <a:t>Natürlichkeit</a:t>
            </a:r>
            <a:r>
              <a:rPr lang="en-US" sz="800" dirty="0"/>
              <a:t> von </a:t>
            </a:r>
            <a:r>
              <a:rPr lang="en-US" sz="800" dirty="0" err="1"/>
              <a:t>Stimmen</a:t>
            </a:r>
            <a:endParaRPr lang="de-DE" dirty="0"/>
          </a:p>
        </p:txBody>
      </p:sp>
      <p:sp>
        <p:nvSpPr>
          <p:cNvPr id="6" name="Textplatzhalter 24"/>
          <p:cNvSpPr txBox="1">
            <a:spLocks/>
          </p:cNvSpPr>
          <p:nvPr userDrawn="1"/>
        </p:nvSpPr>
        <p:spPr>
          <a:xfrm>
            <a:off x="2641231" y="4884575"/>
            <a:ext cx="3874464" cy="154205"/>
          </a:xfrm>
          <a:prstGeom prst="rect">
            <a:avLst/>
          </a:prstGeom>
        </p:spPr>
        <p:txBody>
          <a:bodyPr lIns="0" tIns="0" rIns="0" bIns="0">
            <a:noAutofit/>
          </a:bodyPr>
          <a:lstStyle>
            <a:lvl1pPr marL="0" marR="0" indent="0" algn="r" defTabSz="914400" rtl="0" eaLnBrk="1" fontAlgn="auto" latinLnBrk="0" hangingPunct="1">
              <a:lnSpc>
                <a:spcPct val="100000"/>
              </a:lnSpc>
              <a:spcBef>
                <a:spcPct val="20000"/>
              </a:spcBef>
              <a:spcAft>
                <a:spcPts val="0"/>
              </a:spcAft>
              <a:buClrTx/>
              <a:buSzTx/>
              <a:buFontTx/>
              <a:buNone/>
              <a:tabLst/>
              <a:defRPr lang="de-DE" sz="1000" kern="1200" baseline="0" dirty="0">
                <a:solidFill>
                  <a:schemeClr val="tx2"/>
                </a:solidFill>
                <a:latin typeface="Roboto Condensed" panose="02000000000000000000" pitchFamily="2" charset="0"/>
                <a:ea typeface="Roboto Condensed" panose="02000000000000000000" pitchFamily="2" charset="0"/>
                <a:cs typeface="Roboto Condensed" panose="02000000000000000000" pitchFamily="2"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defRPr/>
            </a:pPr>
            <a:fld id="{822FCD78-D96D-4F80-9AD7-6954839C45E1}" type="slidenum">
              <a:rPr lang="de-DE" sz="750" smtClean="0">
                <a:solidFill>
                  <a:schemeClr val="bg1"/>
                </a:solidFill>
                <a:latin typeface="Roboto Condensed" pitchFamily="2" charset="0"/>
                <a:ea typeface="Roboto Condensed" pitchFamily="2" charset="0"/>
              </a:rPr>
              <a:pPr>
                <a:defRPr/>
              </a:pPr>
              <a:t>‹Nr.›</a:t>
            </a:fld>
            <a:r>
              <a:rPr lang="de-DE" sz="750" dirty="0">
                <a:solidFill>
                  <a:schemeClr val="bg1"/>
                </a:solidFill>
                <a:latin typeface="Roboto Condensed" pitchFamily="2" charset="0"/>
                <a:ea typeface="Roboto Condensed" pitchFamily="2" charset="0"/>
              </a:rPr>
              <a:t> / 10</a:t>
            </a:r>
          </a:p>
        </p:txBody>
      </p:sp>
      <p:pic>
        <p:nvPicPr>
          <p:cNvPr id="4" name="Grafik 3" descr="Ein Bild, das Kunst, Cartoon, Darstellung enthält.&#10;&#10;KI-generierte Inhalte können fehlerhaft sein.">
            <a:extLst>
              <a:ext uri="{FF2B5EF4-FFF2-40B4-BE49-F238E27FC236}">
                <a16:creationId xmlns:a16="http://schemas.microsoft.com/office/drawing/2014/main" id="{64D630C0-7580-D0F0-6B71-4A9559C0F178}"/>
              </a:ext>
            </a:extLst>
          </p:cNvPr>
          <p:cNvPicPr>
            <a:picLocks noChangeAspect="1"/>
          </p:cNvPicPr>
          <p:nvPr userDrawn="1"/>
        </p:nvPicPr>
        <p:blipFill>
          <a:blip r:embed="rId3" cstate="print">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3394616" y="0"/>
            <a:ext cx="3463384" cy="4502400"/>
          </a:xfrm>
          <a:prstGeom prst="rect">
            <a:avLst/>
          </a:prstGeom>
        </p:spPr>
      </p:pic>
    </p:spTree>
    <p:extLst>
      <p:ext uri="{BB962C8B-B14F-4D97-AF65-F5344CB8AC3E}">
        <p14:creationId xmlns:p14="http://schemas.microsoft.com/office/powerpoint/2010/main" val="2718257920"/>
      </p:ext>
    </p:extLst>
  </p:cSld>
  <p:clrMapOvr>
    <a:masterClrMapping/>
  </p:clrMapOvr>
  <p:extLst>
    <p:ext uri="{DCECCB84-F9BA-43D5-87BE-67443E8EF086}">
      <p15:sldGuideLst xmlns:p15="http://schemas.microsoft.com/office/powerpoint/2012/main">
        <p15:guide id="1" orient="horz" pos="1620">
          <p15:clr>
            <a:srgbClr val="FBAE40"/>
          </p15:clr>
        </p15:guide>
        <p15:guide id="2" pos="21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342900" y="205978"/>
            <a:ext cx="6172200" cy="857250"/>
          </a:xfrm>
          <a:prstGeom prst="rect">
            <a:avLst/>
          </a:prstGeom>
        </p:spPr>
        <p:txBody>
          <a:bodyPr vert="horz" lIns="0" tIns="0" rIns="0" bIns="0" rtlCol="0" anchor="ctr">
            <a:normAutofit/>
          </a:bodyPr>
          <a:lstStyle/>
          <a:p>
            <a:r>
              <a:rPr lang="de-DE" dirty="0"/>
              <a:t>Titelmasterformat durch Klicken bearbeiten</a:t>
            </a:r>
          </a:p>
        </p:txBody>
      </p:sp>
      <p:sp>
        <p:nvSpPr>
          <p:cNvPr id="3" name="Textplatzhalter 2"/>
          <p:cNvSpPr>
            <a:spLocks noGrp="1"/>
          </p:cNvSpPr>
          <p:nvPr>
            <p:ph type="body" idx="1"/>
          </p:nvPr>
        </p:nvSpPr>
        <p:spPr>
          <a:xfrm>
            <a:off x="342900" y="1200152"/>
            <a:ext cx="6172200" cy="1875655"/>
          </a:xfrm>
          <a:prstGeom prst="rect">
            <a:avLst/>
          </a:prstGeom>
        </p:spPr>
        <p:txBody>
          <a:bodyPr vert="horz" lIns="0" tIns="0" rIns="0" bIns="0" rtlCol="0">
            <a:normAutofit/>
          </a:body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 mit Anführungszeichen«</a:t>
            </a:r>
          </a:p>
        </p:txBody>
      </p:sp>
      <p:sp>
        <p:nvSpPr>
          <p:cNvPr id="11" name="Rechteck 10"/>
          <p:cNvSpPr/>
          <p:nvPr userDrawn="1"/>
        </p:nvSpPr>
        <p:spPr>
          <a:xfrm>
            <a:off x="-1" y="4500000"/>
            <a:ext cx="6858000" cy="64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de-DE" sz="1350" dirty="0"/>
          </a:p>
        </p:txBody>
      </p:sp>
      <p:pic>
        <p:nvPicPr>
          <p:cNvPr id="1026" name="Picture 2"/>
          <p:cNvPicPr>
            <a:picLocks noChangeAspect="1" noChangeArrowheads="1"/>
          </p:cNvPicPr>
          <p:nvPr userDrawn="1"/>
        </p:nvPicPr>
        <p:blipFill>
          <a:blip r:embed="rId4" cstate="print">
            <a:extLst>
              <a:ext uri="{28A0092B-C50C-407E-A947-70E740481C1C}">
                <a14:useLocalDpi xmlns:a14="http://schemas.microsoft.com/office/drawing/2010/main" val="0"/>
              </a:ext>
            </a:extLst>
          </a:blip>
          <a:stretch>
            <a:fillRect/>
          </a:stretch>
        </p:blipFill>
        <p:spPr bwMode="auto">
          <a:xfrm>
            <a:off x="314619" y="4607704"/>
            <a:ext cx="785700" cy="432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151117"/>
      </p:ext>
    </p:extLst>
  </p:cSld>
  <p:clrMap bg1="lt1" tx1="dk1" bg2="lt2" tx2="dk2" accent1="accent1" accent2="accent2" accent3="accent3" accent4="accent4" accent5="accent5" accent6="accent6" hlink="hlink" folHlink="folHlink"/>
  <p:sldLayoutIdLst>
    <p:sldLayoutId id="2147483656" r:id="rId1"/>
    <p:sldLayoutId id="2147483658" r:id="rId2"/>
  </p:sldLayoutIdLst>
  <p:hf hdr="0" ftr="0" dt="0"/>
  <p:txStyles>
    <p:titleStyle>
      <a:lvl1pPr algn="l" defTabSz="685800" rtl="0" eaLnBrk="1" latinLnBrk="0" hangingPunct="1">
        <a:spcBef>
          <a:spcPct val="0"/>
        </a:spcBef>
        <a:buNone/>
        <a:defRPr sz="1500" kern="1200" spc="15" baseline="0">
          <a:solidFill>
            <a:schemeClr val="tx1"/>
          </a:solidFill>
          <a:latin typeface="Palatino Linotype" panose="02040502050505030304" pitchFamily="18" charset="0"/>
          <a:ea typeface="+mj-ea"/>
          <a:cs typeface="+mj-cs"/>
        </a:defRPr>
      </a:lvl1pPr>
    </p:titleStyle>
    <p:bodyStyle>
      <a:lvl1pPr marL="0" indent="0" algn="l" defTabSz="685800" rtl="0" eaLnBrk="1" latinLnBrk="0" hangingPunct="1">
        <a:spcBef>
          <a:spcPct val="20000"/>
        </a:spcBef>
        <a:buFontTx/>
        <a:buNone/>
        <a:defRPr sz="1650" kern="1200">
          <a:solidFill>
            <a:schemeClr val="tx1"/>
          </a:solidFill>
          <a:latin typeface="Roboto Condensed" pitchFamily="2" charset="0"/>
          <a:ea typeface="Roboto Condensed" pitchFamily="2" charset="0"/>
          <a:cs typeface="+mn-cs"/>
        </a:defRPr>
      </a:lvl1pPr>
      <a:lvl2pPr marL="557213" indent="-214313" algn="l" defTabSz="685800" rtl="0" eaLnBrk="1" latinLnBrk="0" hangingPunct="1">
        <a:spcBef>
          <a:spcPct val="20000"/>
        </a:spcBef>
        <a:buClr>
          <a:schemeClr val="accent1"/>
        </a:buClr>
        <a:buFont typeface="Arial" panose="020B0604020202020204" pitchFamily="34" charset="0"/>
        <a:buChar char="•"/>
        <a:defRPr sz="1350" kern="1200">
          <a:solidFill>
            <a:schemeClr val="tx1"/>
          </a:solidFill>
          <a:latin typeface="Roboto Condensed" pitchFamily="2" charset="0"/>
          <a:ea typeface="Roboto Condensed" pitchFamily="2" charset="0"/>
          <a:cs typeface="+mn-cs"/>
        </a:defRPr>
      </a:lvl2pPr>
      <a:lvl3pPr marL="857250" indent="-171450" algn="l" defTabSz="685800" rtl="0" eaLnBrk="1" latinLnBrk="0" hangingPunct="1">
        <a:spcBef>
          <a:spcPct val="20000"/>
        </a:spcBef>
        <a:buClr>
          <a:schemeClr val="accent3"/>
        </a:buClr>
        <a:buFont typeface="Arial" panose="020B0604020202020204" pitchFamily="34" charset="0"/>
        <a:buChar char="•"/>
        <a:defRPr sz="1050" kern="1200">
          <a:solidFill>
            <a:schemeClr val="tx1"/>
          </a:solidFill>
          <a:latin typeface="Roboto Condensed" pitchFamily="2" charset="0"/>
          <a:ea typeface="Roboto Condensed" pitchFamily="2" charset="0"/>
          <a:cs typeface="+mn-cs"/>
        </a:defRPr>
      </a:lvl3pPr>
      <a:lvl4pPr marL="1028700" indent="0" algn="l" defTabSz="685800" rtl="0" eaLnBrk="1" latinLnBrk="0" hangingPunct="1">
        <a:spcBef>
          <a:spcPct val="20000"/>
        </a:spcBef>
        <a:buFontTx/>
        <a:buNone/>
        <a:defRPr sz="825" kern="1200">
          <a:solidFill>
            <a:schemeClr val="tx1"/>
          </a:solidFill>
          <a:latin typeface="Roboto Condensed" pitchFamily="2" charset="0"/>
          <a:ea typeface="Roboto Condensed" pitchFamily="2" charset="0"/>
          <a:cs typeface="+mn-cs"/>
        </a:defRPr>
      </a:lvl4pPr>
      <a:lvl5pPr marL="1371600" indent="0" algn="l" defTabSz="685800" rtl="0" eaLnBrk="1" latinLnBrk="0" hangingPunct="1">
        <a:spcBef>
          <a:spcPct val="20000"/>
        </a:spcBef>
        <a:buFont typeface="Arial" panose="020B0604020202020204" pitchFamily="34" charset="0"/>
        <a:buNone/>
        <a:defRPr sz="675" kern="1200">
          <a:solidFill>
            <a:schemeClr val="tx1"/>
          </a:solidFill>
          <a:latin typeface="Roboto Condensed" pitchFamily="2" charset="0"/>
          <a:ea typeface="Roboto Condensed" pitchFamily="2" charset="0"/>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160" userDrawn="1">
          <p15:clr>
            <a:srgbClr val="F26B43"/>
          </p15:clr>
        </p15:guide>
        <p15:guide id="3" pos="22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jpe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emf"/><Relationship Id="rId5" Type="http://schemas.openxmlformats.org/officeDocument/2006/relationships/oleObject" Target="../embeddings/oleObject1.bin"/><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tif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9.tiff"/><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jpe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emf"/><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37.emf"/><Relationship Id="rId5" Type="http://schemas.openxmlformats.org/officeDocument/2006/relationships/image" Target="../media/image36.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descr="Ein Bild, das dunkel, Vorhang, groß, Uhr enthält.&#10;&#10;Automatisch generierte Beschreibung">
            <a:extLst>
              <a:ext uri="{FF2B5EF4-FFF2-40B4-BE49-F238E27FC236}">
                <a16:creationId xmlns:a16="http://schemas.microsoft.com/office/drawing/2014/main" id="{DE4380E1-BC20-451A-842E-D842298480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6858000" cy="4500000"/>
          </a:xfrm>
          <a:prstGeom prst="rect">
            <a:avLst/>
          </a:prstGeom>
        </p:spPr>
      </p:pic>
      <p:sp>
        <p:nvSpPr>
          <p:cNvPr id="7" name="Rechteck 6"/>
          <p:cNvSpPr/>
          <p:nvPr/>
        </p:nvSpPr>
        <p:spPr>
          <a:xfrm>
            <a:off x="351235" y="2767739"/>
            <a:ext cx="6178774" cy="1110582"/>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Roboto Condensed"/>
              <a:ea typeface="+mn-ea"/>
              <a:cs typeface="+mn-cs"/>
            </a:endParaRPr>
          </a:p>
        </p:txBody>
      </p:sp>
      <p:sp>
        <p:nvSpPr>
          <p:cNvPr id="8" name="Textfeld 7"/>
          <p:cNvSpPr txBox="1"/>
          <p:nvPr/>
        </p:nvSpPr>
        <p:spPr>
          <a:xfrm>
            <a:off x="508825" y="2998577"/>
            <a:ext cx="5860444" cy="800912"/>
          </a:xfrm>
          <a:prstGeom prst="rect">
            <a:avLst/>
          </a:prstGeom>
          <a:noFill/>
        </p:spPr>
        <p:txBody>
          <a:bodyPr wrap="square" lIns="0" tIns="0" rIns="0" bIns="0" rtlCol="0">
            <a:noAutofit/>
          </a:bodyPr>
          <a:lstStyle/>
          <a:p>
            <a:r>
              <a:rPr lang="en-US" sz="1400" dirty="0"/>
              <a:t>The perception of voice naturalness</a:t>
            </a:r>
          </a:p>
          <a:p>
            <a:endParaRPr lang="en-US" sz="1000" dirty="0">
              <a:solidFill>
                <a:srgbClr val="002F5D"/>
              </a:solidFill>
              <a:latin typeface="Roboto Condensed"/>
              <a:ea typeface="Roboto Condensed" panose="02000000000000000000" pitchFamily="2" charset="0"/>
              <a:cs typeface="Roboto Condensed" panose="02000000000000000000" pitchFamily="2" charset="0"/>
            </a:endParaRPr>
          </a:p>
          <a:p>
            <a:r>
              <a:rPr lang="en-US" sz="1000" dirty="0">
                <a:solidFill>
                  <a:srgbClr val="002F5D"/>
                </a:solidFill>
                <a:latin typeface="Roboto Condensed"/>
                <a:ea typeface="Roboto Condensed" panose="02000000000000000000" pitchFamily="2" charset="0"/>
                <a:cs typeface="Roboto Condensed" panose="02000000000000000000" pitchFamily="2" charset="0"/>
              </a:rPr>
              <a:t>Dr. Christine Nussbaum</a:t>
            </a:r>
          </a:p>
          <a:p>
            <a:r>
              <a:rPr lang="en-US" sz="1000" dirty="0">
                <a:solidFill>
                  <a:srgbClr val="002F5D"/>
                </a:solidFill>
                <a:latin typeface="Roboto Condensed"/>
                <a:ea typeface="Roboto Condensed" panose="02000000000000000000" pitchFamily="2" charset="0"/>
                <a:cs typeface="Roboto Condensed" panose="02000000000000000000" pitchFamily="2" charset="0"/>
              </a:rPr>
              <a:t>Friedrich-Schiller-University Jena</a:t>
            </a:r>
          </a:p>
          <a:p>
            <a:r>
              <a:rPr lang="de-DE" sz="1000" dirty="0">
                <a:solidFill>
                  <a:srgbClr val="002F5D"/>
                </a:solidFill>
                <a:ea typeface="Roboto Condensed" panose="02000000000000000000" pitchFamily="2" charset="0"/>
                <a:cs typeface="Roboto Condensed" panose="02000000000000000000" pitchFamily="2" charset="0"/>
              </a:rPr>
              <a:t>Department </a:t>
            </a:r>
            <a:r>
              <a:rPr lang="de-DE" sz="1000" dirty="0" err="1">
                <a:solidFill>
                  <a:srgbClr val="002F5D"/>
                </a:solidFill>
                <a:ea typeface="Roboto Condensed" panose="02000000000000000000" pitchFamily="2" charset="0"/>
                <a:cs typeface="Roboto Condensed" panose="02000000000000000000" pitchFamily="2" charset="0"/>
              </a:rPr>
              <a:t>for</a:t>
            </a:r>
            <a:r>
              <a:rPr lang="de-DE" sz="1000" dirty="0">
                <a:solidFill>
                  <a:srgbClr val="002F5D"/>
                </a:solidFill>
                <a:ea typeface="Roboto Condensed" panose="02000000000000000000" pitchFamily="2" charset="0"/>
                <a:cs typeface="Roboto Condensed" panose="02000000000000000000" pitchFamily="2" charset="0"/>
              </a:rPr>
              <a:t> General </a:t>
            </a:r>
            <a:r>
              <a:rPr lang="de-DE" sz="1000" dirty="0" err="1">
                <a:solidFill>
                  <a:srgbClr val="002F5D"/>
                </a:solidFill>
                <a:ea typeface="Roboto Condensed" panose="02000000000000000000" pitchFamily="2" charset="0"/>
                <a:cs typeface="Roboto Condensed" panose="02000000000000000000" pitchFamily="2" charset="0"/>
              </a:rPr>
              <a:t>Psychology</a:t>
            </a:r>
            <a:r>
              <a:rPr lang="de-DE" sz="1000" dirty="0">
                <a:solidFill>
                  <a:srgbClr val="002F5D"/>
                </a:solidFill>
                <a:ea typeface="Roboto Condensed" panose="02000000000000000000" pitchFamily="2" charset="0"/>
                <a:cs typeface="Roboto Condensed" panose="02000000000000000000" pitchFamily="2" charset="0"/>
              </a:rPr>
              <a:t> and </a:t>
            </a:r>
            <a:r>
              <a:rPr lang="de-DE" sz="1000" dirty="0" err="1">
                <a:solidFill>
                  <a:srgbClr val="002F5D"/>
                </a:solidFill>
                <a:ea typeface="Roboto Condensed" panose="02000000000000000000" pitchFamily="2" charset="0"/>
                <a:cs typeface="Roboto Condensed" panose="02000000000000000000" pitchFamily="2" charset="0"/>
              </a:rPr>
              <a:t>Cognitive</a:t>
            </a:r>
            <a:r>
              <a:rPr lang="de-DE" sz="1000" dirty="0">
                <a:solidFill>
                  <a:srgbClr val="002F5D"/>
                </a:solidFill>
                <a:ea typeface="Roboto Condensed" panose="02000000000000000000" pitchFamily="2" charset="0"/>
                <a:cs typeface="Roboto Condensed" panose="02000000000000000000" pitchFamily="2" charset="0"/>
              </a:rPr>
              <a:t> </a:t>
            </a:r>
            <a:r>
              <a:rPr lang="de-DE" sz="1000" dirty="0" err="1">
                <a:solidFill>
                  <a:srgbClr val="002F5D"/>
                </a:solidFill>
                <a:ea typeface="Roboto Condensed" panose="02000000000000000000" pitchFamily="2" charset="0"/>
                <a:cs typeface="Roboto Condensed" panose="02000000000000000000" pitchFamily="2" charset="0"/>
              </a:rPr>
              <a:t>Neuroscience</a:t>
            </a:r>
            <a:endParaRPr lang="en-US" sz="1000" dirty="0">
              <a:solidFill>
                <a:srgbClr val="002F5D"/>
              </a:solidFill>
              <a:latin typeface="Roboto Condensed"/>
              <a:ea typeface="Roboto Condensed" panose="02000000000000000000" pitchFamily="2" charset="0"/>
              <a:cs typeface="Roboto Condensed" panose="02000000000000000000" pitchFamily="2" charset="0"/>
            </a:endParaRPr>
          </a:p>
        </p:txBody>
      </p:sp>
      <p:cxnSp>
        <p:nvCxnSpPr>
          <p:cNvPr id="9" name="Gerade Verbindung 8"/>
          <p:cNvCxnSpPr/>
          <p:nvPr/>
        </p:nvCxnSpPr>
        <p:spPr>
          <a:xfrm>
            <a:off x="508825" y="2913969"/>
            <a:ext cx="341709" cy="0"/>
          </a:xfrm>
          <a:prstGeom prst="line">
            <a:avLst/>
          </a:prstGeom>
          <a:ln w="44450">
            <a:solidFill>
              <a:srgbClr val="002F5D"/>
            </a:solidFill>
          </a:ln>
        </p:spPr>
        <p:style>
          <a:lnRef idx="1">
            <a:schemeClr val="accent1"/>
          </a:lnRef>
          <a:fillRef idx="0">
            <a:schemeClr val="accent1"/>
          </a:fillRef>
          <a:effectRef idx="0">
            <a:schemeClr val="accent1"/>
          </a:effectRef>
          <a:fontRef idx="minor">
            <a:schemeClr val="tx1"/>
          </a:fontRef>
        </p:style>
      </p:cxnSp>
      <p:sp>
        <p:nvSpPr>
          <p:cNvPr id="4" name="Textplatzhalter 3">
            <a:extLst>
              <a:ext uri="{FF2B5EF4-FFF2-40B4-BE49-F238E27FC236}">
                <a16:creationId xmlns:a16="http://schemas.microsoft.com/office/drawing/2014/main" id="{4C475DD6-E875-14F4-10B0-ADEE27A64029}"/>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628062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FF498E12-506F-466B-111A-9D919507D08E}"/>
              </a:ext>
            </a:extLst>
          </p:cNvPr>
          <p:cNvSpPr>
            <a:spLocks noGrp="1"/>
          </p:cNvSpPr>
          <p:nvPr>
            <p:ph type="body" sz="quarter" idx="11"/>
          </p:nvPr>
        </p:nvSpPr>
        <p:spPr>
          <a:xfrm>
            <a:off x="5212702" y="4719770"/>
            <a:ext cx="1302993" cy="144000"/>
          </a:xfrm>
        </p:spPr>
        <p:txBody>
          <a:bodyPr/>
          <a:lstStyle/>
          <a:p>
            <a:endParaRPr lang="en-US" dirty="0"/>
          </a:p>
        </p:txBody>
      </p:sp>
      <p:cxnSp>
        <p:nvCxnSpPr>
          <p:cNvPr id="4" name="Gerade Verbindung 9">
            <a:extLst>
              <a:ext uri="{FF2B5EF4-FFF2-40B4-BE49-F238E27FC236}">
                <a16:creationId xmlns:a16="http://schemas.microsoft.com/office/drawing/2014/main" id="{F8B87183-45DE-1556-5E42-7AC8FD85D11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feld 4">
            <a:extLst>
              <a:ext uri="{FF2B5EF4-FFF2-40B4-BE49-F238E27FC236}">
                <a16:creationId xmlns:a16="http://schemas.microsoft.com/office/drawing/2014/main" id="{7F30C240-2BFB-17AD-E8A6-1A42218FF330}"/>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Who am I</a:t>
            </a:r>
          </a:p>
        </p:txBody>
      </p:sp>
      <p:sp>
        <p:nvSpPr>
          <p:cNvPr id="6" name="Textfeld 5">
            <a:extLst>
              <a:ext uri="{FF2B5EF4-FFF2-40B4-BE49-F238E27FC236}">
                <a16:creationId xmlns:a16="http://schemas.microsoft.com/office/drawing/2014/main" id="{FC016DDB-3A5C-9FD4-D109-DDCBDB0EF8C4}"/>
              </a:ext>
            </a:extLst>
          </p:cNvPr>
          <p:cNvSpPr txBox="1"/>
          <p:nvPr/>
        </p:nvSpPr>
        <p:spPr>
          <a:xfrm>
            <a:off x="2720898" y="911076"/>
            <a:ext cx="4091382" cy="3108543"/>
          </a:xfrm>
          <a:prstGeom prst="rect">
            <a:avLst/>
          </a:prstGeom>
          <a:noFill/>
        </p:spPr>
        <p:txBody>
          <a:bodyPr wrap="square" rtlCol="0">
            <a:spAutoFit/>
          </a:bodyPr>
          <a:lstStyle/>
          <a:p>
            <a:r>
              <a:rPr lang="de-DE" sz="1400" dirty="0"/>
              <a:t>Dr. Christine Nussbaum</a:t>
            </a:r>
          </a:p>
          <a:p>
            <a:endParaRPr lang="de-DE" sz="1000" dirty="0"/>
          </a:p>
          <a:p>
            <a:endParaRPr lang="de-DE" sz="1100" dirty="0"/>
          </a:p>
          <a:p>
            <a:r>
              <a:rPr lang="de-DE" sz="1000" dirty="0"/>
              <a:t>Research </a:t>
            </a:r>
            <a:r>
              <a:rPr lang="de-DE" sz="1000" dirty="0" err="1"/>
              <a:t>topics</a:t>
            </a:r>
            <a:r>
              <a:rPr lang="de-DE" sz="1000" dirty="0"/>
              <a:t>: 	Emotion </a:t>
            </a:r>
            <a:r>
              <a:rPr lang="de-DE" sz="1000" dirty="0" err="1"/>
              <a:t>perception</a:t>
            </a:r>
            <a:r>
              <a:rPr lang="de-DE" sz="1000" dirty="0"/>
              <a:t> in </a:t>
            </a:r>
            <a:r>
              <a:rPr lang="de-DE" sz="1000" dirty="0" err="1"/>
              <a:t>voices</a:t>
            </a:r>
            <a:endParaRPr lang="de-DE" sz="1000" dirty="0"/>
          </a:p>
          <a:p>
            <a:r>
              <a:rPr lang="de-DE" sz="1000" dirty="0"/>
              <a:t>	Naturalness in </a:t>
            </a:r>
            <a:r>
              <a:rPr lang="de-DE" sz="1000" dirty="0" err="1"/>
              <a:t>voices</a:t>
            </a:r>
            <a:endParaRPr lang="de-DE" sz="1000" dirty="0"/>
          </a:p>
          <a:p>
            <a:endParaRPr lang="de-DE" sz="1000" dirty="0"/>
          </a:p>
          <a:p>
            <a:r>
              <a:rPr lang="de-DE" sz="1000" dirty="0"/>
              <a:t>Teaching: 	</a:t>
            </a:r>
            <a:r>
              <a:rPr lang="de-DE" sz="1000" dirty="0" err="1"/>
              <a:t>Neuropsychology</a:t>
            </a:r>
            <a:r>
              <a:rPr lang="de-DE" sz="1000" dirty="0"/>
              <a:t> </a:t>
            </a:r>
            <a:r>
              <a:rPr lang="de-DE" sz="1000" dirty="0" err="1"/>
              <a:t>of</a:t>
            </a:r>
            <a:r>
              <a:rPr lang="de-DE" sz="1000" dirty="0"/>
              <a:t> </a:t>
            </a:r>
            <a:r>
              <a:rPr lang="de-DE" sz="1000" dirty="0" err="1"/>
              <a:t>auditory</a:t>
            </a:r>
            <a:r>
              <a:rPr lang="de-DE" sz="1000" dirty="0"/>
              <a:t> </a:t>
            </a:r>
            <a:r>
              <a:rPr lang="de-DE" sz="1000" dirty="0" err="1"/>
              <a:t>processing</a:t>
            </a:r>
            <a:endParaRPr lang="de-DE" sz="1000" dirty="0"/>
          </a:p>
          <a:p>
            <a:r>
              <a:rPr lang="de-DE" sz="1000" dirty="0"/>
              <a:t>	</a:t>
            </a:r>
            <a:r>
              <a:rPr lang="de-DE" sz="1000" dirty="0" err="1"/>
              <a:t>Good</a:t>
            </a:r>
            <a:r>
              <a:rPr lang="de-DE" sz="1000" dirty="0"/>
              <a:t> Scientific Practice</a:t>
            </a:r>
          </a:p>
          <a:p>
            <a:r>
              <a:rPr lang="de-DE" sz="1000" dirty="0"/>
              <a:t>	Empirische Forschungsmethoden</a:t>
            </a:r>
          </a:p>
          <a:p>
            <a:endParaRPr lang="de-DE" sz="1000" dirty="0"/>
          </a:p>
          <a:p>
            <a:r>
              <a:rPr lang="de-DE" sz="1000" dirty="0"/>
              <a:t>Methods:	Qualitative </a:t>
            </a:r>
            <a:r>
              <a:rPr lang="de-DE" sz="1000" dirty="0" err="1"/>
              <a:t>methods</a:t>
            </a:r>
            <a:r>
              <a:rPr lang="de-DE" sz="1000" dirty="0"/>
              <a:t>, </a:t>
            </a:r>
            <a:r>
              <a:rPr lang="de-DE" sz="1000" dirty="0" err="1"/>
              <a:t>empirical</a:t>
            </a:r>
            <a:r>
              <a:rPr lang="de-DE" sz="1000" dirty="0"/>
              <a:t> </a:t>
            </a:r>
            <a:r>
              <a:rPr lang="de-DE" sz="1000" dirty="0" err="1"/>
              <a:t>research</a:t>
            </a:r>
            <a:endParaRPr lang="de-DE" sz="1000" dirty="0"/>
          </a:p>
          <a:p>
            <a:r>
              <a:rPr lang="de-DE" sz="1000" dirty="0"/>
              <a:t>	Electroenzephalographie (EEG)</a:t>
            </a:r>
          </a:p>
          <a:p>
            <a:r>
              <a:rPr lang="de-DE" sz="1000" dirty="0"/>
              <a:t>	Voice Morphing</a:t>
            </a:r>
          </a:p>
          <a:p>
            <a:endParaRPr lang="de-DE" sz="1000" dirty="0"/>
          </a:p>
          <a:p>
            <a:r>
              <a:rPr lang="de-DE" sz="1000" dirty="0" err="1"/>
              <a:t>Roles</a:t>
            </a:r>
            <a:r>
              <a:rPr lang="de-DE" sz="1000" dirty="0"/>
              <a:t>: 	</a:t>
            </a:r>
            <a:r>
              <a:rPr lang="de-DE" sz="1000" dirty="0" err="1"/>
              <a:t>Coordinator</a:t>
            </a:r>
            <a:r>
              <a:rPr lang="de-DE" sz="1000" dirty="0"/>
              <a:t> </a:t>
            </a:r>
            <a:r>
              <a:rPr lang="de-DE" sz="1000" dirty="0" err="1"/>
              <a:t>of</a:t>
            </a:r>
            <a:r>
              <a:rPr lang="de-DE" sz="1000" dirty="0"/>
              <a:t> Jena Voice Research Unit (VRU)</a:t>
            </a:r>
          </a:p>
          <a:p>
            <a:r>
              <a:rPr lang="de-DE" sz="1000" dirty="0"/>
              <a:t>	Organisation </a:t>
            </a:r>
            <a:r>
              <a:rPr lang="de-DE" sz="1000" dirty="0" err="1"/>
              <a:t>of</a:t>
            </a:r>
            <a:r>
              <a:rPr lang="de-DE" sz="1000" dirty="0"/>
              <a:t> </a:t>
            </a:r>
            <a:r>
              <a:rPr lang="de-DE" sz="1000" dirty="0" err="1"/>
              <a:t>the</a:t>
            </a:r>
            <a:r>
              <a:rPr lang="de-DE" sz="1000" dirty="0"/>
              <a:t> „</a:t>
            </a:r>
            <a:r>
              <a:rPr lang="de-DE" sz="1000" dirty="0" err="1"/>
              <a:t>VoiceID</a:t>
            </a:r>
            <a:r>
              <a:rPr lang="de-DE" sz="1000" dirty="0"/>
              <a:t> 2026“</a:t>
            </a:r>
          </a:p>
          <a:p>
            <a:r>
              <a:rPr lang="de-DE" sz="1000" dirty="0"/>
              <a:t>	„</a:t>
            </a:r>
            <a:r>
              <a:rPr lang="de-DE" sz="1000" dirty="0" err="1"/>
              <a:t>VoCSA</a:t>
            </a:r>
            <a:r>
              <a:rPr lang="de-DE" sz="1000" dirty="0"/>
              <a:t>“ </a:t>
            </a:r>
            <a:r>
              <a:rPr lang="de-DE" sz="1000" dirty="0" err="1"/>
              <a:t>board</a:t>
            </a:r>
            <a:r>
              <a:rPr lang="de-DE" sz="1000" dirty="0"/>
              <a:t> </a:t>
            </a:r>
            <a:r>
              <a:rPr lang="de-DE" sz="1000" dirty="0" err="1"/>
              <a:t>member</a:t>
            </a:r>
            <a:endParaRPr lang="de-DE" sz="1000" dirty="0"/>
          </a:p>
          <a:p>
            <a:r>
              <a:rPr lang="de-DE" sz="1000" dirty="0"/>
              <a:t>	Chair </a:t>
            </a:r>
            <a:r>
              <a:rPr lang="de-DE" sz="1000" dirty="0" err="1"/>
              <a:t>of</a:t>
            </a:r>
            <a:r>
              <a:rPr lang="de-DE" sz="1000" dirty="0"/>
              <a:t> </a:t>
            </a:r>
            <a:r>
              <a:rPr lang="de-DE" sz="1000" dirty="0" err="1"/>
              <a:t>the</a:t>
            </a:r>
            <a:r>
              <a:rPr lang="de-DE" sz="1000" dirty="0"/>
              <a:t> </a:t>
            </a:r>
            <a:r>
              <a:rPr lang="de-DE" sz="1000" dirty="0" err="1"/>
              <a:t>science</a:t>
            </a:r>
            <a:r>
              <a:rPr lang="de-DE" sz="1000" dirty="0"/>
              <a:t> </a:t>
            </a:r>
            <a:r>
              <a:rPr lang="de-DE" sz="1000" dirty="0" err="1"/>
              <a:t>communication</a:t>
            </a:r>
            <a:r>
              <a:rPr lang="de-DE" sz="1000" dirty="0"/>
              <a:t> </a:t>
            </a:r>
            <a:r>
              <a:rPr lang="de-DE" sz="1000" dirty="0" err="1"/>
              <a:t>platform</a:t>
            </a:r>
            <a:r>
              <a:rPr lang="de-DE" sz="1000" dirty="0"/>
              <a:t> „</a:t>
            </a:r>
            <a:r>
              <a:rPr lang="de-DE" sz="1000" dirty="0" err="1"/>
              <a:t>PhDScicom</a:t>
            </a:r>
            <a:r>
              <a:rPr lang="de-DE" sz="1000" dirty="0"/>
              <a:t>“</a:t>
            </a:r>
          </a:p>
          <a:p>
            <a:endParaRPr lang="de-DE" sz="1100" dirty="0"/>
          </a:p>
        </p:txBody>
      </p:sp>
      <p:pic>
        <p:nvPicPr>
          <p:cNvPr id="7" name="Grafik 6" descr="Ein Bild, das Menschliches Gesicht, Person, Kleidung, Lächeln enthält.&#10;&#10;KI-generierte Inhalte können fehlerhaft sein.">
            <a:extLst>
              <a:ext uri="{FF2B5EF4-FFF2-40B4-BE49-F238E27FC236}">
                <a16:creationId xmlns:a16="http://schemas.microsoft.com/office/drawing/2014/main" id="{AE506D2F-BFB9-447A-8FC7-B7A349008877}"/>
              </a:ext>
            </a:extLst>
          </p:cNvPr>
          <p:cNvPicPr>
            <a:picLocks noChangeAspect="1"/>
          </p:cNvPicPr>
          <p:nvPr/>
        </p:nvPicPr>
        <p:blipFill>
          <a:blip r:embed="rId3" cstate="print">
            <a:extLst>
              <a:ext uri="{28A0092B-C50C-407E-A947-70E740481C1C}">
                <a14:useLocalDpi xmlns:a14="http://schemas.microsoft.com/office/drawing/2010/main" val="0"/>
              </a:ext>
            </a:extLst>
          </a:blip>
          <a:srcRect l="-220" t="4862" r="16648" b="18579"/>
          <a:stretch>
            <a:fillRect/>
          </a:stretch>
        </p:blipFill>
        <p:spPr>
          <a:xfrm>
            <a:off x="359605" y="911077"/>
            <a:ext cx="1896835" cy="2517924"/>
          </a:xfrm>
          <a:prstGeom prst="rect">
            <a:avLst/>
          </a:prstGeom>
        </p:spPr>
      </p:pic>
      <p:pic>
        <p:nvPicPr>
          <p:cNvPr id="8" name="Grafik 7" descr="Ein Bild, das Handschrift, Schrift, Kalligrafie, Typografie enthält.&#10;&#10;KI-generierte Inhalte können fehlerhaft sein.">
            <a:extLst>
              <a:ext uri="{FF2B5EF4-FFF2-40B4-BE49-F238E27FC236}">
                <a16:creationId xmlns:a16="http://schemas.microsoft.com/office/drawing/2014/main" id="{09B42C73-5E54-4C46-A7B7-517A294BEC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54472" y="279730"/>
            <a:ext cx="1161223" cy="653952"/>
          </a:xfrm>
          <a:prstGeom prst="rect">
            <a:avLst/>
          </a:prstGeom>
        </p:spPr>
      </p:pic>
      <p:sp>
        <p:nvSpPr>
          <p:cNvPr id="9" name="Textfeld 8">
            <a:extLst>
              <a:ext uri="{FF2B5EF4-FFF2-40B4-BE49-F238E27FC236}">
                <a16:creationId xmlns:a16="http://schemas.microsoft.com/office/drawing/2014/main" id="{35EADF7A-6450-4AA9-8860-CD277B9835E4}"/>
              </a:ext>
            </a:extLst>
          </p:cNvPr>
          <p:cNvSpPr txBox="1"/>
          <p:nvPr/>
        </p:nvSpPr>
        <p:spPr>
          <a:xfrm>
            <a:off x="275843" y="3395006"/>
            <a:ext cx="2418485" cy="1107996"/>
          </a:xfrm>
          <a:prstGeom prst="rect">
            <a:avLst/>
          </a:prstGeom>
          <a:noFill/>
        </p:spPr>
        <p:txBody>
          <a:bodyPr wrap="square" rtlCol="0">
            <a:spAutoFit/>
          </a:bodyPr>
          <a:lstStyle/>
          <a:p>
            <a:endParaRPr lang="de-DE" sz="1400" dirty="0"/>
          </a:p>
          <a:p>
            <a:r>
              <a:rPr lang="de-DE" sz="1000" dirty="0"/>
              <a:t>2013 – 2018 	</a:t>
            </a:r>
            <a:r>
              <a:rPr lang="de-DE" sz="1000" dirty="0" err="1"/>
              <a:t>B.Sc</a:t>
            </a:r>
            <a:r>
              <a:rPr lang="de-DE" sz="1000" dirty="0"/>
              <a:t>/M.Sc. </a:t>
            </a:r>
            <a:r>
              <a:rPr lang="de-DE" sz="1000" dirty="0" err="1"/>
              <a:t>Psychology</a:t>
            </a:r>
            <a:endParaRPr lang="de-DE" sz="1000" dirty="0"/>
          </a:p>
          <a:p>
            <a:r>
              <a:rPr lang="de-DE" sz="1000" dirty="0"/>
              <a:t>2019 – 2023 	PhD Student </a:t>
            </a:r>
          </a:p>
          <a:p>
            <a:r>
              <a:rPr lang="de-DE" sz="1000" dirty="0" err="1"/>
              <a:t>since</a:t>
            </a:r>
            <a:r>
              <a:rPr lang="de-DE" sz="1000" dirty="0"/>
              <a:t> 2023	Post-</a:t>
            </a:r>
            <a:r>
              <a:rPr lang="de-DE" sz="1000" dirty="0" err="1"/>
              <a:t>doctoral</a:t>
            </a:r>
            <a:r>
              <a:rPr lang="de-DE" sz="1000" dirty="0"/>
              <a:t> </a:t>
            </a:r>
            <a:r>
              <a:rPr lang="de-DE" sz="1000" dirty="0" err="1"/>
              <a:t>researcher</a:t>
            </a:r>
            <a:endParaRPr lang="de-DE" sz="1000" dirty="0"/>
          </a:p>
          <a:p>
            <a:endParaRPr lang="de-DE" sz="1100" dirty="0"/>
          </a:p>
          <a:p>
            <a:endParaRPr lang="de-DE" sz="1100" dirty="0"/>
          </a:p>
        </p:txBody>
      </p:sp>
      <p:graphicFrame>
        <p:nvGraphicFramePr>
          <p:cNvPr id="3" name="Objekt 2">
            <a:extLst>
              <a:ext uri="{FF2B5EF4-FFF2-40B4-BE49-F238E27FC236}">
                <a16:creationId xmlns:a16="http://schemas.microsoft.com/office/drawing/2014/main" id="{0133ADB6-F1BC-4644-A1A3-D670444C4CA4}"/>
              </a:ext>
            </a:extLst>
          </p:cNvPr>
          <p:cNvGraphicFramePr>
            <a:graphicFrameLocks noChangeAspect="1"/>
          </p:cNvGraphicFramePr>
          <p:nvPr>
            <p:extLst>
              <p:ext uri="{D42A27DB-BD31-4B8C-83A1-F6EECF244321}">
                <p14:modId xmlns:p14="http://schemas.microsoft.com/office/powerpoint/2010/main" val="4008847638"/>
              </p:ext>
            </p:extLst>
          </p:nvPr>
        </p:nvGraphicFramePr>
        <p:xfrm>
          <a:off x="3931883" y="3885343"/>
          <a:ext cx="2650274" cy="507588"/>
        </p:xfrm>
        <a:graphic>
          <a:graphicData uri="http://schemas.openxmlformats.org/presentationml/2006/ole">
            <mc:AlternateContent xmlns:mc="http://schemas.openxmlformats.org/markup-compatibility/2006">
              <mc:Choice xmlns:v="urn:schemas-microsoft-com:vml" Requires="v">
                <p:oleObj name="Acrobat Document" r:id="rId5" imgW="6067168" imgH="1162050" progId="Acrobat.Document.DC">
                  <p:embed/>
                </p:oleObj>
              </mc:Choice>
              <mc:Fallback>
                <p:oleObj name="Acrobat Document" r:id="rId5" imgW="6067168" imgH="1162050" progId="Acrobat.Document.DC">
                  <p:embed/>
                  <p:pic>
                    <p:nvPicPr>
                      <p:cNvPr id="0" name=""/>
                      <p:cNvPicPr/>
                      <p:nvPr/>
                    </p:nvPicPr>
                    <p:blipFill>
                      <a:blip r:embed="rId6"/>
                      <a:stretch>
                        <a:fillRect/>
                      </a:stretch>
                    </p:blipFill>
                    <p:spPr>
                      <a:xfrm>
                        <a:off x="3931883" y="3885343"/>
                        <a:ext cx="2650274" cy="507588"/>
                      </a:xfrm>
                      <a:prstGeom prst="rect">
                        <a:avLst/>
                      </a:prstGeom>
                    </p:spPr>
                  </p:pic>
                </p:oleObj>
              </mc:Fallback>
            </mc:AlternateContent>
          </a:graphicData>
        </a:graphic>
      </p:graphicFrame>
      <p:sp>
        <p:nvSpPr>
          <p:cNvPr id="12" name="Rectangle 2">
            <a:extLst>
              <a:ext uri="{FF2B5EF4-FFF2-40B4-BE49-F238E27FC236}">
                <a16:creationId xmlns:a16="http://schemas.microsoft.com/office/drawing/2014/main" id="{5D8B51BA-3F15-4775-BC5C-6604FA03D493}"/>
              </a:ext>
            </a:extLst>
          </p:cNvPr>
          <p:cNvSpPr/>
          <p:nvPr/>
        </p:nvSpPr>
        <p:spPr>
          <a:xfrm>
            <a:off x="1700560" y="4712171"/>
            <a:ext cx="3612995" cy="27911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upright="1">
            <a:noAutofit/>
          </a:bodyPr>
          <a:lstStyle/>
          <a:p>
            <a:pPr algn="ctr">
              <a:lnSpc>
                <a:spcPct val="110000"/>
              </a:lnSpc>
              <a:spcAft>
                <a:spcPts val="1200"/>
              </a:spcAft>
            </a:pPr>
            <a:r>
              <a:rPr lang="de-DE" sz="800" dirty="0">
                <a:solidFill>
                  <a:schemeClr val="bg1"/>
                </a:solidFill>
                <a:effectLst/>
                <a:latin typeface="Roboto Condensed"/>
                <a:ea typeface="Times New Roman" panose="02020603050405020304" pitchFamily="18" charset="0"/>
                <a:cs typeface="Times New Roman" panose="02020603050405020304" pitchFamily="18" charset="0"/>
              </a:rPr>
              <a:t>Institut für Psychologie</a:t>
            </a:r>
            <a:br>
              <a:rPr lang="de-DE" sz="800" dirty="0">
                <a:solidFill>
                  <a:schemeClr val="bg1"/>
                </a:solidFill>
                <a:effectLst/>
                <a:latin typeface="Roboto Condensed"/>
                <a:ea typeface="Times New Roman" panose="02020603050405020304" pitchFamily="18" charset="0"/>
                <a:cs typeface="Times New Roman" panose="02020603050405020304" pitchFamily="18" charset="0"/>
              </a:rPr>
            </a:br>
            <a:r>
              <a:rPr lang="de-DE" sz="800" dirty="0">
                <a:solidFill>
                  <a:schemeClr val="bg1"/>
                </a:solidFill>
                <a:effectLst/>
                <a:latin typeface="Roboto Condensed"/>
                <a:ea typeface="Times New Roman" panose="02020603050405020304" pitchFamily="18" charset="0"/>
                <a:cs typeface="Times New Roman" panose="02020603050405020304" pitchFamily="18" charset="0"/>
              </a:rPr>
              <a:t>Lehrstuhl für Allgemeine Psychologie und kognitive Neurowissenschaften</a:t>
            </a:r>
          </a:p>
        </p:txBody>
      </p:sp>
      <p:pic>
        <p:nvPicPr>
          <p:cNvPr id="11" name="Grafik 10">
            <a:extLst>
              <a:ext uri="{FF2B5EF4-FFF2-40B4-BE49-F238E27FC236}">
                <a16:creationId xmlns:a16="http://schemas.microsoft.com/office/drawing/2014/main" id="{A747A7E0-21EA-C276-DCBF-ACB5BAB2B70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357579" y="3885343"/>
            <a:ext cx="547734" cy="547734"/>
          </a:xfrm>
          <a:prstGeom prst="rect">
            <a:avLst/>
          </a:prstGeom>
        </p:spPr>
      </p:pic>
      <p:pic>
        <p:nvPicPr>
          <p:cNvPr id="14" name="Grafik 13">
            <a:extLst>
              <a:ext uri="{FF2B5EF4-FFF2-40B4-BE49-F238E27FC236}">
                <a16:creationId xmlns:a16="http://schemas.microsoft.com/office/drawing/2014/main" id="{16221E0F-81A6-279B-97D6-B6B9D1B214F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104203" y="873128"/>
            <a:ext cx="507838" cy="507838"/>
          </a:xfrm>
          <a:prstGeom prst="rect">
            <a:avLst/>
          </a:prstGeom>
        </p:spPr>
      </p:pic>
    </p:spTree>
    <p:extLst>
      <p:ext uri="{BB962C8B-B14F-4D97-AF65-F5344CB8AC3E}">
        <p14:creationId xmlns:p14="http://schemas.microsoft.com/office/powerpoint/2010/main" val="2850198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682C0CE6-C1AB-52B6-3605-D60C8C4EDA38}"/>
              </a:ext>
            </a:extLst>
          </p:cNvPr>
          <p:cNvSpPr>
            <a:spLocks noGrp="1"/>
          </p:cNvSpPr>
          <p:nvPr>
            <p:ph type="body" sz="quarter" idx="11"/>
          </p:nvPr>
        </p:nvSpPr>
        <p:spPr/>
        <p:txBody>
          <a:bodyPr/>
          <a:lstStyle/>
          <a:p>
            <a:endParaRPr lang="en-US"/>
          </a:p>
        </p:txBody>
      </p:sp>
      <p:cxnSp>
        <p:nvCxnSpPr>
          <p:cNvPr id="4" name="Gerade Verbindung 9">
            <a:extLst>
              <a:ext uri="{FF2B5EF4-FFF2-40B4-BE49-F238E27FC236}">
                <a16:creationId xmlns:a16="http://schemas.microsoft.com/office/drawing/2014/main" id="{F8B87183-45DE-1556-5E42-7AC8FD85D11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feld 4">
            <a:extLst>
              <a:ext uri="{FF2B5EF4-FFF2-40B4-BE49-F238E27FC236}">
                <a16:creationId xmlns:a16="http://schemas.microsoft.com/office/drawing/2014/main" id="{7F30C240-2BFB-17AD-E8A6-1A42218FF330}"/>
              </a:ext>
            </a:extLst>
          </p:cNvPr>
          <p:cNvSpPr txBox="1"/>
          <p:nvPr/>
        </p:nvSpPr>
        <p:spPr>
          <a:xfrm>
            <a:off x="340096" y="1677417"/>
            <a:ext cx="2803154"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When we hear a voice…. </a:t>
            </a:r>
          </a:p>
        </p:txBody>
      </p:sp>
      <p:sp>
        <p:nvSpPr>
          <p:cNvPr id="7" name="Textfeld 6">
            <a:extLst>
              <a:ext uri="{FF2B5EF4-FFF2-40B4-BE49-F238E27FC236}">
                <a16:creationId xmlns:a16="http://schemas.microsoft.com/office/drawing/2014/main" id="{F7011204-4784-4D23-B7C8-C896DF778B9A}"/>
              </a:ext>
            </a:extLst>
          </p:cNvPr>
          <p:cNvSpPr txBox="1"/>
          <p:nvPr/>
        </p:nvSpPr>
        <p:spPr>
          <a:xfrm>
            <a:off x="1413509" y="2298502"/>
            <a:ext cx="2114973"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 we hear a person!</a:t>
            </a:r>
          </a:p>
        </p:txBody>
      </p:sp>
    </p:spTree>
    <p:extLst>
      <p:ext uri="{BB962C8B-B14F-4D97-AF65-F5344CB8AC3E}">
        <p14:creationId xmlns:p14="http://schemas.microsoft.com/office/powerpoint/2010/main" val="3718644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5A4CBE88-6C5D-4FB8-9316-1A0A18DD7B01}"/>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B887D69D-C009-4130-9A52-0639259A2ABD}"/>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Person Perception from Voices</a:t>
            </a:r>
          </a:p>
        </p:txBody>
      </p:sp>
      <p:sp>
        <p:nvSpPr>
          <p:cNvPr id="6" name="Textplatzhalter 5">
            <a:extLst>
              <a:ext uri="{FF2B5EF4-FFF2-40B4-BE49-F238E27FC236}">
                <a16:creationId xmlns:a16="http://schemas.microsoft.com/office/drawing/2014/main" id="{E06B5722-213E-4240-8C49-D2BB90B5D457}"/>
              </a:ext>
            </a:extLst>
          </p:cNvPr>
          <p:cNvSpPr>
            <a:spLocks noGrp="1"/>
          </p:cNvSpPr>
          <p:nvPr>
            <p:ph type="body" sz="quarter" idx="11"/>
          </p:nvPr>
        </p:nvSpPr>
        <p:spPr/>
        <p:txBody>
          <a:bodyPr/>
          <a:lstStyle/>
          <a:p>
            <a:endParaRPr lang="en-US" dirty="0"/>
          </a:p>
        </p:txBody>
      </p:sp>
      <p:pic>
        <p:nvPicPr>
          <p:cNvPr id="4" name="Grafik 3">
            <a:extLst>
              <a:ext uri="{FF2B5EF4-FFF2-40B4-BE49-F238E27FC236}">
                <a16:creationId xmlns:a16="http://schemas.microsoft.com/office/drawing/2014/main" id="{8D0E1572-3B09-351C-8152-DD5759A65637}"/>
              </a:ext>
            </a:extLst>
          </p:cNvPr>
          <p:cNvPicPr>
            <a:picLocks noChangeAspect="1"/>
          </p:cNvPicPr>
          <p:nvPr/>
        </p:nvPicPr>
        <p:blipFill>
          <a:blip r:embed="rId3"/>
          <a:stretch>
            <a:fillRect/>
          </a:stretch>
        </p:blipFill>
        <p:spPr>
          <a:xfrm>
            <a:off x="594684" y="1283561"/>
            <a:ext cx="5668631" cy="3012350"/>
          </a:xfrm>
          <a:prstGeom prst="rect">
            <a:avLst/>
          </a:prstGeom>
        </p:spPr>
      </p:pic>
      <p:sp>
        <p:nvSpPr>
          <p:cNvPr id="9" name="Textfeld 8">
            <a:extLst>
              <a:ext uri="{FF2B5EF4-FFF2-40B4-BE49-F238E27FC236}">
                <a16:creationId xmlns:a16="http://schemas.microsoft.com/office/drawing/2014/main" id="{6EE22AF8-B507-99EF-21CA-4785ED9D7879}"/>
              </a:ext>
            </a:extLst>
          </p:cNvPr>
          <p:cNvSpPr txBox="1"/>
          <p:nvPr/>
        </p:nvSpPr>
        <p:spPr>
          <a:xfrm>
            <a:off x="3275088" y="4077795"/>
            <a:ext cx="1917513" cy="230832"/>
          </a:xfrm>
          <a:prstGeom prst="rect">
            <a:avLst/>
          </a:prstGeom>
          <a:noFill/>
        </p:spPr>
        <p:txBody>
          <a:bodyPr wrap="none" rtlCol="0">
            <a:spAutoFit/>
          </a:bodyPr>
          <a:lstStyle/>
          <a:p>
            <a:r>
              <a:rPr lang="de-DE" sz="900" dirty="0"/>
              <a:t>[</a:t>
            </a:r>
            <a:r>
              <a:rPr lang="de-DE" sz="900" dirty="0" err="1"/>
              <a:t>Lavan</a:t>
            </a:r>
            <a:r>
              <a:rPr lang="de-DE" sz="900" dirty="0"/>
              <a:t> &amp; </a:t>
            </a:r>
            <a:r>
              <a:rPr lang="de-DE" sz="900" dirty="0" err="1"/>
              <a:t>McGettigan</a:t>
            </a:r>
            <a:r>
              <a:rPr lang="de-DE" sz="900" dirty="0"/>
              <a:t>, 2023; </a:t>
            </a:r>
            <a:r>
              <a:rPr lang="de-DE" sz="900" dirty="0" err="1"/>
              <a:t>Lavan</a:t>
            </a:r>
            <a:r>
              <a:rPr lang="de-DE" sz="900" dirty="0"/>
              <a:t> 2023]</a:t>
            </a:r>
          </a:p>
        </p:txBody>
      </p:sp>
      <p:sp>
        <p:nvSpPr>
          <p:cNvPr id="10" name="Textfeld 9">
            <a:extLst>
              <a:ext uri="{FF2B5EF4-FFF2-40B4-BE49-F238E27FC236}">
                <a16:creationId xmlns:a16="http://schemas.microsoft.com/office/drawing/2014/main" id="{D57DF323-4FB4-FD7D-14FF-654A5B328BF8}"/>
              </a:ext>
            </a:extLst>
          </p:cNvPr>
          <p:cNvSpPr txBox="1"/>
          <p:nvPr/>
        </p:nvSpPr>
        <p:spPr>
          <a:xfrm>
            <a:off x="330829" y="1711463"/>
            <a:ext cx="473206" cy="323165"/>
          </a:xfrm>
          <a:prstGeom prst="rect">
            <a:avLst/>
          </a:prstGeom>
          <a:noFill/>
        </p:spPr>
        <p:txBody>
          <a:bodyPr wrap="none" rtlCol="0">
            <a:spAutoFit/>
          </a:bodyPr>
          <a:lstStyle/>
          <a:p>
            <a:r>
              <a:rPr lang="de-DE" sz="1500" dirty="0" err="1">
                <a:solidFill>
                  <a:srgbClr val="5B0503"/>
                </a:solidFill>
              </a:rPr>
              <a:t>odd</a:t>
            </a:r>
            <a:endParaRPr lang="en-US" sz="1500" dirty="0">
              <a:solidFill>
                <a:srgbClr val="5B0503"/>
              </a:solidFill>
            </a:endParaRPr>
          </a:p>
        </p:txBody>
      </p:sp>
      <p:sp>
        <p:nvSpPr>
          <p:cNvPr id="11" name="Textfeld 10">
            <a:extLst>
              <a:ext uri="{FF2B5EF4-FFF2-40B4-BE49-F238E27FC236}">
                <a16:creationId xmlns:a16="http://schemas.microsoft.com/office/drawing/2014/main" id="{784DB1FE-55CB-E9C7-14FB-F823AD2B9F92}"/>
              </a:ext>
            </a:extLst>
          </p:cNvPr>
          <p:cNvSpPr txBox="1"/>
          <p:nvPr/>
        </p:nvSpPr>
        <p:spPr>
          <a:xfrm>
            <a:off x="5581718" y="794879"/>
            <a:ext cx="599844" cy="323165"/>
          </a:xfrm>
          <a:prstGeom prst="rect">
            <a:avLst/>
          </a:prstGeom>
          <a:noFill/>
        </p:spPr>
        <p:txBody>
          <a:bodyPr wrap="none" rtlCol="0">
            <a:spAutoFit/>
          </a:bodyPr>
          <a:lstStyle/>
          <a:p>
            <a:r>
              <a:rPr lang="de-DE" sz="1500" dirty="0" err="1">
                <a:solidFill>
                  <a:srgbClr val="5B0503"/>
                </a:solidFill>
              </a:rPr>
              <a:t>weird</a:t>
            </a:r>
            <a:endParaRPr lang="en-US" sz="1500" dirty="0">
              <a:solidFill>
                <a:srgbClr val="5B0503"/>
              </a:solidFill>
            </a:endParaRPr>
          </a:p>
        </p:txBody>
      </p:sp>
      <p:sp>
        <p:nvSpPr>
          <p:cNvPr id="12" name="Textfeld 11">
            <a:extLst>
              <a:ext uri="{FF2B5EF4-FFF2-40B4-BE49-F238E27FC236}">
                <a16:creationId xmlns:a16="http://schemas.microsoft.com/office/drawing/2014/main" id="{F786EFA2-E70A-4CA2-A036-9CF04C1CA268}"/>
              </a:ext>
            </a:extLst>
          </p:cNvPr>
          <p:cNvSpPr txBox="1"/>
          <p:nvPr/>
        </p:nvSpPr>
        <p:spPr>
          <a:xfrm>
            <a:off x="5515994" y="3262130"/>
            <a:ext cx="708848" cy="323165"/>
          </a:xfrm>
          <a:prstGeom prst="rect">
            <a:avLst/>
          </a:prstGeom>
          <a:noFill/>
        </p:spPr>
        <p:txBody>
          <a:bodyPr wrap="none" rtlCol="0">
            <a:spAutoFit/>
          </a:bodyPr>
          <a:lstStyle/>
          <a:p>
            <a:r>
              <a:rPr lang="de-DE" sz="1500" dirty="0">
                <a:solidFill>
                  <a:srgbClr val="5B0503"/>
                </a:solidFill>
              </a:rPr>
              <a:t>bizarre</a:t>
            </a:r>
            <a:endParaRPr lang="en-US" sz="1500" dirty="0">
              <a:solidFill>
                <a:srgbClr val="5B0503"/>
              </a:solidFill>
            </a:endParaRPr>
          </a:p>
        </p:txBody>
      </p:sp>
      <p:sp>
        <p:nvSpPr>
          <p:cNvPr id="13" name="Textfeld 12">
            <a:extLst>
              <a:ext uri="{FF2B5EF4-FFF2-40B4-BE49-F238E27FC236}">
                <a16:creationId xmlns:a16="http://schemas.microsoft.com/office/drawing/2014/main" id="{36CAF97A-72A2-54BF-2312-CA7717509603}"/>
              </a:ext>
            </a:extLst>
          </p:cNvPr>
          <p:cNvSpPr txBox="1"/>
          <p:nvPr/>
        </p:nvSpPr>
        <p:spPr>
          <a:xfrm>
            <a:off x="272454" y="2582308"/>
            <a:ext cx="721672" cy="323165"/>
          </a:xfrm>
          <a:prstGeom prst="rect">
            <a:avLst/>
          </a:prstGeom>
          <a:noFill/>
        </p:spPr>
        <p:txBody>
          <a:bodyPr wrap="none" rtlCol="0">
            <a:spAutoFit/>
          </a:bodyPr>
          <a:lstStyle/>
          <a:p>
            <a:r>
              <a:rPr lang="de-DE" sz="1500" dirty="0" err="1">
                <a:solidFill>
                  <a:srgbClr val="5B0503"/>
                </a:solidFill>
              </a:rPr>
              <a:t>robotic</a:t>
            </a:r>
            <a:endParaRPr lang="en-US" sz="1500" dirty="0">
              <a:solidFill>
                <a:srgbClr val="5B0503"/>
              </a:solidFill>
            </a:endParaRPr>
          </a:p>
        </p:txBody>
      </p:sp>
      <p:sp>
        <p:nvSpPr>
          <p:cNvPr id="14" name="Textfeld 13">
            <a:extLst>
              <a:ext uri="{FF2B5EF4-FFF2-40B4-BE49-F238E27FC236}">
                <a16:creationId xmlns:a16="http://schemas.microsoft.com/office/drawing/2014/main" id="{502C4A03-034C-108D-6BFF-DEACECC98962}"/>
              </a:ext>
            </a:extLst>
          </p:cNvPr>
          <p:cNvSpPr txBox="1"/>
          <p:nvPr/>
        </p:nvSpPr>
        <p:spPr>
          <a:xfrm>
            <a:off x="4115044" y="359248"/>
            <a:ext cx="920445" cy="323165"/>
          </a:xfrm>
          <a:prstGeom prst="rect">
            <a:avLst/>
          </a:prstGeom>
          <a:noFill/>
        </p:spPr>
        <p:txBody>
          <a:bodyPr wrap="none" rtlCol="0">
            <a:spAutoFit/>
          </a:bodyPr>
          <a:lstStyle/>
          <a:p>
            <a:r>
              <a:rPr lang="de-DE" sz="1500" dirty="0" err="1">
                <a:solidFill>
                  <a:srgbClr val="5B0503"/>
                </a:solidFill>
              </a:rPr>
              <a:t>unhealthy</a:t>
            </a:r>
            <a:endParaRPr lang="en-US" sz="1500" dirty="0">
              <a:solidFill>
                <a:srgbClr val="5B0503"/>
              </a:solidFill>
            </a:endParaRPr>
          </a:p>
        </p:txBody>
      </p:sp>
      <p:sp>
        <p:nvSpPr>
          <p:cNvPr id="15" name="Textfeld 14">
            <a:extLst>
              <a:ext uri="{FF2B5EF4-FFF2-40B4-BE49-F238E27FC236}">
                <a16:creationId xmlns:a16="http://schemas.microsoft.com/office/drawing/2014/main" id="{8CDFDEAA-EA1B-1D2E-B3DF-1E75D0932C77}"/>
              </a:ext>
            </a:extLst>
          </p:cNvPr>
          <p:cNvSpPr txBox="1"/>
          <p:nvPr/>
        </p:nvSpPr>
        <p:spPr>
          <a:xfrm>
            <a:off x="5858396" y="2451934"/>
            <a:ext cx="758541" cy="323165"/>
          </a:xfrm>
          <a:prstGeom prst="rect">
            <a:avLst/>
          </a:prstGeom>
          <a:noFill/>
        </p:spPr>
        <p:txBody>
          <a:bodyPr wrap="none" rtlCol="0">
            <a:spAutoFit/>
          </a:bodyPr>
          <a:lstStyle/>
          <a:p>
            <a:r>
              <a:rPr lang="de-DE" sz="1500" dirty="0" err="1">
                <a:solidFill>
                  <a:srgbClr val="5B0503"/>
                </a:solidFill>
              </a:rPr>
              <a:t>strange</a:t>
            </a:r>
            <a:endParaRPr lang="en-US" sz="1500" dirty="0">
              <a:solidFill>
                <a:srgbClr val="5B0503"/>
              </a:solidFill>
            </a:endParaRPr>
          </a:p>
        </p:txBody>
      </p:sp>
      <p:sp>
        <p:nvSpPr>
          <p:cNvPr id="16" name="Textfeld 15">
            <a:extLst>
              <a:ext uri="{FF2B5EF4-FFF2-40B4-BE49-F238E27FC236}">
                <a16:creationId xmlns:a16="http://schemas.microsoft.com/office/drawing/2014/main" id="{D9823116-294C-4D58-76FE-DF986AE07885}"/>
              </a:ext>
            </a:extLst>
          </p:cNvPr>
          <p:cNvSpPr txBox="1"/>
          <p:nvPr/>
        </p:nvSpPr>
        <p:spPr>
          <a:xfrm>
            <a:off x="638858" y="919320"/>
            <a:ext cx="1095172" cy="323165"/>
          </a:xfrm>
          <a:prstGeom prst="rect">
            <a:avLst/>
          </a:prstGeom>
          <a:noFill/>
        </p:spPr>
        <p:txBody>
          <a:bodyPr wrap="none" rtlCol="0">
            <a:spAutoFit/>
          </a:bodyPr>
          <a:lstStyle/>
          <a:p>
            <a:r>
              <a:rPr lang="de-DE" sz="1500" dirty="0" err="1">
                <a:solidFill>
                  <a:srgbClr val="5B0503"/>
                </a:solidFill>
              </a:rPr>
              <a:t>machinelike</a:t>
            </a:r>
            <a:endParaRPr lang="en-US" sz="1500" dirty="0">
              <a:solidFill>
                <a:srgbClr val="5B0503"/>
              </a:solidFill>
            </a:endParaRPr>
          </a:p>
        </p:txBody>
      </p:sp>
      <p:sp>
        <p:nvSpPr>
          <p:cNvPr id="17" name="Textfeld 16">
            <a:extLst>
              <a:ext uri="{FF2B5EF4-FFF2-40B4-BE49-F238E27FC236}">
                <a16:creationId xmlns:a16="http://schemas.microsoft.com/office/drawing/2014/main" id="{0596D8B6-08B1-6228-E7A2-B5A904DE8244}"/>
              </a:ext>
            </a:extLst>
          </p:cNvPr>
          <p:cNvSpPr txBox="1"/>
          <p:nvPr/>
        </p:nvSpPr>
        <p:spPr>
          <a:xfrm>
            <a:off x="901750" y="3289440"/>
            <a:ext cx="870751" cy="323165"/>
          </a:xfrm>
          <a:prstGeom prst="rect">
            <a:avLst/>
          </a:prstGeom>
          <a:noFill/>
        </p:spPr>
        <p:txBody>
          <a:bodyPr wrap="none" rtlCol="0">
            <a:spAutoFit/>
          </a:bodyPr>
          <a:lstStyle/>
          <a:p>
            <a:r>
              <a:rPr lang="de-DE" sz="1500" dirty="0" err="1">
                <a:solidFill>
                  <a:srgbClr val="5B0503"/>
                </a:solidFill>
              </a:rPr>
              <a:t>distorted</a:t>
            </a:r>
            <a:endParaRPr lang="en-US" sz="1500" dirty="0">
              <a:solidFill>
                <a:srgbClr val="5B0503"/>
              </a:solidFill>
            </a:endParaRPr>
          </a:p>
        </p:txBody>
      </p:sp>
      <p:sp>
        <p:nvSpPr>
          <p:cNvPr id="18" name="Textfeld 17">
            <a:extLst>
              <a:ext uri="{FF2B5EF4-FFF2-40B4-BE49-F238E27FC236}">
                <a16:creationId xmlns:a16="http://schemas.microsoft.com/office/drawing/2014/main" id="{75D29EA3-C739-9BE4-802E-AE24CAE0DF8E}"/>
              </a:ext>
            </a:extLst>
          </p:cNvPr>
          <p:cNvSpPr txBox="1"/>
          <p:nvPr/>
        </p:nvSpPr>
        <p:spPr>
          <a:xfrm>
            <a:off x="5859044" y="1528452"/>
            <a:ext cx="813043" cy="323165"/>
          </a:xfrm>
          <a:prstGeom prst="rect">
            <a:avLst/>
          </a:prstGeom>
          <a:noFill/>
        </p:spPr>
        <p:txBody>
          <a:bodyPr wrap="none" rtlCol="0">
            <a:spAutoFit/>
          </a:bodyPr>
          <a:lstStyle/>
          <a:p>
            <a:r>
              <a:rPr lang="de-DE" sz="1500" dirty="0" err="1">
                <a:solidFill>
                  <a:srgbClr val="5B0503"/>
                </a:solidFill>
              </a:rPr>
              <a:t>artificial</a:t>
            </a:r>
            <a:endParaRPr lang="en-US" sz="1500" dirty="0">
              <a:solidFill>
                <a:srgbClr val="5B0503"/>
              </a:solidFill>
            </a:endParaRPr>
          </a:p>
        </p:txBody>
      </p:sp>
    </p:spTree>
    <p:extLst>
      <p:ext uri="{BB962C8B-B14F-4D97-AF65-F5344CB8AC3E}">
        <p14:creationId xmlns:p14="http://schemas.microsoft.com/office/powerpoint/2010/main" val="2147293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p:bldP spid="16" grpId="0"/>
      <p:bldP spid="17" grpId="0"/>
      <p:bldP spid="1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C759641A-012E-94F6-ED8D-7169E802F00C}"/>
              </a:ext>
            </a:extLst>
          </p:cNvPr>
          <p:cNvSpPr txBox="1"/>
          <p:nvPr/>
        </p:nvSpPr>
        <p:spPr>
          <a:xfrm>
            <a:off x="962665" y="1928817"/>
            <a:ext cx="1909590" cy="100959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pPr algn="ctr"/>
            <a:r>
              <a:rPr lang="en-US" sz="1500" b="1" dirty="0"/>
              <a:t>Why</a:t>
            </a:r>
            <a:r>
              <a:rPr lang="en-US" sz="1500" dirty="0"/>
              <a:t> is it important to study voice naturalness?</a:t>
            </a:r>
          </a:p>
        </p:txBody>
      </p:sp>
      <p:sp>
        <p:nvSpPr>
          <p:cNvPr id="9" name="Textplatzhalter 8">
            <a:extLst>
              <a:ext uri="{FF2B5EF4-FFF2-40B4-BE49-F238E27FC236}">
                <a16:creationId xmlns:a16="http://schemas.microsoft.com/office/drawing/2014/main" id="{89F9A5D4-AAE1-7BF2-FB3B-CAB7A988045F}"/>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59384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C759641A-012E-94F6-ED8D-7169E802F00C}"/>
              </a:ext>
            </a:extLst>
          </p:cNvPr>
          <p:cNvSpPr txBox="1"/>
          <p:nvPr/>
        </p:nvSpPr>
        <p:spPr>
          <a:xfrm>
            <a:off x="340095" y="440204"/>
            <a:ext cx="6346050" cy="100959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Naturalness has a (negative) impact on communicative quality</a:t>
            </a:r>
          </a:p>
        </p:txBody>
      </p: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11" name="Textfeld 10">
            <a:extLst>
              <a:ext uri="{FF2B5EF4-FFF2-40B4-BE49-F238E27FC236}">
                <a16:creationId xmlns:a16="http://schemas.microsoft.com/office/drawing/2014/main" id="{26D70692-25F0-40F5-A7FE-5056FF06C58F}"/>
              </a:ext>
            </a:extLst>
          </p:cNvPr>
          <p:cNvSpPr txBox="1"/>
          <p:nvPr/>
        </p:nvSpPr>
        <p:spPr>
          <a:xfrm>
            <a:off x="276465" y="1986974"/>
            <a:ext cx="6305070" cy="1246495"/>
          </a:xfrm>
          <a:prstGeom prst="rect">
            <a:avLst/>
          </a:prstGeom>
          <a:noFill/>
        </p:spPr>
        <p:txBody>
          <a:bodyPr wrap="square" rtlCol="0">
            <a:spAutoFit/>
          </a:bodyPr>
          <a:lstStyle/>
          <a:p>
            <a:pPr algn="ctr"/>
            <a:r>
              <a:rPr lang="en-US" sz="1500" i="1" dirty="0"/>
              <a:t>“Impairments in speech naturalness can lead to communication partners perceiving the affected individuals as unhappy, cold, withdrawn, introverted, or bored. These false perceptions can interrupt participation in regular life roles, leading to loss of employment and independence. Thus, impaired speech naturalness can result in social isolation, reduced quality of life, and depression.” </a:t>
            </a:r>
            <a:r>
              <a:rPr lang="en-US" sz="1000" dirty="0"/>
              <a:t>[Stepp &amp; </a:t>
            </a:r>
            <a:r>
              <a:rPr lang="en-US" sz="1000" dirty="0" err="1"/>
              <a:t>Voijtech</a:t>
            </a:r>
            <a:r>
              <a:rPr lang="en-US" sz="1000" dirty="0"/>
              <a:t> 2019]</a:t>
            </a:r>
          </a:p>
        </p:txBody>
      </p:sp>
    </p:spTree>
    <p:extLst>
      <p:ext uri="{BB962C8B-B14F-4D97-AF65-F5344CB8AC3E}">
        <p14:creationId xmlns:p14="http://schemas.microsoft.com/office/powerpoint/2010/main" val="4243705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C759641A-012E-94F6-ED8D-7169E802F00C}"/>
              </a:ext>
            </a:extLst>
          </p:cNvPr>
          <p:cNvSpPr txBox="1"/>
          <p:nvPr/>
        </p:nvSpPr>
        <p:spPr>
          <a:xfrm>
            <a:off x="340095" y="440204"/>
            <a:ext cx="6346050" cy="100959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Naturalness is an important aspect for the design of synthetic/artificial voices</a:t>
            </a:r>
          </a:p>
        </p:txBody>
      </p: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11" name="Textfeld 10">
            <a:extLst>
              <a:ext uri="{FF2B5EF4-FFF2-40B4-BE49-F238E27FC236}">
                <a16:creationId xmlns:a16="http://schemas.microsoft.com/office/drawing/2014/main" id="{26D70692-25F0-40F5-A7FE-5056FF06C58F}"/>
              </a:ext>
            </a:extLst>
          </p:cNvPr>
          <p:cNvSpPr txBox="1"/>
          <p:nvPr/>
        </p:nvSpPr>
        <p:spPr>
          <a:xfrm>
            <a:off x="276465" y="1771531"/>
            <a:ext cx="6305070" cy="1846659"/>
          </a:xfrm>
          <a:prstGeom prst="rect">
            <a:avLst/>
          </a:prstGeom>
          <a:noFill/>
        </p:spPr>
        <p:txBody>
          <a:bodyPr wrap="square" rtlCol="0">
            <a:spAutoFit/>
          </a:bodyPr>
          <a:lstStyle/>
          <a:p>
            <a:pPr algn="ctr"/>
            <a:r>
              <a:rPr lang="en-US" sz="1500" i="1" dirty="0"/>
              <a:t>“The growing popularity of speech interfaces goes hand in hand with the creation of synthetic voices that sound ever more human. Previous research has been inconclusive about whether anthropomorphic design features of machines are more likely to be associated with positive user responses or, conversely, with uncanny experiences. To avoid detrimental effects of synthetic voice design, it is therefore crucial to explore what level of human realism human interactors prefer and whether their evaluations may vary across different domains of application.” </a:t>
            </a:r>
            <a:r>
              <a:rPr lang="en-US" sz="900" i="1" dirty="0"/>
              <a:t>[</a:t>
            </a:r>
            <a:r>
              <a:rPr lang="en-US" sz="900" i="1" dirty="0" err="1"/>
              <a:t>Schreibelmayer</a:t>
            </a:r>
            <a:r>
              <a:rPr lang="en-US" sz="900" i="1" dirty="0"/>
              <a:t> &amp; Mara, 2022]</a:t>
            </a:r>
          </a:p>
        </p:txBody>
      </p:sp>
    </p:spTree>
    <p:extLst>
      <p:ext uri="{BB962C8B-B14F-4D97-AF65-F5344CB8AC3E}">
        <p14:creationId xmlns:p14="http://schemas.microsoft.com/office/powerpoint/2010/main" val="2359506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C759641A-012E-94F6-ED8D-7169E802F00C}"/>
              </a:ext>
            </a:extLst>
          </p:cNvPr>
          <p:cNvSpPr txBox="1"/>
          <p:nvPr/>
        </p:nvSpPr>
        <p:spPr>
          <a:xfrm>
            <a:off x="814192" y="1763165"/>
            <a:ext cx="2058063" cy="100959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pPr algn="ctr"/>
            <a:r>
              <a:rPr lang="en-US" sz="1500" dirty="0"/>
              <a:t>What are </a:t>
            </a:r>
            <a:r>
              <a:rPr lang="en-US" sz="1500" b="1" dirty="0"/>
              <a:t>current problems </a:t>
            </a:r>
            <a:r>
              <a:rPr lang="en-US" sz="1500" dirty="0"/>
              <a:t>in voice naturalness research?</a:t>
            </a:r>
          </a:p>
        </p:txBody>
      </p:sp>
      <p:sp>
        <p:nvSpPr>
          <p:cNvPr id="4" name="Textplatzhalter 3">
            <a:extLst>
              <a:ext uri="{FF2B5EF4-FFF2-40B4-BE49-F238E27FC236}">
                <a16:creationId xmlns:a16="http://schemas.microsoft.com/office/drawing/2014/main" id="{572C6C58-FADB-E90C-0B24-840CF9AB956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762456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5A4CBE88-6C5D-4FB8-9316-1A0A18DD7B01}"/>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B887D69D-C009-4130-9A52-0639259A2ABD}"/>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Conceptual </a:t>
            </a:r>
            <a:r>
              <a:rPr lang="en-US" sz="1500" dirty="0" err="1"/>
              <a:t>underspecification</a:t>
            </a:r>
            <a:endParaRPr lang="en-US" sz="1500" dirty="0"/>
          </a:p>
        </p:txBody>
      </p:sp>
      <p:sp>
        <p:nvSpPr>
          <p:cNvPr id="6" name="Textplatzhalter 5">
            <a:extLst>
              <a:ext uri="{FF2B5EF4-FFF2-40B4-BE49-F238E27FC236}">
                <a16:creationId xmlns:a16="http://schemas.microsoft.com/office/drawing/2014/main" id="{E06B5722-213E-4240-8C49-D2BB90B5D457}"/>
              </a:ext>
            </a:extLst>
          </p:cNvPr>
          <p:cNvSpPr>
            <a:spLocks noGrp="1"/>
          </p:cNvSpPr>
          <p:nvPr>
            <p:ph type="body" sz="quarter" idx="11"/>
          </p:nvPr>
        </p:nvSpPr>
        <p:spPr/>
        <p:txBody>
          <a:bodyPr/>
          <a:lstStyle/>
          <a:p>
            <a:endParaRPr lang="en-US" dirty="0"/>
          </a:p>
        </p:txBody>
      </p:sp>
      <p:sp>
        <p:nvSpPr>
          <p:cNvPr id="5" name="Textfeld 4">
            <a:extLst>
              <a:ext uri="{FF2B5EF4-FFF2-40B4-BE49-F238E27FC236}">
                <a16:creationId xmlns:a16="http://schemas.microsoft.com/office/drawing/2014/main" id="{070D7A27-E257-87E3-AE56-08648A47EF1A}"/>
              </a:ext>
            </a:extLst>
          </p:cNvPr>
          <p:cNvSpPr txBox="1"/>
          <p:nvPr/>
        </p:nvSpPr>
        <p:spPr>
          <a:xfrm>
            <a:off x="340096" y="3689088"/>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pPr marL="285750" indent="-285750">
              <a:buFont typeface="Wingdings" panose="05000000000000000000" pitchFamily="2" charset="2"/>
              <a:buChar char="Ø"/>
            </a:pPr>
            <a:r>
              <a:rPr lang="en-US" sz="1600" dirty="0"/>
              <a:t>&lt;50% of the identified articles don’t have an explicit definition of naturalness</a:t>
            </a:r>
          </a:p>
        </p:txBody>
      </p:sp>
      <p:sp>
        <p:nvSpPr>
          <p:cNvPr id="4" name="Textfeld 3">
            <a:extLst>
              <a:ext uri="{FF2B5EF4-FFF2-40B4-BE49-F238E27FC236}">
                <a16:creationId xmlns:a16="http://schemas.microsoft.com/office/drawing/2014/main" id="{0AE98676-2D7A-9949-FF42-48C3DD451A27}"/>
              </a:ext>
            </a:extLst>
          </p:cNvPr>
          <p:cNvSpPr txBox="1"/>
          <p:nvPr/>
        </p:nvSpPr>
        <p:spPr>
          <a:xfrm flipH="1">
            <a:off x="1296140" y="1199904"/>
            <a:ext cx="1907089" cy="116955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000" i="1" dirty="0">
                <a:solidFill>
                  <a:schemeClr val="tx1"/>
                </a:solidFill>
              </a:rPr>
              <a:t>“Naturalness was defined as conforming to the listener’s standards of rate, rhythm, intonation, and stress patterning and to the syntactic structure of the utterance being produced” [Abur et al. 2021, page 4687]</a:t>
            </a:r>
            <a:endParaRPr lang="en-US" sz="1000" dirty="0">
              <a:solidFill>
                <a:schemeClr val="tx1"/>
              </a:solidFill>
            </a:endParaRPr>
          </a:p>
        </p:txBody>
      </p:sp>
      <p:sp>
        <p:nvSpPr>
          <p:cNvPr id="7" name="Textfeld 6">
            <a:extLst>
              <a:ext uri="{FF2B5EF4-FFF2-40B4-BE49-F238E27FC236}">
                <a16:creationId xmlns:a16="http://schemas.microsoft.com/office/drawing/2014/main" id="{EDDC3351-F2A9-15CA-C915-CF6F1D61FE06}"/>
              </a:ext>
            </a:extLst>
          </p:cNvPr>
          <p:cNvSpPr txBox="1"/>
          <p:nvPr/>
        </p:nvSpPr>
        <p:spPr>
          <a:xfrm flipH="1">
            <a:off x="1296140" y="2573991"/>
            <a:ext cx="1907089"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000" i="1" dirty="0">
                <a:solidFill>
                  <a:schemeClr val="tx1"/>
                </a:solidFill>
              </a:rPr>
              <a:t>"Naturalness’ will not be defined for you.“ [Martin 1984, page 54]</a:t>
            </a:r>
          </a:p>
        </p:txBody>
      </p:sp>
      <p:sp>
        <p:nvSpPr>
          <p:cNvPr id="11" name="Textfeld 10">
            <a:extLst>
              <a:ext uri="{FF2B5EF4-FFF2-40B4-BE49-F238E27FC236}">
                <a16:creationId xmlns:a16="http://schemas.microsoft.com/office/drawing/2014/main" id="{8093030F-D1A3-1AA0-2336-1D5F3F7812B8}"/>
              </a:ext>
            </a:extLst>
          </p:cNvPr>
          <p:cNvSpPr txBox="1"/>
          <p:nvPr/>
        </p:nvSpPr>
        <p:spPr>
          <a:xfrm flipH="1">
            <a:off x="3485365" y="1196669"/>
            <a:ext cx="1907089" cy="707886"/>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000" i="1" dirty="0">
                <a:solidFill>
                  <a:schemeClr val="tx1"/>
                </a:solidFill>
              </a:rPr>
              <a:t>“Natural speech is the speech most closely perceived as a human voice.”</a:t>
            </a:r>
          </a:p>
          <a:p>
            <a:r>
              <a:rPr lang="en-US" sz="1000" i="1" dirty="0">
                <a:solidFill>
                  <a:schemeClr val="tx1"/>
                </a:solidFill>
              </a:rPr>
              <a:t>[</a:t>
            </a:r>
            <a:r>
              <a:rPr lang="en-US" sz="1000" i="1" dirty="0" err="1">
                <a:solidFill>
                  <a:schemeClr val="tx1"/>
                </a:solidFill>
              </a:rPr>
              <a:t>Mawalim</a:t>
            </a:r>
            <a:r>
              <a:rPr lang="en-US" sz="1000" i="1" dirty="0">
                <a:solidFill>
                  <a:schemeClr val="tx1"/>
                </a:solidFill>
              </a:rPr>
              <a:t> et al. 2022, page 10]</a:t>
            </a:r>
          </a:p>
        </p:txBody>
      </p:sp>
      <p:sp>
        <p:nvSpPr>
          <p:cNvPr id="12" name="Textfeld 11">
            <a:extLst>
              <a:ext uri="{FF2B5EF4-FFF2-40B4-BE49-F238E27FC236}">
                <a16:creationId xmlns:a16="http://schemas.microsoft.com/office/drawing/2014/main" id="{C864BCA1-2EBC-75F4-6A48-09F376DFC355}"/>
              </a:ext>
            </a:extLst>
          </p:cNvPr>
          <p:cNvSpPr txBox="1"/>
          <p:nvPr/>
        </p:nvSpPr>
        <p:spPr>
          <a:xfrm flipH="1">
            <a:off x="3485365" y="2111535"/>
            <a:ext cx="1907089" cy="861774"/>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sz="1000" i="1" dirty="0">
                <a:solidFill>
                  <a:srgbClr val="002F5D"/>
                </a:solidFill>
              </a:rPr>
              <a:t>"By naturalness, we understand the voice stimulus to be perceived as a plausible outcome of the human speech production system. </a:t>
            </a:r>
            <a:r>
              <a:rPr lang="en-US" sz="1000" dirty="0">
                <a:solidFill>
                  <a:srgbClr val="002F5D"/>
                </a:solidFill>
              </a:rPr>
              <a:t>“ [Nussbaum, et. al. 2023, page 1]</a:t>
            </a:r>
          </a:p>
        </p:txBody>
      </p:sp>
    </p:spTree>
    <p:extLst>
      <p:ext uri="{BB962C8B-B14F-4D97-AF65-F5344CB8AC3E}">
        <p14:creationId xmlns:p14="http://schemas.microsoft.com/office/powerpoint/2010/main" val="306039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5A4CBE88-6C5D-4FB8-9316-1A0A18DD7B01}"/>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B887D69D-C009-4130-9A52-0639259A2ABD}"/>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Heterogeneous terminology in the literature</a:t>
            </a:r>
          </a:p>
        </p:txBody>
      </p:sp>
      <p:sp>
        <p:nvSpPr>
          <p:cNvPr id="6" name="Textplatzhalter 5">
            <a:extLst>
              <a:ext uri="{FF2B5EF4-FFF2-40B4-BE49-F238E27FC236}">
                <a16:creationId xmlns:a16="http://schemas.microsoft.com/office/drawing/2014/main" id="{E06B5722-213E-4240-8C49-D2BB90B5D457}"/>
              </a:ext>
            </a:extLst>
          </p:cNvPr>
          <p:cNvSpPr>
            <a:spLocks noGrp="1"/>
          </p:cNvSpPr>
          <p:nvPr>
            <p:ph type="body" sz="quarter" idx="11"/>
          </p:nvPr>
        </p:nvSpPr>
        <p:spPr/>
        <p:txBody>
          <a:bodyPr/>
          <a:lstStyle/>
          <a:p>
            <a:endParaRPr lang="en-US" dirty="0"/>
          </a:p>
        </p:txBody>
      </p:sp>
      <p:pic>
        <p:nvPicPr>
          <p:cNvPr id="9" name="Grafik 8" descr="Ein Bild, das Text, Screenshot, Schrift enthält.&#10;&#10;Automatisch generierte Beschreibung">
            <a:extLst>
              <a:ext uri="{FF2B5EF4-FFF2-40B4-BE49-F238E27FC236}">
                <a16:creationId xmlns:a16="http://schemas.microsoft.com/office/drawing/2014/main" id="{35841147-2288-586A-CAFA-9AA5B6CAA0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24363" y="867114"/>
            <a:ext cx="3409274" cy="3409272"/>
          </a:xfrm>
          <a:prstGeom prst="rect">
            <a:avLst/>
          </a:prstGeom>
        </p:spPr>
      </p:pic>
    </p:spTree>
    <p:extLst>
      <p:ext uri="{BB962C8B-B14F-4D97-AF65-F5344CB8AC3E}">
        <p14:creationId xmlns:p14="http://schemas.microsoft.com/office/powerpoint/2010/main" val="24394024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5A4CBE88-6C5D-4FB8-9316-1A0A18DD7B01}"/>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B887D69D-C009-4130-9A52-0639259A2ABD}"/>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Lack of exchange between different research domains</a:t>
            </a:r>
          </a:p>
        </p:txBody>
      </p:sp>
      <p:sp>
        <p:nvSpPr>
          <p:cNvPr id="6" name="Textplatzhalter 5">
            <a:extLst>
              <a:ext uri="{FF2B5EF4-FFF2-40B4-BE49-F238E27FC236}">
                <a16:creationId xmlns:a16="http://schemas.microsoft.com/office/drawing/2014/main" id="{E06B5722-213E-4240-8C49-D2BB90B5D457}"/>
              </a:ext>
            </a:extLst>
          </p:cNvPr>
          <p:cNvSpPr>
            <a:spLocks noGrp="1"/>
          </p:cNvSpPr>
          <p:nvPr>
            <p:ph type="body" sz="quarter" idx="11"/>
          </p:nvPr>
        </p:nvSpPr>
        <p:spPr/>
        <p:txBody>
          <a:bodyPr/>
          <a:lstStyle/>
          <a:p>
            <a:endParaRPr lang="en-US" dirty="0"/>
          </a:p>
        </p:txBody>
      </p:sp>
      <p:pic>
        <p:nvPicPr>
          <p:cNvPr id="7" name="Grafik 6">
            <a:extLst>
              <a:ext uri="{FF2B5EF4-FFF2-40B4-BE49-F238E27FC236}">
                <a16:creationId xmlns:a16="http://schemas.microsoft.com/office/drawing/2014/main" id="{20B850D0-87A1-4878-A49C-21D0AFAD6F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6991" y="793609"/>
            <a:ext cx="4961504" cy="3508194"/>
          </a:xfrm>
          <a:prstGeom prst="rect">
            <a:avLst/>
          </a:prstGeom>
        </p:spPr>
      </p:pic>
    </p:spTree>
    <p:extLst>
      <p:ext uri="{BB962C8B-B14F-4D97-AF65-F5344CB8AC3E}">
        <p14:creationId xmlns:p14="http://schemas.microsoft.com/office/powerpoint/2010/main" val="2705815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C759641A-012E-94F6-ED8D-7169E802F00C}"/>
              </a:ext>
            </a:extLst>
          </p:cNvPr>
          <p:cNvSpPr txBox="1"/>
          <p:nvPr/>
        </p:nvSpPr>
        <p:spPr>
          <a:xfrm>
            <a:off x="814192" y="1763165"/>
            <a:ext cx="2058063" cy="100959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pPr algn="ctr"/>
            <a:r>
              <a:rPr lang="en-US" sz="1500" dirty="0"/>
              <a:t>Towards a </a:t>
            </a:r>
            <a:r>
              <a:rPr lang="en-US" sz="1500" b="1" dirty="0"/>
              <a:t>concise framework </a:t>
            </a:r>
            <a:r>
              <a:rPr lang="en-US" sz="1500" dirty="0"/>
              <a:t>for voice naturalness</a:t>
            </a:r>
          </a:p>
        </p:txBody>
      </p:sp>
      <p:sp>
        <p:nvSpPr>
          <p:cNvPr id="4" name="Textplatzhalter 3">
            <a:extLst>
              <a:ext uri="{FF2B5EF4-FFF2-40B4-BE49-F238E27FC236}">
                <a16:creationId xmlns:a16="http://schemas.microsoft.com/office/drawing/2014/main" id="{572C6C58-FADB-E90C-0B24-840CF9AB956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9612078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5A4CBE88-6C5D-4FB8-9316-1A0A18DD7B01}"/>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B887D69D-C009-4130-9A52-0639259A2ABD}"/>
              </a:ext>
            </a:extLst>
          </p:cNvPr>
          <p:cNvSpPr txBox="1"/>
          <p:nvPr/>
        </p:nvSpPr>
        <p:spPr>
          <a:xfrm>
            <a:off x="340096" y="440203"/>
            <a:ext cx="6074992" cy="523219"/>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Understanding Voice Naturalness (2025)</a:t>
            </a:r>
          </a:p>
          <a:p>
            <a:r>
              <a:rPr lang="en-US" sz="800" dirty="0"/>
              <a:t>Christine Nussbaum, Sascha </a:t>
            </a:r>
            <a:r>
              <a:rPr lang="en-US" sz="800" dirty="0" err="1"/>
              <a:t>Frühholz</a:t>
            </a:r>
            <a:r>
              <a:rPr lang="en-US" sz="800" dirty="0"/>
              <a:t> and Stefan R. </a:t>
            </a:r>
            <a:r>
              <a:rPr lang="en-US" sz="800" dirty="0" err="1"/>
              <a:t>Schweinberger</a:t>
            </a:r>
            <a:endParaRPr lang="en-US" sz="800" dirty="0"/>
          </a:p>
          <a:p>
            <a:r>
              <a:rPr lang="en-US" sz="800" dirty="0"/>
              <a:t>In </a:t>
            </a:r>
            <a:r>
              <a:rPr lang="de-DE" sz="800" i="1" dirty="0"/>
              <a:t>Trends in </a:t>
            </a:r>
            <a:r>
              <a:rPr lang="de-DE" sz="800" i="1" dirty="0" err="1"/>
              <a:t>Cognitive</a:t>
            </a:r>
            <a:r>
              <a:rPr lang="de-DE" sz="800" i="1" dirty="0"/>
              <a:t>  Sciences</a:t>
            </a:r>
            <a:endParaRPr lang="en-US" sz="800" dirty="0"/>
          </a:p>
        </p:txBody>
      </p:sp>
      <p:sp>
        <p:nvSpPr>
          <p:cNvPr id="6" name="Textplatzhalter 5">
            <a:extLst>
              <a:ext uri="{FF2B5EF4-FFF2-40B4-BE49-F238E27FC236}">
                <a16:creationId xmlns:a16="http://schemas.microsoft.com/office/drawing/2014/main" id="{E06B5722-213E-4240-8C49-D2BB90B5D457}"/>
              </a:ext>
            </a:extLst>
          </p:cNvPr>
          <p:cNvSpPr>
            <a:spLocks noGrp="1"/>
          </p:cNvSpPr>
          <p:nvPr>
            <p:ph type="body" sz="quarter" idx="11"/>
          </p:nvPr>
        </p:nvSpPr>
        <p:spPr/>
        <p:txBody>
          <a:bodyPr/>
          <a:lstStyle/>
          <a:p>
            <a:endParaRPr lang="en-US" dirty="0"/>
          </a:p>
        </p:txBody>
      </p:sp>
      <p:pic>
        <p:nvPicPr>
          <p:cNvPr id="7" name="Grafik 6" descr="Ein Bild, das Text, Screenshot, Schrift, Design enthält.&#10;&#10;Automatisch generierte Beschreibung">
            <a:extLst>
              <a:ext uri="{FF2B5EF4-FFF2-40B4-BE49-F238E27FC236}">
                <a16:creationId xmlns:a16="http://schemas.microsoft.com/office/drawing/2014/main" id="{1E0356A9-BD7E-F672-EE4B-24C9735551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0394" y="1725828"/>
            <a:ext cx="6205301" cy="1734882"/>
          </a:xfrm>
          <a:prstGeom prst="rect">
            <a:avLst/>
          </a:prstGeom>
        </p:spPr>
      </p:pic>
      <p:sp>
        <p:nvSpPr>
          <p:cNvPr id="14" name="Textfeld 13">
            <a:extLst>
              <a:ext uri="{FF2B5EF4-FFF2-40B4-BE49-F238E27FC236}">
                <a16:creationId xmlns:a16="http://schemas.microsoft.com/office/drawing/2014/main" id="{8BDFD3AA-3A5A-1450-F2E0-A18CA0B13F69}"/>
              </a:ext>
            </a:extLst>
          </p:cNvPr>
          <p:cNvSpPr txBox="1"/>
          <p:nvPr/>
        </p:nvSpPr>
        <p:spPr>
          <a:xfrm>
            <a:off x="340096" y="3417672"/>
            <a:ext cx="4094198" cy="276999"/>
          </a:xfrm>
          <a:prstGeom prst="rect">
            <a:avLst/>
          </a:prstGeom>
          <a:noFill/>
        </p:spPr>
        <p:txBody>
          <a:bodyPr wrap="none" rtlCol="0">
            <a:spAutoFit/>
          </a:bodyPr>
          <a:lstStyle/>
          <a:p>
            <a:r>
              <a:rPr lang="en-US" sz="1200" b="0" i="0" u="none" strike="noStrike" baseline="0" dirty="0">
                <a:latin typeface="Calibri" panose="020F0502020204030204" pitchFamily="34" charset="0"/>
              </a:rPr>
              <a:t>A conceptual framework for the definition of voice naturalness</a:t>
            </a:r>
            <a:endParaRPr lang="de-DE" sz="1200" dirty="0"/>
          </a:p>
        </p:txBody>
      </p:sp>
      <p:pic>
        <p:nvPicPr>
          <p:cNvPr id="5" name="Grafik 4">
            <a:extLst>
              <a:ext uri="{FF2B5EF4-FFF2-40B4-BE49-F238E27FC236}">
                <a16:creationId xmlns:a16="http://schemas.microsoft.com/office/drawing/2014/main" id="{787EC6A8-0C2D-53E9-C840-A097A56D86B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54351" y="359248"/>
            <a:ext cx="812165" cy="812165"/>
          </a:xfrm>
          <a:prstGeom prst="rect">
            <a:avLst/>
          </a:prstGeom>
        </p:spPr>
      </p:pic>
    </p:spTree>
    <p:extLst>
      <p:ext uri="{BB962C8B-B14F-4D97-AF65-F5344CB8AC3E}">
        <p14:creationId xmlns:p14="http://schemas.microsoft.com/office/powerpoint/2010/main" val="1267005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5A4CBE88-6C5D-4FB8-9316-1A0A18DD7B01}"/>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B887D69D-C009-4130-9A52-0639259A2ABD}"/>
              </a:ext>
            </a:extLst>
          </p:cNvPr>
          <p:cNvSpPr txBox="1"/>
          <p:nvPr/>
        </p:nvSpPr>
        <p:spPr>
          <a:xfrm>
            <a:off x="340096" y="440203"/>
            <a:ext cx="6074992" cy="523219"/>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Understanding Voice Naturalness (2025)</a:t>
            </a:r>
          </a:p>
          <a:p>
            <a:r>
              <a:rPr lang="en-US" sz="800" dirty="0"/>
              <a:t>Christine Nussbaum, Sascha </a:t>
            </a:r>
            <a:r>
              <a:rPr lang="en-US" sz="800" dirty="0" err="1"/>
              <a:t>Frühholz</a:t>
            </a:r>
            <a:r>
              <a:rPr lang="en-US" sz="800" dirty="0"/>
              <a:t> and Stefan R. </a:t>
            </a:r>
            <a:r>
              <a:rPr lang="en-US" sz="800" dirty="0" err="1"/>
              <a:t>Schweinberger</a:t>
            </a:r>
            <a:endParaRPr lang="en-US" sz="800" dirty="0"/>
          </a:p>
          <a:p>
            <a:r>
              <a:rPr lang="en-US" sz="800" dirty="0"/>
              <a:t>In </a:t>
            </a:r>
            <a:r>
              <a:rPr lang="de-DE" sz="800" i="1" dirty="0"/>
              <a:t>Trends in </a:t>
            </a:r>
            <a:r>
              <a:rPr lang="de-DE" sz="800" i="1" dirty="0" err="1"/>
              <a:t>Cognitive</a:t>
            </a:r>
            <a:r>
              <a:rPr lang="de-DE" sz="800" i="1" dirty="0"/>
              <a:t>  Sciences</a:t>
            </a:r>
            <a:endParaRPr lang="en-US" sz="800" dirty="0"/>
          </a:p>
        </p:txBody>
      </p:sp>
      <p:sp>
        <p:nvSpPr>
          <p:cNvPr id="6" name="Textplatzhalter 5">
            <a:extLst>
              <a:ext uri="{FF2B5EF4-FFF2-40B4-BE49-F238E27FC236}">
                <a16:creationId xmlns:a16="http://schemas.microsoft.com/office/drawing/2014/main" id="{E06B5722-213E-4240-8C49-D2BB90B5D457}"/>
              </a:ext>
            </a:extLst>
          </p:cNvPr>
          <p:cNvSpPr>
            <a:spLocks noGrp="1"/>
          </p:cNvSpPr>
          <p:nvPr>
            <p:ph type="body" sz="quarter" idx="11"/>
          </p:nvPr>
        </p:nvSpPr>
        <p:spPr/>
        <p:txBody>
          <a:bodyPr/>
          <a:lstStyle/>
          <a:p>
            <a:endParaRPr lang="en-US" dirty="0"/>
          </a:p>
        </p:txBody>
      </p:sp>
      <p:sp>
        <p:nvSpPr>
          <p:cNvPr id="14" name="Textfeld 13">
            <a:extLst>
              <a:ext uri="{FF2B5EF4-FFF2-40B4-BE49-F238E27FC236}">
                <a16:creationId xmlns:a16="http://schemas.microsoft.com/office/drawing/2014/main" id="{8BDFD3AA-3A5A-1450-F2E0-A18CA0B13F69}"/>
              </a:ext>
            </a:extLst>
          </p:cNvPr>
          <p:cNvSpPr txBox="1"/>
          <p:nvPr/>
        </p:nvSpPr>
        <p:spPr>
          <a:xfrm>
            <a:off x="340096" y="3617498"/>
            <a:ext cx="3458576" cy="276999"/>
          </a:xfrm>
          <a:prstGeom prst="rect">
            <a:avLst/>
          </a:prstGeom>
          <a:noFill/>
        </p:spPr>
        <p:txBody>
          <a:bodyPr wrap="none" rtlCol="0">
            <a:spAutoFit/>
          </a:bodyPr>
          <a:lstStyle/>
          <a:p>
            <a:r>
              <a:rPr lang="en-US" sz="1200" dirty="0">
                <a:latin typeface="Calibri" panose="020F0502020204030204" pitchFamily="34" charset="0"/>
              </a:rPr>
              <a:t>Rooting voice naturalness in voice-processing theory</a:t>
            </a:r>
            <a:endParaRPr lang="de-DE" sz="1200" dirty="0"/>
          </a:p>
        </p:txBody>
      </p:sp>
      <p:pic>
        <p:nvPicPr>
          <p:cNvPr id="5" name="Grafik 4">
            <a:extLst>
              <a:ext uri="{FF2B5EF4-FFF2-40B4-BE49-F238E27FC236}">
                <a16:creationId xmlns:a16="http://schemas.microsoft.com/office/drawing/2014/main" id="{787EC6A8-0C2D-53E9-C840-A097A56D86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4351" y="359248"/>
            <a:ext cx="812165" cy="812165"/>
          </a:xfrm>
          <a:prstGeom prst="rect">
            <a:avLst/>
          </a:prstGeom>
        </p:spPr>
      </p:pic>
      <p:pic>
        <p:nvPicPr>
          <p:cNvPr id="8" name="Grafik 7">
            <a:extLst>
              <a:ext uri="{FF2B5EF4-FFF2-40B4-BE49-F238E27FC236}">
                <a16:creationId xmlns:a16="http://schemas.microsoft.com/office/drawing/2014/main" id="{3AB10016-DC69-40A5-A7CD-3E885CDE9DF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1667" y="1594866"/>
            <a:ext cx="6074665" cy="1953768"/>
          </a:xfrm>
          <a:prstGeom prst="rect">
            <a:avLst/>
          </a:prstGeom>
        </p:spPr>
      </p:pic>
    </p:spTree>
    <p:extLst>
      <p:ext uri="{BB962C8B-B14F-4D97-AF65-F5344CB8AC3E}">
        <p14:creationId xmlns:p14="http://schemas.microsoft.com/office/powerpoint/2010/main" val="1701301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C759641A-012E-94F6-ED8D-7169E802F00C}"/>
              </a:ext>
            </a:extLst>
          </p:cNvPr>
          <p:cNvSpPr txBox="1"/>
          <p:nvPr/>
        </p:nvSpPr>
        <p:spPr>
          <a:xfrm>
            <a:off x="1025295" y="1979118"/>
            <a:ext cx="2118738" cy="118526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pPr algn="ctr"/>
            <a:r>
              <a:rPr lang="en-US" sz="1500" b="1" dirty="0"/>
              <a:t>Empirical work </a:t>
            </a:r>
            <a:r>
              <a:rPr lang="en-US" sz="1500" dirty="0"/>
              <a:t>on voice naturalness perception (ongoing)</a:t>
            </a:r>
          </a:p>
        </p:txBody>
      </p:sp>
      <p:sp>
        <p:nvSpPr>
          <p:cNvPr id="4" name="Textplatzhalter 3">
            <a:extLst>
              <a:ext uri="{FF2B5EF4-FFF2-40B4-BE49-F238E27FC236}">
                <a16:creationId xmlns:a16="http://schemas.microsoft.com/office/drawing/2014/main" id="{28445AE4-9F1E-DA63-C492-AAB3A8499FA0}"/>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29988040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5A4CBE88-6C5D-4FB8-9316-1A0A18DD7B01}"/>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06B5722-213E-4240-8C49-D2BB90B5D457}"/>
              </a:ext>
            </a:extLst>
          </p:cNvPr>
          <p:cNvSpPr>
            <a:spLocks noGrp="1"/>
          </p:cNvSpPr>
          <p:nvPr>
            <p:ph type="body" sz="quarter" idx="11"/>
          </p:nvPr>
        </p:nvSpPr>
        <p:spPr/>
        <p:txBody>
          <a:bodyPr/>
          <a:lstStyle/>
          <a:p>
            <a:endParaRPr lang="en-US" dirty="0"/>
          </a:p>
        </p:txBody>
      </p:sp>
      <p:pic>
        <p:nvPicPr>
          <p:cNvPr id="7" name="Grafik 6" descr="Ein Bild, das Text, Screenshot, Schrift, Design enthält.&#10;&#10;Automatisch generierte Beschreibung">
            <a:extLst>
              <a:ext uri="{FF2B5EF4-FFF2-40B4-BE49-F238E27FC236}">
                <a16:creationId xmlns:a16="http://schemas.microsoft.com/office/drawing/2014/main" id="{1E0356A9-BD7E-F672-EE4B-24C9735551A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4941" y="705491"/>
            <a:ext cx="6205301" cy="1734882"/>
          </a:xfrm>
          <a:prstGeom prst="rect">
            <a:avLst/>
          </a:prstGeom>
        </p:spPr>
      </p:pic>
      <p:sp>
        <p:nvSpPr>
          <p:cNvPr id="4" name="Pfeil: nach oben 3">
            <a:extLst>
              <a:ext uri="{FF2B5EF4-FFF2-40B4-BE49-F238E27FC236}">
                <a16:creationId xmlns:a16="http://schemas.microsoft.com/office/drawing/2014/main" id="{D009F84F-BE39-4B2F-9914-9C5A55EAF2CA}"/>
              </a:ext>
            </a:extLst>
          </p:cNvPr>
          <p:cNvSpPr/>
          <p:nvPr/>
        </p:nvSpPr>
        <p:spPr>
          <a:xfrm>
            <a:off x="1536869" y="2397944"/>
            <a:ext cx="217450" cy="554415"/>
          </a:xfrm>
          <a:prstGeom prst="up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sp>
        <p:nvSpPr>
          <p:cNvPr id="11" name="Pfeil: nach oben 10">
            <a:extLst>
              <a:ext uri="{FF2B5EF4-FFF2-40B4-BE49-F238E27FC236}">
                <a16:creationId xmlns:a16="http://schemas.microsoft.com/office/drawing/2014/main" id="{363E71E9-21B4-4E7B-BA2C-319B9E15F376}"/>
              </a:ext>
            </a:extLst>
          </p:cNvPr>
          <p:cNvSpPr/>
          <p:nvPr/>
        </p:nvSpPr>
        <p:spPr>
          <a:xfrm>
            <a:off x="3124689" y="2397944"/>
            <a:ext cx="217450" cy="1124881"/>
          </a:xfrm>
          <a:prstGeom prst="up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sp>
        <p:nvSpPr>
          <p:cNvPr id="12" name="Pfeil: nach oben 11">
            <a:extLst>
              <a:ext uri="{FF2B5EF4-FFF2-40B4-BE49-F238E27FC236}">
                <a16:creationId xmlns:a16="http://schemas.microsoft.com/office/drawing/2014/main" id="{F2D320AE-9A72-4416-929C-09985D0BDCD4}"/>
              </a:ext>
            </a:extLst>
          </p:cNvPr>
          <p:cNvSpPr/>
          <p:nvPr/>
        </p:nvSpPr>
        <p:spPr>
          <a:xfrm>
            <a:off x="4060463" y="2397944"/>
            <a:ext cx="217450" cy="554415"/>
          </a:xfrm>
          <a:prstGeom prst="upArrow">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sp>
        <p:nvSpPr>
          <p:cNvPr id="9" name="Textfeld 8">
            <a:extLst>
              <a:ext uri="{FF2B5EF4-FFF2-40B4-BE49-F238E27FC236}">
                <a16:creationId xmlns:a16="http://schemas.microsoft.com/office/drawing/2014/main" id="{C8CA3977-780A-41A2-B807-E073962A602F}"/>
              </a:ext>
            </a:extLst>
          </p:cNvPr>
          <p:cNvSpPr txBox="1"/>
          <p:nvPr/>
        </p:nvSpPr>
        <p:spPr>
          <a:xfrm>
            <a:off x="912997" y="2996633"/>
            <a:ext cx="1682643" cy="400110"/>
          </a:xfrm>
          <a:prstGeom prst="rect">
            <a:avLst/>
          </a:prstGeom>
          <a:noFill/>
        </p:spPr>
        <p:txBody>
          <a:bodyPr wrap="square" rtlCol="0">
            <a:spAutoFit/>
          </a:bodyPr>
          <a:lstStyle/>
          <a:p>
            <a:pPr algn="ctr"/>
            <a:r>
              <a:rPr lang="de-DE" sz="1000" i="1" dirty="0"/>
              <a:t>Study 1: </a:t>
            </a:r>
            <a:r>
              <a:rPr lang="en-US" sz="1000" dirty="0"/>
              <a:t>Perceptual adaptation to naturalness in voices</a:t>
            </a:r>
            <a:r>
              <a:rPr lang="de-DE" sz="1000" dirty="0"/>
              <a:t> </a:t>
            </a:r>
          </a:p>
        </p:txBody>
      </p:sp>
      <p:sp>
        <p:nvSpPr>
          <p:cNvPr id="15" name="Textfeld 14">
            <a:extLst>
              <a:ext uri="{FF2B5EF4-FFF2-40B4-BE49-F238E27FC236}">
                <a16:creationId xmlns:a16="http://schemas.microsoft.com/office/drawing/2014/main" id="{D0F767A6-4CAC-4AD7-A0F4-2AA0311C5FCC}"/>
              </a:ext>
            </a:extLst>
          </p:cNvPr>
          <p:cNvSpPr txBox="1"/>
          <p:nvPr/>
        </p:nvSpPr>
        <p:spPr>
          <a:xfrm>
            <a:off x="2436997" y="3545129"/>
            <a:ext cx="1772588" cy="400110"/>
          </a:xfrm>
          <a:prstGeom prst="rect">
            <a:avLst/>
          </a:prstGeom>
          <a:noFill/>
        </p:spPr>
        <p:txBody>
          <a:bodyPr wrap="square" rtlCol="0">
            <a:spAutoFit/>
          </a:bodyPr>
          <a:lstStyle/>
          <a:p>
            <a:pPr algn="ctr"/>
            <a:r>
              <a:rPr lang="de-DE" sz="1000" i="1" dirty="0"/>
              <a:t>Study 2: </a:t>
            </a:r>
            <a:r>
              <a:rPr lang="de-DE" sz="1000" dirty="0" err="1"/>
              <a:t>Effects</a:t>
            </a:r>
            <a:r>
              <a:rPr lang="de-DE" sz="1000" dirty="0"/>
              <a:t> </a:t>
            </a:r>
            <a:r>
              <a:rPr lang="de-DE" sz="1000" dirty="0" err="1"/>
              <a:t>of</a:t>
            </a:r>
            <a:r>
              <a:rPr lang="de-DE" sz="1000" dirty="0"/>
              <a:t> </a:t>
            </a:r>
            <a:r>
              <a:rPr lang="de-DE" sz="1000" dirty="0" err="1"/>
              <a:t>the</a:t>
            </a:r>
            <a:r>
              <a:rPr lang="de-DE" sz="1000" dirty="0"/>
              <a:t> </a:t>
            </a:r>
            <a:r>
              <a:rPr lang="de-DE" sz="1000" dirty="0" err="1"/>
              <a:t>rating</a:t>
            </a:r>
            <a:r>
              <a:rPr lang="de-DE" sz="1000" dirty="0"/>
              <a:t> </a:t>
            </a:r>
            <a:r>
              <a:rPr lang="de-DE" sz="1000" dirty="0" err="1"/>
              <a:t>scale</a:t>
            </a:r>
            <a:r>
              <a:rPr lang="de-DE" sz="1000" dirty="0"/>
              <a:t> on </a:t>
            </a:r>
            <a:r>
              <a:rPr lang="de-DE" sz="1000" dirty="0" err="1"/>
              <a:t>naturalness</a:t>
            </a:r>
            <a:r>
              <a:rPr lang="de-DE" sz="1000" dirty="0"/>
              <a:t> </a:t>
            </a:r>
            <a:r>
              <a:rPr lang="de-DE" sz="1000" dirty="0" err="1"/>
              <a:t>impressions</a:t>
            </a:r>
            <a:endParaRPr lang="de-DE" sz="1000" dirty="0"/>
          </a:p>
        </p:txBody>
      </p:sp>
      <p:sp>
        <p:nvSpPr>
          <p:cNvPr id="16" name="Textfeld 15">
            <a:extLst>
              <a:ext uri="{FF2B5EF4-FFF2-40B4-BE49-F238E27FC236}">
                <a16:creationId xmlns:a16="http://schemas.microsoft.com/office/drawing/2014/main" id="{DA2586E1-A05E-4211-8EAC-550DDD5B7F1D}"/>
              </a:ext>
            </a:extLst>
          </p:cNvPr>
          <p:cNvSpPr txBox="1"/>
          <p:nvPr/>
        </p:nvSpPr>
        <p:spPr>
          <a:xfrm>
            <a:off x="3429000" y="2997533"/>
            <a:ext cx="1772588" cy="400110"/>
          </a:xfrm>
          <a:prstGeom prst="rect">
            <a:avLst/>
          </a:prstGeom>
          <a:noFill/>
        </p:spPr>
        <p:txBody>
          <a:bodyPr wrap="square" rtlCol="0">
            <a:spAutoFit/>
          </a:bodyPr>
          <a:lstStyle/>
          <a:p>
            <a:pPr algn="ctr"/>
            <a:r>
              <a:rPr lang="de-DE" sz="1000" i="1" dirty="0"/>
              <a:t>Study 3: </a:t>
            </a:r>
            <a:r>
              <a:rPr lang="en-US" sz="1000" dirty="0"/>
              <a:t>The Categorical Perception of Voice Naturalness</a:t>
            </a:r>
            <a:endParaRPr lang="de-DE" sz="1000" dirty="0"/>
          </a:p>
        </p:txBody>
      </p:sp>
    </p:spTree>
    <p:extLst>
      <p:ext uri="{BB962C8B-B14F-4D97-AF65-F5344CB8AC3E}">
        <p14:creationId xmlns:p14="http://schemas.microsoft.com/office/powerpoint/2010/main" val="2757409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A7433AB1-BD41-405F-98E8-0525133CFE9B}"/>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Our Voice Morphing Approach</a:t>
            </a:r>
          </a:p>
          <a:p>
            <a:endParaRPr lang="en-US" sz="1500" dirty="0"/>
          </a:p>
        </p:txBody>
      </p:sp>
      <p:pic>
        <p:nvPicPr>
          <p:cNvPr id="7" name="Grafik 6">
            <a:extLst>
              <a:ext uri="{FF2B5EF4-FFF2-40B4-BE49-F238E27FC236}">
                <a16:creationId xmlns:a16="http://schemas.microsoft.com/office/drawing/2014/main" id="{F4B79AFD-E12B-4B13-B6A3-BB0477305194}"/>
              </a:ext>
            </a:extLst>
          </p:cNvPr>
          <p:cNvPicPr>
            <a:picLocks noChangeAspect="1"/>
          </p:cNvPicPr>
          <p:nvPr/>
        </p:nvPicPr>
        <p:blipFill>
          <a:blip r:embed="rId3"/>
          <a:stretch>
            <a:fillRect/>
          </a:stretch>
        </p:blipFill>
        <p:spPr>
          <a:xfrm>
            <a:off x="340096" y="762436"/>
            <a:ext cx="5734850" cy="1495634"/>
          </a:xfrm>
          <a:prstGeom prst="rect">
            <a:avLst/>
          </a:prstGeom>
        </p:spPr>
      </p:pic>
      <p:pic>
        <p:nvPicPr>
          <p:cNvPr id="50" name="Grafik 49">
            <a:extLst>
              <a:ext uri="{FF2B5EF4-FFF2-40B4-BE49-F238E27FC236}">
                <a16:creationId xmlns:a16="http://schemas.microsoft.com/office/drawing/2014/main" id="{5D77D1CF-C38B-41C7-8FE0-CE0539A91775}"/>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7279"/>
          <a:stretch/>
        </p:blipFill>
        <p:spPr>
          <a:xfrm>
            <a:off x="855536" y="2392527"/>
            <a:ext cx="4266011" cy="2034508"/>
          </a:xfrm>
          <a:prstGeom prst="rect">
            <a:avLst/>
          </a:prstGeom>
        </p:spPr>
      </p:pic>
      <p:sp>
        <p:nvSpPr>
          <p:cNvPr id="52" name="Textfeld 51">
            <a:extLst>
              <a:ext uri="{FF2B5EF4-FFF2-40B4-BE49-F238E27FC236}">
                <a16:creationId xmlns:a16="http://schemas.microsoft.com/office/drawing/2014/main" id="{D8587ACC-2109-40BC-90DF-419DDC49C02C}"/>
              </a:ext>
            </a:extLst>
          </p:cNvPr>
          <p:cNvSpPr txBox="1"/>
          <p:nvPr/>
        </p:nvSpPr>
        <p:spPr>
          <a:xfrm>
            <a:off x="5212080" y="4319313"/>
            <a:ext cx="1655012" cy="215444"/>
          </a:xfrm>
          <a:prstGeom prst="rect">
            <a:avLst/>
          </a:prstGeom>
          <a:noFill/>
        </p:spPr>
        <p:txBody>
          <a:bodyPr wrap="square" rtlCol="0">
            <a:spAutoFit/>
          </a:bodyPr>
          <a:lstStyle/>
          <a:p>
            <a:pPr algn="just"/>
            <a:r>
              <a:rPr lang="de-DE" sz="800" i="1" dirty="0"/>
              <a:t>Bachelor </a:t>
            </a:r>
            <a:r>
              <a:rPr lang="de-DE" sz="800" i="1" dirty="0" err="1"/>
              <a:t>thesis</a:t>
            </a:r>
            <a:r>
              <a:rPr lang="de-DE" sz="800" i="1" dirty="0"/>
              <a:t> </a:t>
            </a:r>
            <a:r>
              <a:rPr lang="de-DE" sz="800" i="1" dirty="0" err="1"/>
              <a:t>of</a:t>
            </a:r>
            <a:r>
              <a:rPr lang="de-DE" sz="800" i="1" dirty="0"/>
              <a:t> Sebastian Goerke</a:t>
            </a:r>
            <a:endParaRPr lang="en-US" sz="800" i="1" dirty="0"/>
          </a:p>
        </p:txBody>
      </p:sp>
    </p:spTree>
    <p:extLst>
      <p:ext uri="{BB962C8B-B14F-4D97-AF65-F5344CB8AC3E}">
        <p14:creationId xmlns:p14="http://schemas.microsoft.com/office/powerpoint/2010/main" val="3876671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A7433AB1-BD41-405F-98E8-0525133CFE9B}"/>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Study 1: </a:t>
            </a:r>
            <a:r>
              <a:rPr lang="en-US" sz="1600" dirty="0"/>
              <a:t>Perceptual adaptation to naturalness in voices</a:t>
            </a:r>
            <a:r>
              <a:rPr lang="de-DE" sz="1600" dirty="0"/>
              <a:t> </a:t>
            </a:r>
            <a:endParaRPr lang="en-US" sz="1500" dirty="0"/>
          </a:p>
          <a:p>
            <a:endParaRPr lang="en-US" sz="1500" dirty="0"/>
          </a:p>
        </p:txBody>
      </p:sp>
      <p:pic>
        <p:nvPicPr>
          <p:cNvPr id="4" name="Grafik 3">
            <a:extLst>
              <a:ext uri="{FF2B5EF4-FFF2-40B4-BE49-F238E27FC236}">
                <a16:creationId xmlns:a16="http://schemas.microsoft.com/office/drawing/2014/main" id="{62A70D37-A5B2-440D-BA56-84DC8F8378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2343" y="1025912"/>
            <a:ext cx="6183352" cy="3091676"/>
          </a:xfrm>
          <a:prstGeom prst="rect">
            <a:avLst/>
          </a:prstGeom>
        </p:spPr>
      </p:pic>
      <p:sp>
        <p:nvSpPr>
          <p:cNvPr id="9" name="Textfeld 8">
            <a:extLst>
              <a:ext uri="{FF2B5EF4-FFF2-40B4-BE49-F238E27FC236}">
                <a16:creationId xmlns:a16="http://schemas.microsoft.com/office/drawing/2014/main" id="{DC9B4BF5-BCB0-445E-81D2-D531B8FEF752}"/>
              </a:ext>
            </a:extLst>
          </p:cNvPr>
          <p:cNvSpPr txBox="1"/>
          <p:nvPr/>
        </p:nvSpPr>
        <p:spPr>
          <a:xfrm>
            <a:off x="5212080" y="4319313"/>
            <a:ext cx="1655012" cy="215444"/>
          </a:xfrm>
          <a:prstGeom prst="rect">
            <a:avLst/>
          </a:prstGeom>
          <a:noFill/>
        </p:spPr>
        <p:txBody>
          <a:bodyPr wrap="square" rtlCol="0">
            <a:spAutoFit/>
          </a:bodyPr>
          <a:lstStyle/>
          <a:p>
            <a:pPr algn="just"/>
            <a:r>
              <a:rPr lang="de-DE" sz="800" i="1" dirty="0"/>
              <a:t>Bachelor </a:t>
            </a:r>
            <a:r>
              <a:rPr lang="de-DE" sz="800" i="1" dirty="0" err="1"/>
              <a:t>thesis</a:t>
            </a:r>
            <a:r>
              <a:rPr lang="de-DE" sz="800" i="1" dirty="0"/>
              <a:t> </a:t>
            </a:r>
            <a:r>
              <a:rPr lang="de-DE" sz="800" i="1" dirty="0" err="1"/>
              <a:t>of</a:t>
            </a:r>
            <a:r>
              <a:rPr lang="de-DE" sz="800" i="1" dirty="0"/>
              <a:t> Sebastian Goerke</a:t>
            </a:r>
            <a:endParaRPr lang="en-US" sz="800" i="1" dirty="0"/>
          </a:p>
        </p:txBody>
      </p:sp>
    </p:spTree>
    <p:extLst>
      <p:ext uri="{BB962C8B-B14F-4D97-AF65-F5344CB8AC3E}">
        <p14:creationId xmlns:p14="http://schemas.microsoft.com/office/powerpoint/2010/main" val="3629167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4D236-57DD-90B2-A1DC-838066ADCFAF}"/>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EA7E370D-1573-29EE-00AE-8CFD2C46288F}"/>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1FA19168-146B-63D9-2277-12815E511723}"/>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DC4FCC07-5499-1BE5-B9D7-E6A42635223D}"/>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de-DE" sz="1500" dirty="0"/>
              <a:t>Parameter-</a:t>
            </a:r>
            <a:r>
              <a:rPr lang="de-DE" sz="1500" dirty="0" err="1"/>
              <a:t>specific</a:t>
            </a:r>
            <a:r>
              <a:rPr lang="de-DE" sz="1500" dirty="0"/>
              <a:t> </a:t>
            </a:r>
            <a:r>
              <a:rPr lang="de-DE" sz="1500" dirty="0" err="1"/>
              <a:t>adaptation</a:t>
            </a:r>
            <a:r>
              <a:rPr lang="de-DE" sz="1500" dirty="0"/>
              <a:t> (</a:t>
            </a:r>
            <a:r>
              <a:rPr lang="de-DE" sz="1500" dirty="0" err="1"/>
              <a:t>preliminary</a:t>
            </a:r>
            <a:r>
              <a:rPr lang="de-DE" sz="1500" dirty="0"/>
              <a:t>, N = 29)</a:t>
            </a:r>
            <a:endParaRPr lang="en-US" sz="1500" dirty="0"/>
          </a:p>
          <a:p>
            <a:endParaRPr lang="en-US" sz="1500" dirty="0"/>
          </a:p>
        </p:txBody>
      </p:sp>
      <p:sp>
        <p:nvSpPr>
          <p:cNvPr id="9" name="Textfeld 8">
            <a:extLst>
              <a:ext uri="{FF2B5EF4-FFF2-40B4-BE49-F238E27FC236}">
                <a16:creationId xmlns:a16="http://schemas.microsoft.com/office/drawing/2014/main" id="{45570CA0-1FC3-42AA-D36B-42A44F7394FC}"/>
              </a:ext>
            </a:extLst>
          </p:cNvPr>
          <p:cNvSpPr txBox="1"/>
          <p:nvPr/>
        </p:nvSpPr>
        <p:spPr>
          <a:xfrm>
            <a:off x="5074921" y="4319313"/>
            <a:ext cx="1783079" cy="215444"/>
          </a:xfrm>
          <a:prstGeom prst="rect">
            <a:avLst/>
          </a:prstGeom>
          <a:noFill/>
        </p:spPr>
        <p:txBody>
          <a:bodyPr wrap="square" rtlCol="0">
            <a:spAutoFit/>
          </a:bodyPr>
          <a:lstStyle/>
          <a:p>
            <a:pPr algn="just"/>
            <a:r>
              <a:rPr lang="de-DE" sz="800" i="1" dirty="0"/>
              <a:t>Bachelor </a:t>
            </a:r>
            <a:r>
              <a:rPr lang="de-DE" sz="800" i="1" dirty="0" err="1"/>
              <a:t>thesis</a:t>
            </a:r>
            <a:r>
              <a:rPr lang="de-DE" sz="800" i="1" dirty="0"/>
              <a:t> </a:t>
            </a:r>
            <a:r>
              <a:rPr lang="de-DE" sz="800" i="1" dirty="0" err="1"/>
              <a:t>of</a:t>
            </a:r>
            <a:r>
              <a:rPr lang="de-DE" sz="800" i="1" dirty="0"/>
              <a:t> Klara Heck (</a:t>
            </a:r>
            <a:r>
              <a:rPr lang="de-DE" sz="800" i="1" dirty="0" err="1"/>
              <a:t>ongoing</a:t>
            </a:r>
            <a:r>
              <a:rPr lang="de-DE" sz="800" i="1" dirty="0"/>
              <a:t>)</a:t>
            </a:r>
            <a:endParaRPr lang="en-US" sz="800" i="1" dirty="0"/>
          </a:p>
        </p:txBody>
      </p:sp>
      <p:pic>
        <p:nvPicPr>
          <p:cNvPr id="5" name="Grafik 4">
            <a:extLst>
              <a:ext uri="{FF2B5EF4-FFF2-40B4-BE49-F238E27FC236}">
                <a16:creationId xmlns:a16="http://schemas.microsoft.com/office/drawing/2014/main" id="{DBCFE2A8-ED65-B326-4866-F64BBFE80C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543" y="936914"/>
            <a:ext cx="5703570" cy="2851786"/>
          </a:xfrm>
          <a:prstGeom prst="rect">
            <a:avLst/>
          </a:prstGeom>
        </p:spPr>
      </p:pic>
      <p:sp>
        <p:nvSpPr>
          <p:cNvPr id="12" name="Textfeld 11">
            <a:extLst>
              <a:ext uri="{FF2B5EF4-FFF2-40B4-BE49-F238E27FC236}">
                <a16:creationId xmlns:a16="http://schemas.microsoft.com/office/drawing/2014/main" id="{7C7E6E33-A696-CF6C-7B95-E152FD5B38B0}"/>
              </a:ext>
            </a:extLst>
          </p:cNvPr>
          <p:cNvSpPr txBox="1"/>
          <p:nvPr/>
        </p:nvSpPr>
        <p:spPr>
          <a:xfrm>
            <a:off x="513542" y="4012960"/>
            <a:ext cx="4012737" cy="584775"/>
          </a:xfrm>
          <a:prstGeom prst="rect">
            <a:avLst/>
          </a:prstGeom>
          <a:noFill/>
        </p:spPr>
        <p:txBody>
          <a:bodyPr wrap="square" rtlCol="0">
            <a:spAutoFit/>
          </a:bodyPr>
          <a:lstStyle/>
          <a:p>
            <a:pPr algn="just"/>
            <a:r>
              <a:rPr lang="de-DE" sz="800" i="1" dirty="0"/>
              <a:t>FULL: </a:t>
            </a:r>
            <a:r>
              <a:rPr lang="de-DE" sz="800" i="1" dirty="0" err="1"/>
              <a:t>adaptors</a:t>
            </a:r>
            <a:r>
              <a:rPr lang="de-DE" sz="800" i="1" dirty="0"/>
              <a:t> </a:t>
            </a:r>
            <a:r>
              <a:rPr lang="de-DE" sz="800" i="1" dirty="0" err="1"/>
              <a:t>are</a:t>
            </a:r>
            <a:r>
              <a:rPr lang="de-DE" sz="800" i="1" dirty="0"/>
              <a:t> </a:t>
            </a:r>
            <a:r>
              <a:rPr lang="de-DE" sz="800" i="1" dirty="0" err="1"/>
              <a:t>full</a:t>
            </a:r>
            <a:r>
              <a:rPr lang="de-DE" sz="800" i="1" dirty="0"/>
              <a:t> </a:t>
            </a:r>
            <a:r>
              <a:rPr lang="de-DE" sz="800" i="1" dirty="0" err="1"/>
              <a:t>morphs</a:t>
            </a:r>
            <a:r>
              <a:rPr lang="de-DE" sz="800" i="1" dirty="0"/>
              <a:t> (F0 + </a:t>
            </a:r>
            <a:r>
              <a:rPr lang="de-DE" sz="800" i="1" dirty="0" err="1"/>
              <a:t>timbre</a:t>
            </a:r>
            <a:r>
              <a:rPr lang="de-DE" sz="800" i="1" dirty="0"/>
              <a:t>)</a:t>
            </a:r>
          </a:p>
          <a:p>
            <a:pPr algn="just"/>
            <a:r>
              <a:rPr lang="de-DE" sz="800" i="1" dirty="0"/>
              <a:t>TBR: </a:t>
            </a:r>
            <a:r>
              <a:rPr lang="de-DE" sz="800" i="1" dirty="0" err="1"/>
              <a:t>adaptors</a:t>
            </a:r>
            <a:r>
              <a:rPr lang="de-DE" sz="800" i="1" dirty="0"/>
              <a:t> </a:t>
            </a:r>
            <a:r>
              <a:rPr lang="de-DE" sz="800" i="1" dirty="0" err="1"/>
              <a:t>are</a:t>
            </a:r>
            <a:r>
              <a:rPr lang="de-DE" sz="800" i="1" dirty="0"/>
              <a:t> </a:t>
            </a:r>
            <a:r>
              <a:rPr lang="de-DE" sz="800" i="1" dirty="0" err="1"/>
              <a:t>timbre</a:t>
            </a:r>
            <a:r>
              <a:rPr lang="de-DE" sz="800" i="1" dirty="0"/>
              <a:t> </a:t>
            </a:r>
            <a:r>
              <a:rPr lang="de-DE" sz="800" i="1" dirty="0" err="1"/>
              <a:t>morphs</a:t>
            </a:r>
            <a:r>
              <a:rPr lang="de-DE" sz="800" i="1" dirty="0"/>
              <a:t> (human/</a:t>
            </a:r>
            <a:r>
              <a:rPr lang="de-DE" sz="800" i="1" dirty="0" err="1"/>
              <a:t>synthetic</a:t>
            </a:r>
            <a:r>
              <a:rPr lang="de-DE" sz="800" i="1" dirty="0"/>
              <a:t> </a:t>
            </a:r>
            <a:r>
              <a:rPr lang="de-DE" sz="800" i="1" dirty="0" err="1"/>
              <a:t>info</a:t>
            </a:r>
            <a:r>
              <a:rPr lang="de-DE" sz="800" i="1" dirty="0"/>
              <a:t> </a:t>
            </a:r>
            <a:r>
              <a:rPr lang="de-DE" sz="800" i="1" dirty="0" err="1"/>
              <a:t>only</a:t>
            </a:r>
            <a:r>
              <a:rPr lang="de-DE" sz="800" i="1" dirty="0"/>
              <a:t> </a:t>
            </a:r>
            <a:r>
              <a:rPr lang="de-DE" sz="800" i="1" dirty="0" err="1"/>
              <a:t>expressed</a:t>
            </a:r>
            <a:r>
              <a:rPr lang="de-DE" sz="800" i="1" dirty="0"/>
              <a:t> via </a:t>
            </a:r>
            <a:r>
              <a:rPr lang="de-DE" sz="800" i="1" dirty="0" err="1"/>
              <a:t>timbre</a:t>
            </a:r>
            <a:r>
              <a:rPr lang="de-DE" sz="800" i="1" dirty="0"/>
              <a:t>)</a:t>
            </a:r>
          </a:p>
          <a:p>
            <a:pPr algn="just"/>
            <a:r>
              <a:rPr lang="de-DE" sz="800" i="1" dirty="0"/>
              <a:t>F0: </a:t>
            </a:r>
            <a:r>
              <a:rPr lang="de-DE" sz="800" i="1" dirty="0" err="1"/>
              <a:t>adaptors</a:t>
            </a:r>
            <a:r>
              <a:rPr lang="de-DE" sz="800" i="1" dirty="0"/>
              <a:t> </a:t>
            </a:r>
            <a:r>
              <a:rPr lang="de-DE" sz="800" i="1" dirty="0" err="1"/>
              <a:t>are</a:t>
            </a:r>
            <a:r>
              <a:rPr lang="de-DE" sz="800" i="1" dirty="0"/>
              <a:t> F0 </a:t>
            </a:r>
            <a:r>
              <a:rPr lang="de-DE" sz="800" i="1" dirty="0" err="1"/>
              <a:t>morphs</a:t>
            </a:r>
            <a:r>
              <a:rPr lang="de-DE" sz="800" i="1" dirty="0"/>
              <a:t> (human/</a:t>
            </a:r>
            <a:r>
              <a:rPr lang="de-DE" sz="800" i="1" dirty="0" err="1"/>
              <a:t>synthetic</a:t>
            </a:r>
            <a:r>
              <a:rPr lang="de-DE" sz="800" i="1" dirty="0"/>
              <a:t> </a:t>
            </a:r>
            <a:r>
              <a:rPr lang="de-DE" sz="800" i="1" dirty="0" err="1"/>
              <a:t>info</a:t>
            </a:r>
            <a:r>
              <a:rPr lang="de-DE" sz="800" i="1" dirty="0"/>
              <a:t> </a:t>
            </a:r>
            <a:r>
              <a:rPr lang="de-DE" sz="800" i="1" dirty="0" err="1"/>
              <a:t>only</a:t>
            </a:r>
            <a:r>
              <a:rPr lang="de-DE" sz="800" i="1" dirty="0"/>
              <a:t> </a:t>
            </a:r>
            <a:r>
              <a:rPr lang="de-DE" sz="800" i="1" dirty="0" err="1"/>
              <a:t>expressed</a:t>
            </a:r>
            <a:r>
              <a:rPr lang="de-DE" sz="800" i="1" dirty="0"/>
              <a:t> via fundamental </a:t>
            </a:r>
            <a:r>
              <a:rPr lang="de-DE" sz="800" i="1" dirty="0" err="1"/>
              <a:t>frequency</a:t>
            </a:r>
            <a:r>
              <a:rPr lang="de-DE" sz="800" i="1" dirty="0"/>
              <a:t>)</a:t>
            </a:r>
          </a:p>
          <a:p>
            <a:pPr algn="just"/>
            <a:endParaRPr lang="en-US" sz="800" i="1" dirty="0"/>
          </a:p>
        </p:txBody>
      </p:sp>
    </p:spTree>
    <p:extLst>
      <p:ext uri="{BB962C8B-B14F-4D97-AF65-F5344CB8AC3E}">
        <p14:creationId xmlns:p14="http://schemas.microsoft.com/office/powerpoint/2010/main" val="2513608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A7433AB1-BD41-405F-98E8-0525133CFE9B}"/>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EEG Study (preliminary, ongoing)</a:t>
            </a:r>
          </a:p>
          <a:p>
            <a:endParaRPr lang="en-US" sz="1500" dirty="0"/>
          </a:p>
        </p:txBody>
      </p:sp>
      <p:pic>
        <p:nvPicPr>
          <p:cNvPr id="7" name="Picture 2">
            <a:extLst>
              <a:ext uri="{FF2B5EF4-FFF2-40B4-BE49-F238E27FC236}">
                <a16:creationId xmlns:a16="http://schemas.microsoft.com/office/drawing/2014/main" id="{7B001A5D-BFFD-4774-9DCF-8A665415542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53222" y="104211"/>
            <a:ext cx="830424" cy="1039814"/>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a:extLst>
              <a:ext uri="{FF2B5EF4-FFF2-40B4-BE49-F238E27FC236}">
                <a16:creationId xmlns:a16="http://schemas.microsoft.com/office/drawing/2014/main" id="{E1174DA5-9DDF-498D-8063-B659FC8219D2}"/>
              </a:ext>
            </a:extLst>
          </p:cNvPr>
          <p:cNvSpPr txBox="1"/>
          <p:nvPr/>
        </p:nvSpPr>
        <p:spPr>
          <a:xfrm>
            <a:off x="3918835" y="128362"/>
            <a:ext cx="1932727" cy="1015663"/>
          </a:xfrm>
          <a:prstGeom prst="rect">
            <a:avLst/>
          </a:prstGeom>
          <a:noFill/>
        </p:spPr>
        <p:txBody>
          <a:bodyPr wrap="square" rtlCol="0">
            <a:spAutoFit/>
          </a:bodyPr>
          <a:lstStyle/>
          <a:p>
            <a:pPr algn="just"/>
            <a:r>
              <a:rPr lang="de-DE" sz="1000" dirty="0"/>
              <a:t>Ibrahim Vefa Arslan, PhD-student on </a:t>
            </a:r>
            <a:r>
              <a:rPr lang="de-DE" sz="1000" dirty="0" err="1"/>
              <a:t>the</a:t>
            </a:r>
            <a:r>
              <a:rPr lang="de-DE" sz="1000" dirty="0"/>
              <a:t> </a:t>
            </a:r>
            <a:r>
              <a:rPr lang="de-DE" sz="1000" dirty="0" err="1"/>
              <a:t>project</a:t>
            </a:r>
            <a:r>
              <a:rPr lang="de-DE" sz="1000" dirty="0"/>
              <a:t> „</a:t>
            </a:r>
            <a:r>
              <a:rPr lang="en-US" sz="1000" i="1" dirty="0"/>
              <a:t>Neurocognitive</a:t>
            </a:r>
          </a:p>
          <a:p>
            <a:pPr algn="just"/>
            <a:r>
              <a:rPr lang="en-US" sz="1000" i="1" dirty="0"/>
              <a:t>processing of voice naturalness in human and synthetic voices </a:t>
            </a:r>
            <a:r>
              <a:rPr lang="de-DE" sz="1000" dirty="0"/>
              <a:t>“, </a:t>
            </a:r>
          </a:p>
          <a:p>
            <a:pPr algn="just"/>
            <a:r>
              <a:rPr lang="de-DE" sz="1000" dirty="0" err="1"/>
              <a:t>funded</a:t>
            </a:r>
            <a:r>
              <a:rPr lang="de-DE" sz="1000" dirty="0"/>
              <a:t> </a:t>
            </a:r>
            <a:r>
              <a:rPr lang="de-DE" sz="1000" dirty="0" err="1"/>
              <a:t>by</a:t>
            </a:r>
            <a:r>
              <a:rPr lang="de-DE" sz="1000" dirty="0"/>
              <a:t> </a:t>
            </a:r>
            <a:r>
              <a:rPr lang="de-DE" sz="1000" dirty="0" err="1"/>
              <a:t>the</a:t>
            </a:r>
            <a:r>
              <a:rPr lang="de-DE" sz="1000" dirty="0"/>
              <a:t> EU-MSCA </a:t>
            </a:r>
            <a:r>
              <a:rPr lang="de-DE" sz="1000" dirty="0" err="1"/>
              <a:t>Nework</a:t>
            </a:r>
            <a:r>
              <a:rPr lang="de-DE" sz="1000" dirty="0"/>
              <a:t> „Voice Communication Sciences“</a:t>
            </a:r>
            <a:endParaRPr lang="en-US" sz="1000" dirty="0"/>
          </a:p>
        </p:txBody>
      </p:sp>
      <p:pic>
        <p:nvPicPr>
          <p:cNvPr id="5" name="Grafik 4">
            <a:extLst>
              <a:ext uri="{FF2B5EF4-FFF2-40B4-BE49-F238E27FC236}">
                <a16:creationId xmlns:a16="http://schemas.microsoft.com/office/drawing/2014/main" id="{32CBCC30-9E11-43AC-9EC8-57BD34DFE9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95442" y="1455867"/>
            <a:ext cx="3453633" cy="2196342"/>
          </a:xfrm>
          <a:prstGeom prst="rect">
            <a:avLst/>
          </a:prstGeom>
        </p:spPr>
      </p:pic>
      <p:pic>
        <p:nvPicPr>
          <p:cNvPr id="11" name="Grafik 10">
            <a:extLst>
              <a:ext uri="{FF2B5EF4-FFF2-40B4-BE49-F238E27FC236}">
                <a16:creationId xmlns:a16="http://schemas.microsoft.com/office/drawing/2014/main" id="{DC030131-2C6C-4AEE-8BF3-624F8687FF1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4653" y="1385459"/>
            <a:ext cx="2970676" cy="2372582"/>
          </a:xfrm>
          <a:prstGeom prst="rect">
            <a:avLst/>
          </a:prstGeom>
        </p:spPr>
      </p:pic>
    </p:spTree>
    <p:extLst>
      <p:ext uri="{BB962C8B-B14F-4D97-AF65-F5344CB8AC3E}">
        <p14:creationId xmlns:p14="http://schemas.microsoft.com/office/powerpoint/2010/main" val="287725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A7433AB1-BD41-405F-98E8-0525133CFE9B}"/>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Study 2: </a:t>
            </a:r>
            <a:r>
              <a:rPr lang="de-DE" sz="1600" dirty="0" err="1"/>
              <a:t>Effects</a:t>
            </a:r>
            <a:r>
              <a:rPr lang="de-DE" sz="1600" dirty="0"/>
              <a:t> </a:t>
            </a:r>
            <a:r>
              <a:rPr lang="de-DE" sz="1600" dirty="0" err="1"/>
              <a:t>of</a:t>
            </a:r>
            <a:r>
              <a:rPr lang="de-DE" sz="1600" dirty="0"/>
              <a:t> </a:t>
            </a:r>
            <a:r>
              <a:rPr lang="de-DE" sz="1600" dirty="0" err="1"/>
              <a:t>the</a:t>
            </a:r>
            <a:r>
              <a:rPr lang="de-DE" sz="1600" dirty="0"/>
              <a:t> </a:t>
            </a:r>
            <a:r>
              <a:rPr lang="de-DE" sz="1600" dirty="0" err="1"/>
              <a:t>rating</a:t>
            </a:r>
            <a:r>
              <a:rPr lang="de-DE" sz="1600" dirty="0"/>
              <a:t> </a:t>
            </a:r>
            <a:r>
              <a:rPr lang="de-DE" sz="1600" dirty="0" err="1"/>
              <a:t>scale</a:t>
            </a:r>
            <a:r>
              <a:rPr lang="de-DE" sz="1600" dirty="0"/>
              <a:t> on </a:t>
            </a:r>
            <a:r>
              <a:rPr lang="de-DE" sz="1600" dirty="0" err="1"/>
              <a:t>naturalness</a:t>
            </a:r>
            <a:r>
              <a:rPr lang="de-DE" sz="1600" dirty="0"/>
              <a:t> </a:t>
            </a:r>
            <a:r>
              <a:rPr lang="de-DE" sz="1600" dirty="0" err="1"/>
              <a:t>impressions</a:t>
            </a:r>
            <a:endParaRPr lang="en-US" sz="1500" dirty="0"/>
          </a:p>
        </p:txBody>
      </p:sp>
      <p:pic>
        <p:nvPicPr>
          <p:cNvPr id="5" name="Grafik 4">
            <a:extLst>
              <a:ext uri="{FF2B5EF4-FFF2-40B4-BE49-F238E27FC236}">
                <a16:creationId xmlns:a16="http://schemas.microsoft.com/office/drawing/2014/main" id="{26B354BE-F94C-4D51-BF72-0B39B458E262}"/>
              </a:ext>
            </a:extLst>
          </p:cNvPr>
          <p:cNvPicPr>
            <a:picLocks noChangeAspect="1"/>
          </p:cNvPicPr>
          <p:nvPr/>
        </p:nvPicPr>
        <p:blipFill>
          <a:blip r:embed="rId3"/>
          <a:stretch>
            <a:fillRect/>
          </a:stretch>
        </p:blipFill>
        <p:spPr>
          <a:xfrm>
            <a:off x="47390" y="1095247"/>
            <a:ext cx="3381610" cy="1949398"/>
          </a:xfrm>
          <a:prstGeom prst="rect">
            <a:avLst/>
          </a:prstGeom>
        </p:spPr>
      </p:pic>
      <p:pic>
        <p:nvPicPr>
          <p:cNvPr id="7" name="Grafik 6">
            <a:extLst>
              <a:ext uri="{FF2B5EF4-FFF2-40B4-BE49-F238E27FC236}">
                <a16:creationId xmlns:a16="http://schemas.microsoft.com/office/drawing/2014/main" id="{62598446-9217-4371-9023-4471B20F030F}"/>
              </a:ext>
            </a:extLst>
          </p:cNvPr>
          <p:cNvPicPr>
            <a:picLocks noChangeAspect="1"/>
          </p:cNvPicPr>
          <p:nvPr/>
        </p:nvPicPr>
        <p:blipFill>
          <a:blip r:embed="rId4"/>
          <a:stretch>
            <a:fillRect/>
          </a:stretch>
        </p:blipFill>
        <p:spPr>
          <a:xfrm>
            <a:off x="47390" y="2986763"/>
            <a:ext cx="3668750" cy="852044"/>
          </a:xfrm>
          <a:prstGeom prst="rect">
            <a:avLst/>
          </a:prstGeom>
        </p:spPr>
      </p:pic>
      <p:pic>
        <p:nvPicPr>
          <p:cNvPr id="3" name="Grafik 2">
            <a:extLst>
              <a:ext uri="{FF2B5EF4-FFF2-40B4-BE49-F238E27FC236}">
                <a16:creationId xmlns:a16="http://schemas.microsoft.com/office/drawing/2014/main" id="{BAEA8B95-099C-44CF-8250-7C891AC46BB2}"/>
              </a:ext>
            </a:extLst>
          </p:cNvPr>
          <p:cNvPicPr>
            <a:picLocks noChangeAspect="1"/>
          </p:cNvPicPr>
          <p:nvPr/>
        </p:nvPicPr>
        <p:blipFill>
          <a:blip r:embed="rId5"/>
          <a:stretch>
            <a:fillRect/>
          </a:stretch>
        </p:blipFill>
        <p:spPr>
          <a:xfrm>
            <a:off x="3418090" y="1095247"/>
            <a:ext cx="3392520" cy="2529298"/>
          </a:xfrm>
          <a:prstGeom prst="rect">
            <a:avLst/>
          </a:prstGeom>
        </p:spPr>
      </p:pic>
      <p:sp>
        <p:nvSpPr>
          <p:cNvPr id="9" name="Textfeld 8">
            <a:extLst>
              <a:ext uri="{FF2B5EF4-FFF2-40B4-BE49-F238E27FC236}">
                <a16:creationId xmlns:a16="http://schemas.microsoft.com/office/drawing/2014/main" id="{B7F56958-E849-4092-A1A0-33E5CCF57A0B}"/>
              </a:ext>
            </a:extLst>
          </p:cNvPr>
          <p:cNvSpPr txBox="1"/>
          <p:nvPr/>
        </p:nvSpPr>
        <p:spPr>
          <a:xfrm>
            <a:off x="5282800" y="4319313"/>
            <a:ext cx="1584292" cy="215444"/>
          </a:xfrm>
          <a:prstGeom prst="rect">
            <a:avLst/>
          </a:prstGeom>
          <a:noFill/>
        </p:spPr>
        <p:txBody>
          <a:bodyPr wrap="square" rtlCol="0">
            <a:spAutoFit/>
          </a:bodyPr>
          <a:lstStyle/>
          <a:p>
            <a:pPr algn="just"/>
            <a:r>
              <a:rPr lang="de-DE" sz="800" i="1" dirty="0"/>
              <a:t>Bachelor </a:t>
            </a:r>
            <a:r>
              <a:rPr lang="de-DE" sz="800" i="1" dirty="0" err="1"/>
              <a:t>thesis</a:t>
            </a:r>
            <a:r>
              <a:rPr lang="de-DE" sz="800" i="1" dirty="0"/>
              <a:t> </a:t>
            </a:r>
            <a:r>
              <a:rPr lang="de-DE" sz="800" i="1" dirty="0" err="1"/>
              <a:t>of</a:t>
            </a:r>
            <a:r>
              <a:rPr lang="de-DE" sz="800" i="1" dirty="0"/>
              <a:t> Simone Dahmen</a:t>
            </a:r>
            <a:endParaRPr lang="en-US" sz="800" i="1" dirty="0"/>
          </a:p>
        </p:txBody>
      </p:sp>
    </p:spTree>
    <p:extLst>
      <p:ext uri="{BB962C8B-B14F-4D97-AF65-F5344CB8AC3E}">
        <p14:creationId xmlns:p14="http://schemas.microsoft.com/office/powerpoint/2010/main" val="3985951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A7433AB1-BD41-405F-98E8-0525133CFE9B}"/>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Study 2: </a:t>
            </a:r>
            <a:r>
              <a:rPr lang="de-DE" sz="1600" dirty="0"/>
              <a:t>Validation </a:t>
            </a:r>
            <a:r>
              <a:rPr lang="de-DE" sz="1600" dirty="0" err="1"/>
              <a:t>of</a:t>
            </a:r>
            <a:r>
              <a:rPr lang="de-DE" sz="1600" dirty="0"/>
              <a:t> </a:t>
            </a:r>
            <a:r>
              <a:rPr lang="de-DE" sz="1600" dirty="0" err="1"/>
              <a:t>the</a:t>
            </a:r>
            <a:r>
              <a:rPr lang="de-DE" sz="1600" dirty="0"/>
              <a:t> </a:t>
            </a:r>
            <a:r>
              <a:rPr lang="de-DE" sz="1600" dirty="0" err="1"/>
              <a:t>morphing</a:t>
            </a:r>
            <a:r>
              <a:rPr lang="de-DE" sz="1600" dirty="0"/>
              <a:t> </a:t>
            </a:r>
            <a:r>
              <a:rPr lang="de-DE" sz="1600" dirty="0" err="1"/>
              <a:t>procedure</a:t>
            </a:r>
            <a:endParaRPr lang="en-US" sz="1500" dirty="0"/>
          </a:p>
        </p:txBody>
      </p:sp>
      <p:pic>
        <p:nvPicPr>
          <p:cNvPr id="9" name="Grafik 8">
            <a:extLst>
              <a:ext uri="{FF2B5EF4-FFF2-40B4-BE49-F238E27FC236}">
                <a16:creationId xmlns:a16="http://schemas.microsoft.com/office/drawing/2014/main" id="{B9F12EA8-1887-4A61-AC16-3B556748BEC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3636" y="985104"/>
            <a:ext cx="3235364" cy="3235364"/>
          </a:xfrm>
          <a:prstGeom prst="rect">
            <a:avLst/>
          </a:prstGeom>
        </p:spPr>
      </p:pic>
      <p:pic>
        <p:nvPicPr>
          <p:cNvPr id="11" name="Grafik 10">
            <a:extLst>
              <a:ext uri="{FF2B5EF4-FFF2-40B4-BE49-F238E27FC236}">
                <a16:creationId xmlns:a16="http://schemas.microsoft.com/office/drawing/2014/main" id="{8F167B37-E96B-4EDE-A9E0-5898E271421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85897" y="985104"/>
            <a:ext cx="3086840" cy="3086840"/>
          </a:xfrm>
          <a:prstGeom prst="rect">
            <a:avLst/>
          </a:prstGeom>
        </p:spPr>
      </p:pic>
      <p:sp>
        <p:nvSpPr>
          <p:cNvPr id="12" name="Rechteck 11">
            <a:extLst>
              <a:ext uri="{FF2B5EF4-FFF2-40B4-BE49-F238E27FC236}">
                <a16:creationId xmlns:a16="http://schemas.microsoft.com/office/drawing/2014/main" id="{3CDC906B-AF19-428A-92CC-7445AFEAA6AD}"/>
              </a:ext>
            </a:extLst>
          </p:cNvPr>
          <p:cNvSpPr/>
          <p:nvPr/>
        </p:nvSpPr>
        <p:spPr>
          <a:xfrm>
            <a:off x="1929161" y="2528524"/>
            <a:ext cx="1455234" cy="850296"/>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de-DE"/>
          </a:p>
        </p:txBody>
      </p:sp>
      <p:sp>
        <p:nvSpPr>
          <p:cNvPr id="13" name="Textfeld 12">
            <a:extLst>
              <a:ext uri="{FF2B5EF4-FFF2-40B4-BE49-F238E27FC236}">
                <a16:creationId xmlns:a16="http://schemas.microsoft.com/office/drawing/2014/main" id="{06E11AF2-F2CF-4EEB-8A6B-C8D347CB28B2}"/>
              </a:ext>
            </a:extLst>
          </p:cNvPr>
          <p:cNvSpPr txBox="1"/>
          <p:nvPr/>
        </p:nvSpPr>
        <p:spPr>
          <a:xfrm>
            <a:off x="5282800" y="4319313"/>
            <a:ext cx="1584292" cy="215444"/>
          </a:xfrm>
          <a:prstGeom prst="rect">
            <a:avLst/>
          </a:prstGeom>
          <a:noFill/>
        </p:spPr>
        <p:txBody>
          <a:bodyPr wrap="square" rtlCol="0">
            <a:spAutoFit/>
          </a:bodyPr>
          <a:lstStyle/>
          <a:p>
            <a:pPr algn="just"/>
            <a:r>
              <a:rPr lang="de-DE" sz="800" i="1" dirty="0"/>
              <a:t>Bachelor </a:t>
            </a:r>
            <a:r>
              <a:rPr lang="de-DE" sz="800" i="1" dirty="0" err="1"/>
              <a:t>thesis</a:t>
            </a:r>
            <a:r>
              <a:rPr lang="de-DE" sz="800" i="1" dirty="0"/>
              <a:t> </a:t>
            </a:r>
            <a:r>
              <a:rPr lang="de-DE" sz="800" i="1" dirty="0" err="1"/>
              <a:t>of</a:t>
            </a:r>
            <a:r>
              <a:rPr lang="de-DE" sz="800" i="1" dirty="0"/>
              <a:t> Simone Dahmen</a:t>
            </a:r>
            <a:endParaRPr lang="en-US" sz="800" i="1" dirty="0"/>
          </a:p>
        </p:txBody>
      </p:sp>
    </p:spTree>
    <p:extLst>
      <p:ext uri="{BB962C8B-B14F-4D97-AF65-F5344CB8AC3E}">
        <p14:creationId xmlns:p14="http://schemas.microsoft.com/office/powerpoint/2010/main" val="1180489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A7433AB1-BD41-405F-98E8-0525133CFE9B}"/>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Study 3: </a:t>
            </a:r>
            <a:r>
              <a:rPr lang="en-US" sz="1600" dirty="0"/>
              <a:t>The Categorical Perception of Voice Naturalness</a:t>
            </a:r>
            <a:endParaRPr lang="en-US" sz="1500" dirty="0"/>
          </a:p>
        </p:txBody>
      </p:sp>
      <p:pic>
        <p:nvPicPr>
          <p:cNvPr id="7" name="Grafik 6">
            <a:extLst>
              <a:ext uri="{FF2B5EF4-FFF2-40B4-BE49-F238E27FC236}">
                <a16:creationId xmlns:a16="http://schemas.microsoft.com/office/drawing/2014/main" id="{774AB9CD-C427-481A-9276-ED9BD52028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44083" y="1246542"/>
            <a:ext cx="3713356" cy="2784230"/>
          </a:xfrm>
          <a:prstGeom prst="rect">
            <a:avLst/>
          </a:prstGeom>
        </p:spPr>
      </p:pic>
      <p:sp>
        <p:nvSpPr>
          <p:cNvPr id="13" name="Textfeld 12">
            <a:extLst>
              <a:ext uri="{FF2B5EF4-FFF2-40B4-BE49-F238E27FC236}">
                <a16:creationId xmlns:a16="http://schemas.microsoft.com/office/drawing/2014/main" id="{4DBFC0DA-72C1-40B2-B8E1-8E5B112C691D}"/>
              </a:ext>
            </a:extLst>
          </p:cNvPr>
          <p:cNvSpPr txBox="1"/>
          <p:nvPr/>
        </p:nvSpPr>
        <p:spPr>
          <a:xfrm>
            <a:off x="5282800" y="4319313"/>
            <a:ext cx="1584292" cy="215444"/>
          </a:xfrm>
          <a:prstGeom prst="rect">
            <a:avLst/>
          </a:prstGeom>
          <a:noFill/>
        </p:spPr>
        <p:txBody>
          <a:bodyPr wrap="square" rtlCol="0">
            <a:spAutoFit/>
          </a:bodyPr>
          <a:lstStyle/>
          <a:p>
            <a:pPr algn="just"/>
            <a:r>
              <a:rPr lang="de-DE" sz="800" i="1" dirty="0"/>
              <a:t>Bachelor </a:t>
            </a:r>
            <a:r>
              <a:rPr lang="de-DE" sz="800" i="1" dirty="0" err="1"/>
              <a:t>thesis</a:t>
            </a:r>
            <a:r>
              <a:rPr lang="de-DE" sz="800" i="1" dirty="0"/>
              <a:t> </a:t>
            </a:r>
            <a:r>
              <a:rPr lang="de-DE" sz="800" i="1" dirty="0" err="1"/>
              <a:t>of</a:t>
            </a:r>
            <a:r>
              <a:rPr lang="de-DE" sz="800" i="1" dirty="0"/>
              <a:t> Sophia Hering</a:t>
            </a:r>
            <a:endParaRPr lang="en-US" sz="800" i="1" dirty="0"/>
          </a:p>
        </p:txBody>
      </p:sp>
    </p:spTree>
    <p:extLst>
      <p:ext uri="{BB962C8B-B14F-4D97-AF65-F5344CB8AC3E}">
        <p14:creationId xmlns:p14="http://schemas.microsoft.com/office/powerpoint/2010/main" val="1972054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0263A-5B8B-9ADC-8C18-1814510F77BA}"/>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B765F709-7029-B078-88DF-C268665F39B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E6B510C7-9487-0931-2643-72AF0C6BB88C}"/>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A7433AB1-BD41-405F-98E8-0525133CFE9B}"/>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Open Questions</a:t>
            </a:r>
          </a:p>
          <a:p>
            <a:endParaRPr lang="en-US" sz="1500" dirty="0"/>
          </a:p>
        </p:txBody>
      </p:sp>
      <p:sp>
        <p:nvSpPr>
          <p:cNvPr id="3" name="Textfeld 2">
            <a:extLst>
              <a:ext uri="{FF2B5EF4-FFF2-40B4-BE49-F238E27FC236}">
                <a16:creationId xmlns:a16="http://schemas.microsoft.com/office/drawing/2014/main" id="{97FEB37A-2A26-B543-0EA7-8E649CC4CF16}"/>
              </a:ext>
            </a:extLst>
          </p:cNvPr>
          <p:cNvSpPr txBox="1"/>
          <p:nvPr/>
        </p:nvSpPr>
        <p:spPr>
          <a:xfrm flipH="1">
            <a:off x="594250" y="1520113"/>
            <a:ext cx="2597678" cy="3231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de-DE" sz="1500" dirty="0"/>
              <a:t>Brain </a:t>
            </a:r>
            <a:r>
              <a:rPr lang="de-DE" sz="1500" dirty="0" err="1"/>
              <a:t>processing</a:t>
            </a:r>
            <a:endParaRPr lang="en-US" sz="1500" dirty="0"/>
          </a:p>
        </p:txBody>
      </p:sp>
      <p:sp>
        <p:nvSpPr>
          <p:cNvPr id="5" name="Textfeld 4">
            <a:extLst>
              <a:ext uri="{FF2B5EF4-FFF2-40B4-BE49-F238E27FC236}">
                <a16:creationId xmlns:a16="http://schemas.microsoft.com/office/drawing/2014/main" id="{FB8DE5E6-0705-7B3F-A296-DFCFBF8F27A3}"/>
              </a:ext>
            </a:extLst>
          </p:cNvPr>
          <p:cNvSpPr txBox="1"/>
          <p:nvPr/>
        </p:nvSpPr>
        <p:spPr>
          <a:xfrm flipH="1">
            <a:off x="594250" y="2340894"/>
            <a:ext cx="2597678" cy="3231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500" dirty="0"/>
              <a:t>Individual differences</a:t>
            </a:r>
          </a:p>
        </p:txBody>
      </p:sp>
      <p:sp>
        <p:nvSpPr>
          <p:cNvPr id="10" name="Textfeld 9">
            <a:extLst>
              <a:ext uri="{FF2B5EF4-FFF2-40B4-BE49-F238E27FC236}">
                <a16:creationId xmlns:a16="http://schemas.microsoft.com/office/drawing/2014/main" id="{96AD5C0A-F5F3-A4AC-E071-7445F252B062}"/>
              </a:ext>
            </a:extLst>
          </p:cNvPr>
          <p:cNvSpPr txBox="1"/>
          <p:nvPr/>
        </p:nvSpPr>
        <p:spPr>
          <a:xfrm flipH="1">
            <a:off x="3473441" y="2340894"/>
            <a:ext cx="2597678" cy="3231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500" dirty="0" err="1"/>
              <a:t>Flexibilitx</a:t>
            </a:r>
            <a:endParaRPr lang="en-US" sz="1500" dirty="0"/>
          </a:p>
        </p:txBody>
      </p:sp>
      <p:sp>
        <p:nvSpPr>
          <p:cNvPr id="11" name="Textfeld 10">
            <a:extLst>
              <a:ext uri="{FF2B5EF4-FFF2-40B4-BE49-F238E27FC236}">
                <a16:creationId xmlns:a16="http://schemas.microsoft.com/office/drawing/2014/main" id="{53EA0412-B679-FD51-51AE-E93AF6C25876}"/>
              </a:ext>
            </a:extLst>
          </p:cNvPr>
          <p:cNvSpPr txBox="1"/>
          <p:nvPr/>
        </p:nvSpPr>
        <p:spPr>
          <a:xfrm flipH="1">
            <a:off x="3473441" y="1520114"/>
            <a:ext cx="2597678" cy="3231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US" sz="1500" dirty="0"/>
              <a:t>Context dependence</a:t>
            </a:r>
          </a:p>
        </p:txBody>
      </p:sp>
      <p:pic>
        <p:nvPicPr>
          <p:cNvPr id="13" name="Grafik 12" descr="Ein Bild, das Text, Screenshot, Schrift, Design enthält.&#10;&#10;Automatisch generierte Beschreibung">
            <a:extLst>
              <a:ext uri="{FF2B5EF4-FFF2-40B4-BE49-F238E27FC236}">
                <a16:creationId xmlns:a16="http://schemas.microsoft.com/office/drawing/2014/main" id="{6C1925B4-8FEC-E6A5-37E2-EA6F46A000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81927" y="3305298"/>
            <a:ext cx="3591329" cy="1004066"/>
          </a:xfrm>
          <a:prstGeom prst="rect">
            <a:avLst/>
          </a:prstGeom>
        </p:spPr>
      </p:pic>
    </p:spTree>
    <p:extLst>
      <p:ext uri="{BB962C8B-B14F-4D97-AF65-F5344CB8AC3E}">
        <p14:creationId xmlns:p14="http://schemas.microsoft.com/office/powerpoint/2010/main" val="24241384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F0170-2D48-B52D-A71A-7D1F00BB7BD2}"/>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0C5193F5-8CD6-294B-6C3C-05A695BD5277}"/>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DDA4AF36-CA95-1AF0-A396-87C67486CA0A}"/>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15944784-5BD3-40A1-5B70-80012692BD31}"/>
              </a:ext>
            </a:extLst>
          </p:cNvPr>
          <p:cNvSpPr txBox="1"/>
          <p:nvPr/>
        </p:nvSpPr>
        <p:spPr>
          <a:xfrm>
            <a:off x="340096" y="440204"/>
            <a:ext cx="3735088" cy="155559"/>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Voice Communication Sciences (</a:t>
            </a:r>
            <a:r>
              <a:rPr lang="en-US" sz="1500" dirty="0" err="1"/>
              <a:t>VoCS</a:t>
            </a:r>
            <a:r>
              <a:rPr lang="en-US" sz="1500" dirty="0"/>
              <a:t>) in Europa</a:t>
            </a:r>
          </a:p>
          <a:p>
            <a:endParaRPr lang="en-US" sz="1500" dirty="0"/>
          </a:p>
        </p:txBody>
      </p:sp>
      <p:pic>
        <p:nvPicPr>
          <p:cNvPr id="2050" name="Picture 2" descr="VoCS">
            <a:extLst>
              <a:ext uri="{FF2B5EF4-FFF2-40B4-BE49-F238E27FC236}">
                <a16:creationId xmlns:a16="http://schemas.microsoft.com/office/drawing/2014/main" id="{1E6008CA-1C9B-77BD-7F41-AE9DAF0DAC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6594" y="440204"/>
            <a:ext cx="1756877" cy="515351"/>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E1E1EBC2-E3CD-0EED-B147-343FC30087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3590" y="1055622"/>
            <a:ext cx="4294918" cy="3204288"/>
          </a:xfrm>
          <a:prstGeom prst="rect">
            <a:avLst/>
          </a:prstGeom>
          <a:noFill/>
          <a:extLst>
            <a:ext uri="{909E8E84-426E-40DD-AFC4-6F175D3DCCD1}">
              <a14:hiddenFill xmlns:a14="http://schemas.microsoft.com/office/drawing/2010/main">
                <a:solidFill>
                  <a:srgbClr val="FFFFFF"/>
                </a:solidFill>
              </a14:hiddenFill>
            </a:ext>
          </a:extLst>
        </p:spPr>
      </p:pic>
      <p:pic>
        <p:nvPicPr>
          <p:cNvPr id="9" name="Grafik 8">
            <a:extLst>
              <a:ext uri="{FF2B5EF4-FFF2-40B4-BE49-F238E27FC236}">
                <a16:creationId xmlns:a16="http://schemas.microsoft.com/office/drawing/2014/main" id="{EEA53FD4-9321-767D-80A1-7AB3011486E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38094" y="955555"/>
            <a:ext cx="577601" cy="577601"/>
          </a:xfrm>
          <a:prstGeom prst="rect">
            <a:avLst/>
          </a:prstGeom>
        </p:spPr>
      </p:pic>
    </p:spTree>
    <p:extLst>
      <p:ext uri="{BB962C8B-B14F-4D97-AF65-F5344CB8AC3E}">
        <p14:creationId xmlns:p14="http://schemas.microsoft.com/office/powerpoint/2010/main" val="44312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8DE26-5A5C-6AD2-E976-EDD101FD894B}"/>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0827AAB2-2552-7277-DB37-D97C4C33CA33}"/>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41ACE860-D714-1DC2-6F68-BC849E558890}"/>
              </a:ext>
            </a:extLst>
          </p:cNvPr>
          <p:cNvSpPr>
            <a:spLocks noGrp="1"/>
          </p:cNvSpPr>
          <p:nvPr>
            <p:ph type="body" sz="quarter" idx="11"/>
          </p:nvPr>
        </p:nvSpPr>
        <p:spPr/>
        <p:txBody>
          <a:bodyPr/>
          <a:lstStyle/>
          <a:p>
            <a:endParaRPr lang="en-US" dirty="0"/>
          </a:p>
        </p:txBody>
      </p:sp>
      <p:pic>
        <p:nvPicPr>
          <p:cNvPr id="10" name="Grafik 9">
            <a:extLst>
              <a:ext uri="{FF2B5EF4-FFF2-40B4-BE49-F238E27FC236}">
                <a16:creationId xmlns:a16="http://schemas.microsoft.com/office/drawing/2014/main" id="{334D53F3-4094-DA77-3506-614634DF5524}"/>
              </a:ext>
            </a:extLst>
          </p:cNvPr>
          <p:cNvPicPr>
            <a:picLocks noChangeAspect="1"/>
          </p:cNvPicPr>
          <p:nvPr/>
        </p:nvPicPr>
        <p:blipFill>
          <a:blip r:embed="rId3" cstate="print">
            <a:extLst>
              <a:ext uri="{28A0092B-C50C-407E-A947-70E740481C1C}">
                <a14:useLocalDpi xmlns:a14="http://schemas.microsoft.com/office/drawing/2010/main" val="0"/>
              </a:ext>
            </a:extLst>
          </a:blip>
          <a:srcRect r="2743"/>
          <a:stretch>
            <a:fillRect/>
          </a:stretch>
        </p:blipFill>
        <p:spPr>
          <a:xfrm>
            <a:off x="1" y="0"/>
            <a:ext cx="6858000" cy="4509796"/>
          </a:xfrm>
          <a:prstGeom prst="rect">
            <a:avLst/>
          </a:prstGeom>
        </p:spPr>
      </p:pic>
    </p:spTree>
    <p:extLst>
      <p:ext uri="{BB962C8B-B14F-4D97-AF65-F5344CB8AC3E}">
        <p14:creationId xmlns:p14="http://schemas.microsoft.com/office/powerpoint/2010/main" val="27018074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fik 9" descr="Ein Bild, das dunkel, Vorhang, groß, Uhr enthält.&#10;&#10;Automatisch generierte Beschreibung">
            <a:extLst>
              <a:ext uri="{FF2B5EF4-FFF2-40B4-BE49-F238E27FC236}">
                <a16:creationId xmlns:a16="http://schemas.microsoft.com/office/drawing/2014/main" id="{CC5BF39F-47D4-4797-B6C2-DE3E5F098AC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6858000" cy="4500000"/>
          </a:xfrm>
          <a:prstGeom prst="rect">
            <a:avLst/>
          </a:prstGeom>
        </p:spPr>
      </p:pic>
      <p:grpSp>
        <p:nvGrpSpPr>
          <p:cNvPr id="11" name="Gruppieren 10">
            <a:extLst>
              <a:ext uri="{FF2B5EF4-FFF2-40B4-BE49-F238E27FC236}">
                <a16:creationId xmlns:a16="http://schemas.microsoft.com/office/drawing/2014/main" id="{EB9EFDE1-D0FB-B407-A424-28A8135DF0C1}"/>
              </a:ext>
            </a:extLst>
          </p:cNvPr>
          <p:cNvGrpSpPr/>
          <p:nvPr/>
        </p:nvGrpSpPr>
        <p:grpSpPr>
          <a:xfrm>
            <a:off x="359621" y="3033280"/>
            <a:ext cx="4022967" cy="804503"/>
            <a:chOff x="-549698" y="3033280"/>
            <a:chExt cx="3069378" cy="804503"/>
          </a:xfrm>
        </p:grpSpPr>
        <p:sp>
          <p:nvSpPr>
            <p:cNvPr id="5" name="Rechteck 4"/>
            <p:cNvSpPr/>
            <p:nvPr/>
          </p:nvSpPr>
          <p:spPr>
            <a:xfrm>
              <a:off x="-549698" y="3033280"/>
              <a:ext cx="3069378" cy="804503"/>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7" name="Textfeld 6"/>
            <p:cNvSpPr txBox="1"/>
            <p:nvPr/>
          </p:nvSpPr>
          <p:spPr>
            <a:xfrm>
              <a:off x="-409849" y="3279025"/>
              <a:ext cx="2689499" cy="530915"/>
            </a:xfrm>
            <a:prstGeom prst="rect">
              <a:avLst/>
            </a:prstGeom>
            <a:noFill/>
          </p:spPr>
          <p:txBody>
            <a:bodyPr wrap="square" lIns="0" tIns="0" rIns="0" bIns="0" rtlCol="0">
              <a:noAutofit/>
            </a:bodyPr>
            <a:lstStyle/>
            <a:p>
              <a:r>
                <a:rPr lang="en-US" sz="1500" dirty="0"/>
                <a:t>Thank you for your attention </a:t>
              </a:r>
              <a:r>
                <a:rPr lang="en-US" sz="1500" dirty="0">
                  <a:sym typeface="Wingdings" panose="05000000000000000000" pitchFamily="2" charset="2"/>
                </a:rPr>
                <a:t></a:t>
              </a:r>
              <a:endParaRPr lang="en-US" sz="1500" dirty="0"/>
            </a:p>
          </p:txBody>
        </p:sp>
      </p:grpSp>
      <p:sp>
        <p:nvSpPr>
          <p:cNvPr id="3" name="Textplatzhalter 2">
            <a:extLst>
              <a:ext uri="{FF2B5EF4-FFF2-40B4-BE49-F238E27FC236}">
                <a16:creationId xmlns:a16="http://schemas.microsoft.com/office/drawing/2014/main" id="{1344E112-E982-451A-A302-F14F9A908B73}"/>
              </a:ext>
            </a:extLst>
          </p:cNvPr>
          <p:cNvSpPr>
            <a:spLocks noGrp="1"/>
          </p:cNvSpPr>
          <p:nvPr>
            <p:ph type="body" sz="quarter" idx="11"/>
          </p:nvPr>
        </p:nvSpPr>
        <p:spPr/>
        <p:txBody>
          <a:bodyPr/>
          <a:lstStyle/>
          <a:p>
            <a:endParaRPr lang="en-US" dirty="0"/>
          </a:p>
        </p:txBody>
      </p:sp>
      <p:cxnSp>
        <p:nvCxnSpPr>
          <p:cNvPr id="6" name="Gerade Verbindung 15"/>
          <p:cNvCxnSpPr/>
          <p:nvPr/>
        </p:nvCxnSpPr>
        <p:spPr>
          <a:xfrm>
            <a:off x="499471" y="3215725"/>
            <a:ext cx="2700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4647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99B13-347D-08EB-6CF1-ABD628BD41B5}"/>
            </a:ext>
          </a:extLst>
        </p:cNvPr>
        <p:cNvGrpSpPr/>
        <p:nvPr/>
      </p:nvGrpSpPr>
      <p:grpSpPr>
        <a:xfrm>
          <a:off x="0" y="0"/>
          <a:ext cx="0" cy="0"/>
          <a:chOff x="0" y="0"/>
          <a:chExt cx="0" cy="0"/>
        </a:xfrm>
      </p:grpSpPr>
      <p:sp>
        <p:nvSpPr>
          <p:cNvPr id="6" name="Textplatzhalter 5">
            <a:extLst>
              <a:ext uri="{FF2B5EF4-FFF2-40B4-BE49-F238E27FC236}">
                <a16:creationId xmlns:a16="http://schemas.microsoft.com/office/drawing/2014/main" id="{71E7A699-6F2F-2C93-B60A-1DBA1728BA41}"/>
              </a:ext>
            </a:extLst>
          </p:cNvPr>
          <p:cNvSpPr>
            <a:spLocks noGrp="1"/>
          </p:cNvSpPr>
          <p:nvPr>
            <p:ph type="body" sz="quarter" idx="11"/>
          </p:nvPr>
        </p:nvSpPr>
        <p:spPr/>
        <p:txBody>
          <a:bodyPr/>
          <a:lstStyle/>
          <a:p>
            <a:endParaRPr lang="en-US" dirty="0"/>
          </a:p>
        </p:txBody>
      </p:sp>
      <p:pic>
        <p:nvPicPr>
          <p:cNvPr id="5" name="Grafik 4">
            <a:extLst>
              <a:ext uri="{FF2B5EF4-FFF2-40B4-BE49-F238E27FC236}">
                <a16:creationId xmlns:a16="http://schemas.microsoft.com/office/drawing/2014/main" id="{17BD0EA2-BDCD-C054-12BD-D1A864C43105}"/>
              </a:ext>
            </a:extLst>
          </p:cNvPr>
          <p:cNvPicPr>
            <a:picLocks noChangeAspect="1"/>
          </p:cNvPicPr>
          <p:nvPr/>
        </p:nvPicPr>
        <p:blipFill>
          <a:blip r:embed="rId3"/>
          <a:stretch>
            <a:fillRect/>
          </a:stretch>
        </p:blipFill>
        <p:spPr>
          <a:xfrm>
            <a:off x="259702" y="279730"/>
            <a:ext cx="4834812" cy="1971337"/>
          </a:xfrm>
          <a:prstGeom prst="rect">
            <a:avLst/>
          </a:prstGeom>
        </p:spPr>
      </p:pic>
      <p:cxnSp>
        <p:nvCxnSpPr>
          <p:cNvPr id="2" name="Gerade Verbindung 9">
            <a:extLst>
              <a:ext uri="{FF2B5EF4-FFF2-40B4-BE49-F238E27FC236}">
                <a16:creationId xmlns:a16="http://schemas.microsoft.com/office/drawing/2014/main" id="{A3BDAED6-C640-B3E7-F727-8886A7BF8CB4}"/>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Grafik 8">
            <a:extLst>
              <a:ext uri="{FF2B5EF4-FFF2-40B4-BE49-F238E27FC236}">
                <a16:creationId xmlns:a16="http://schemas.microsoft.com/office/drawing/2014/main" id="{FD15F2CD-70BC-282D-9BEF-BDC70659D4D2}"/>
              </a:ext>
            </a:extLst>
          </p:cNvPr>
          <p:cNvPicPr>
            <a:picLocks noChangeAspect="1"/>
          </p:cNvPicPr>
          <p:nvPr/>
        </p:nvPicPr>
        <p:blipFill>
          <a:blip r:embed="rId4"/>
          <a:stretch>
            <a:fillRect/>
          </a:stretch>
        </p:blipFill>
        <p:spPr>
          <a:xfrm>
            <a:off x="5142314" y="526028"/>
            <a:ext cx="1588168" cy="1040694"/>
          </a:xfrm>
          <a:prstGeom prst="rect">
            <a:avLst/>
          </a:prstGeom>
        </p:spPr>
      </p:pic>
      <p:pic>
        <p:nvPicPr>
          <p:cNvPr id="12" name="Grafik 11">
            <a:extLst>
              <a:ext uri="{FF2B5EF4-FFF2-40B4-BE49-F238E27FC236}">
                <a16:creationId xmlns:a16="http://schemas.microsoft.com/office/drawing/2014/main" id="{F595F826-9509-AC1B-E319-141F153CE137}"/>
              </a:ext>
            </a:extLst>
          </p:cNvPr>
          <p:cNvPicPr>
            <a:picLocks noChangeAspect="1"/>
          </p:cNvPicPr>
          <p:nvPr/>
        </p:nvPicPr>
        <p:blipFill>
          <a:blip r:embed="rId5"/>
          <a:stretch>
            <a:fillRect/>
          </a:stretch>
        </p:blipFill>
        <p:spPr>
          <a:xfrm>
            <a:off x="5142314" y="1575701"/>
            <a:ext cx="1588168" cy="1014804"/>
          </a:xfrm>
          <a:prstGeom prst="rect">
            <a:avLst/>
          </a:prstGeom>
        </p:spPr>
      </p:pic>
      <p:pic>
        <p:nvPicPr>
          <p:cNvPr id="16" name="Grafik 15">
            <a:extLst>
              <a:ext uri="{FF2B5EF4-FFF2-40B4-BE49-F238E27FC236}">
                <a16:creationId xmlns:a16="http://schemas.microsoft.com/office/drawing/2014/main" id="{363A7E8F-FE8B-45E3-D526-B575464847EC}"/>
              </a:ext>
            </a:extLst>
          </p:cNvPr>
          <p:cNvPicPr>
            <a:picLocks noChangeAspect="1"/>
          </p:cNvPicPr>
          <p:nvPr/>
        </p:nvPicPr>
        <p:blipFill>
          <a:blip r:embed="rId6"/>
          <a:stretch>
            <a:fillRect/>
          </a:stretch>
        </p:blipFill>
        <p:spPr>
          <a:xfrm>
            <a:off x="2977065" y="2330586"/>
            <a:ext cx="1953461" cy="1971338"/>
          </a:xfrm>
          <a:prstGeom prst="rect">
            <a:avLst/>
          </a:prstGeom>
        </p:spPr>
      </p:pic>
      <p:pic>
        <p:nvPicPr>
          <p:cNvPr id="18" name="Grafik 17">
            <a:extLst>
              <a:ext uri="{FF2B5EF4-FFF2-40B4-BE49-F238E27FC236}">
                <a16:creationId xmlns:a16="http://schemas.microsoft.com/office/drawing/2014/main" id="{0C2B9116-1643-3191-A3D1-C87FC1C864C1}"/>
              </a:ext>
            </a:extLst>
          </p:cNvPr>
          <p:cNvPicPr>
            <a:picLocks noChangeAspect="1"/>
          </p:cNvPicPr>
          <p:nvPr/>
        </p:nvPicPr>
        <p:blipFill>
          <a:blip r:embed="rId7"/>
          <a:stretch>
            <a:fillRect/>
          </a:stretch>
        </p:blipFill>
        <p:spPr>
          <a:xfrm>
            <a:off x="686991" y="2330585"/>
            <a:ext cx="1955336" cy="1971338"/>
          </a:xfrm>
          <a:prstGeom prst="rect">
            <a:avLst/>
          </a:prstGeom>
        </p:spPr>
      </p:pic>
    </p:spTree>
    <p:extLst>
      <p:ext uri="{BB962C8B-B14F-4D97-AF65-F5344CB8AC3E}">
        <p14:creationId xmlns:p14="http://schemas.microsoft.com/office/powerpoint/2010/main" val="32377657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73F23-9E61-BB2D-0C56-23667A1DA787}"/>
            </a:ext>
          </a:extLst>
        </p:cNvPr>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D51D5C92-5950-CEC8-CEAA-BF030372EBBD}"/>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platzhalter 5">
            <a:extLst>
              <a:ext uri="{FF2B5EF4-FFF2-40B4-BE49-F238E27FC236}">
                <a16:creationId xmlns:a16="http://schemas.microsoft.com/office/drawing/2014/main" id="{9E41FE3F-E708-E265-7843-30370DB450CD}"/>
              </a:ext>
            </a:extLst>
          </p:cNvPr>
          <p:cNvSpPr>
            <a:spLocks noGrp="1"/>
          </p:cNvSpPr>
          <p:nvPr>
            <p:ph type="body" sz="quarter" idx="11"/>
          </p:nvPr>
        </p:nvSpPr>
        <p:spPr/>
        <p:txBody>
          <a:bodyPr/>
          <a:lstStyle/>
          <a:p>
            <a:endParaRPr lang="en-US" dirty="0"/>
          </a:p>
        </p:txBody>
      </p:sp>
      <p:sp>
        <p:nvSpPr>
          <p:cNvPr id="8" name="Textfeld 7">
            <a:extLst>
              <a:ext uri="{FF2B5EF4-FFF2-40B4-BE49-F238E27FC236}">
                <a16:creationId xmlns:a16="http://schemas.microsoft.com/office/drawing/2014/main" id="{0AEA241F-0C7A-32C8-6DC3-E8A0ACA209CC}"/>
              </a:ext>
            </a:extLst>
          </p:cNvPr>
          <p:cNvSpPr txBox="1"/>
          <p:nvPr/>
        </p:nvSpPr>
        <p:spPr>
          <a:xfrm>
            <a:off x="340095" y="398809"/>
            <a:ext cx="4868277"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Understanding voice perception</a:t>
            </a:r>
          </a:p>
        </p:txBody>
      </p:sp>
      <p:sp>
        <p:nvSpPr>
          <p:cNvPr id="10" name="Textfeld 9">
            <a:extLst>
              <a:ext uri="{FF2B5EF4-FFF2-40B4-BE49-F238E27FC236}">
                <a16:creationId xmlns:a16="http://schemas.microsoft.com/office/drawing/2014/main" id="{D5649F11-A2BD-6BDE-2048-742BFE419D04}"/>
              </a:ext>
            </a:extLst>
          </p:cNvPr>
          <p:cNvSpPr txBox="1"/>
          <p:nvPr/>
        </p:nvSpPr>
        <p:spPr>
          <a:xfrm>
            <a:off x="4857488" y="4111563"/>
            <a:ext cx="1217000" cy="276999"/>
          </a:xfrm>
          <a:prstGeom prst="rect">
            <a:avLst/>
          </a:prstGeom>
          <a:noFill/>
        </p:spPr>
        <p:txBody>
          <a:bodyPr wrap="none" rtlCol="0">
            <a:spAutoFit/>
          </a:bodyPr>
          <a:lstStyle/>
          <a:p>
            <a:r>
              <a:rPr lang="en-US" sz="1200" dirty="0"/>
              <a:t>Belin et al (2011)</a:t>
            </a:r>
          </a:p>
        </p:txBody>
      </p:sp>
      <p:pic>
        <p:nvPicPr>
          <p:cNvPr id="4" name="Grafik 3">
            <a:extLst>
              <a:ext uri="{FF2B5EF4-FFF2-40B4-BE49-F238E27FC236}">
                <a16:creationId xmlns:a16="http://schemas.microsoft.com/office/drawing/2014/main" id="{D24B790A-90D7-D672-B202-87713CF92EAE}"/>
              </a:ext>
            </a:extLst>
          </p:cNvPr>
          <p:cNvPicPr>
            <a:picLocks noChangeAspect="1"/>
          </p:cNvPicPr>
          <p:nvPr/>
        </p:nvPicPr>
        <p:blipFill>
          <a:blip r:embed="rId3"/>
          <a:stretch>
            <a:fillRect/>
          </a:stretch>
        </p:blipFill>
        <p:spPr>
          <a:xfrm>
            <a:off x="756517" y="963373"/>
            <a:ext cx="5344966" cy="3093982"/>
          </a:xfrm>
          <a:prstGeom prst="rect">
            <a:avLst/>
          </a:prstGeom>
        </p:spPr>
      </p:pic>
    </p:spTree>
    <p:extLst>
      <p:ext uri="{BB962C8B-B14F-4D97-AF65-F5344CB8AC3E}">
        <p14:creationId xmlns:p14="http://schemas.microsoft.com/office/powerpoint/2010/main" val="5919135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Gerade Verbindung 9">
            <a:extLst>
              <a:ext uri="{FF2B5EF4-FFF2-40B4-BE49-F238E27FC236}">
                <a16:creationId xmlns:a16="http://schemas.microsoft.com/office/drawing/2014/main" id="{5A4CBE88-6C5D-4FB8-9316-1A0A18DD7B01}"/>
              </a:ext>
            </a:extLst>
          </p:cNvPr>
          <p:cNvCxnSpPr/>
          <p:nvPr/>
        </p:nvCxnSpPr>
        <p:spPr>
          <a:xfrm>
            <a:off x="340096" y="359248"/>
            <a:ext cx="34689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feld 2">
            <a:extLst>
              <a:ext uri="{FF2B5EF4-FFF2-40B4-BE49-F238E27FC236}">
                <a16:creationId xmlns:a16="http://schemas.microsoft.com/office/drawing/2014/main" id="{B887D69D-C009-4130-9A52-0639259A2ABD}"/>
              </a:ext>
            </a:extLst>
          </p:cNvPr>
          <p:cNvSpPr txBox="1"/>
          <p:nvPr/>
        </p:nvSpPr>
        <p:spPr>
          <a:xfrm>
            <a:off x="340096" y="440204"/>
            <a:ext cx="6074992" cy="272450"/>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oAutofit/>
          </a:bodyPr>
          <a:lstStyle/>
          <a:p>
            <a:r>
              <a:rPr lang="en-US" sz="1500" dirty="0"/>
              <a:t>Person Perception from Voices (PPV)</a:t>
            </a:r>
          </a:p>
        </p:txBody>
      </p:sp>
      <p:sp>
        <p:nvSpPr>
          <p:cNvPr id="6" name="Textplatzhalter 5">
            <a:extLst>
              <a:ext uri="{FF2B5EF4-FFF2-40B4-BE49-F238E27FC236}">
                <a16:creationId xmlns:a16="http://schemas.microsoft.com/office/drawing/2014/main" id="{E06B5722-213E-4240-8C49-D2BB90B5D457}"/>
              </a:ext>
            </a:extLst>
          </p:cNvPr>
          <p:cNvSpPr>
            <a:spLocks noGrp="1"/>
          </p:cNvSpPr>
          <p:nvPr>
            <p:ph type="body" sz="quarter" idx="11"/>
          </p:nvPr>
        </p:nvSpPr>
        <p:spPr/>
        <p:txBody>
          <a:bodyPr/>
          <a:lstStyle/>
          <a:p>
            <a:endParaRPr lang="en-US" dirty="0"/>
          </a:p>
        </p:txBody>
      </p:sp>
      <p:pic>
        <p:nvPicPr>
          <p:cNvPr id="8" name="Grafik 7">
            <a:extLst>
              <a:ext uri="{FF2B5EF4-FFF2-40B4-BE49-F238E27FC236}">
                <a16:creationId xmlns:a16="http://schemas.microsoft.com/office/drawing/2014/main" id="{F1E16443-6563-D8EF-2502-1795F5C5A451}"/>
              </a:ext>
            </a:extLst>
          </p:cNvPr>
          <p:cNvPicPr>
            <a:picLocks noChangeAspect="1"/>
          </p:cNvPicPr>
          <p:nvPr/>
        </p:nvPicPr>
        <p:blipFill>
          <a:blip r:embed="rId3"/>
          <a:stretch>
            <a:fillRect/>
          </a:stretch>
        </p:blipFill>
        <p:spPr>
          <a:xfrm>
            <a:off x="221456" y="1012378"/>
            <a:ext cx="6415088" cy="3040678"/>
          </a:xfrm>
          <a:prstGeom prst="rect">
            <a:avLst/>
          </a:prstGeom>
        </p:spPr>
      </p:pic>
      <p:sp>
        <p:nvSpPr>
          <p:cNvPr id="5" name="Textfeld 4">
            <a:extLst>
              <a:ext uri="{FF2B5EF4-FFF2-40B4-BE49-F238E27FC236}">
                <a16:creationId xmlns:a16="http://schemas.microsoft.com/office/drawing/2014/main" id="{FBBCCB91-C694-E1DB-D69E-1ACFBCB66AAC}"/>
              </a:ext>
            </a:extLst>
          </p:cNvPr>
          <p:cNvSpPr txBox="1"/>
          <p:nvPr/>
        </p:nvSpPr>
        <p:spPr>
          <a:xfrm>
            <a:off x="3034862" y="2780382"/>
            <a:ext cx="788276" cy="230832"/>
          </a:xfrm>
          <a:prstGeom prst="rect">
            <a:avLst/>
          </a:prstGeom>
          <a:noFill/>
        </p:spPr>
        <p:txBody>
          <a:bodyPr wrap="square" rtlCol="0">
            <a:spAutoFit/>
          </a:bodyPr>
          <a:lstStyle/>
          <a:p>
            <a:r>
              <a:rPr lang="de-DE" sz="900" dirty="0">
                <a:highlight>
                  <a:srgbClr val="C0C0C0"/>
                </a:highlight>
              </a:rPr>
              <a:t>Naturalness</a:t>
            </a:r>
            <a:endParaRPr lang="en-US" sz="900" dirty="0">
              <a:highlight>
                <a:srgbClr val="C0C0C0"/>
              </a:highlight>
            </a:endParaRPr>
          </a:p>
        </p:txBody>
      </p:sp>
      <p:sp>
        <p:nvSpPr>
          <p:cNvPr id="7" name="Textfeld 6">
            <a:extLst>
              <a:ext uri="{FF2B5EF4-FFF2-40B4-BE49-F238E27FC236}">
                <a16:creationId xmlns:a16="http://schemas.microsoft.com/office/drawing/2014/main" id="{2B29EC58-CF60-4485-B05A-CF94C5313637}"/>
              </a:ext>
            </a:extLst>
          </p:cNvPr>
          <p:cNvSpPr txBox="1"/>
          <p:nvPr/>
        </p:nvSpPr>
        <p:spPr>
          <a:xfrm>
            <a:off x="5490318" y="4270997"/>
            <a:ext cx="1420582" cy="230832"/>
          </a:xfrm>
          <a:prstGeom prst="rect">
            <a:avLst/>
          </a:prstGeom>
          <a:noFill/>
        </p:spPr>
        <p:txBody>
          <a:bodyPr wrap="none" rtlCol="0">
            <a:spAutoFit/>
          </a:bodyPr>
          <a:lstStyle/>
          <a:p>
            <a:r>
              <a:rPr lang="de-DE" sz="900" dirty="0"/>
              <a:t>(</a:t>
            </a:r>
            <a:r>
              <a:rPr lang="de-DE" sz="900" dirty="0" err="1"/>
              <a:t>Lavan</a:t>
            </a:r>
            <a:r>
              <a:rPr lang="de-DE" sz="900" dirty="0"/>
              <a:t> &amp; </a:t>
            </a:r>
            <a:r>
              <a:rPr lang="de-DE" sz="900" dirty="0" err="1"/>
              <a:t>McGettigan</a:t>
            </a:r>
            <a:r>
              <a:rPr lang="de-DE" sz="900" dirty="0"/>
              <a:t> 2023)</a:t>
            </a:r>
          </a:p>
        </p:txBody>
      </p:sp>
    </p:spTree>
    <p:extLst>
      <p:ext uri="{BB962C8B-B14F-4D97-AF65-F5344CB8AC3E}">
        <p14:creationId xmlns:p14="http://schemas.microsoft.com/office/powerpoint/2010/main" val="2504761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Universität Jena Blau">
  <a:themeElements>
    <a:clrScheme name="Universität">
      <a:dk1>
        <a:srgbClr val="002F5D"/>
      </a:dk1>
      <a:lt1>
        <a:srgbClr val="FFFFFF"/>
      </a:lt1>
      <a:dk2>
        <a:srgbClr val="002F5D"/>
      </a:dk2>
      <a:lt2>
        <a:srgbClr val="FFFFFF"/>
      </a:lt2>
      <a:accent1>
        <a:srgbClr val="AE9A63"/>
      </a:accent1>
      <a:accent2>
        <a:srgbClr val="7682A5"/>
      </a:accent2>
      <a:accent3>
        <a:srgbClr val="8E98B7"/>
      </a:accent3>
      <a:accent4>
        <a:srgbClr val="FFFFFF"/>
      </a:accent4>
      <a:accent5>
        <a:srgbClr val="FFFFFF"/>
      </a:accent5>
      <a:accent6>
        <a:srgbClr val="FFFFFF"/>
      </a:accent6>
      <a:hlink>
        <a:srgbClr val="7682A5"/>
      </a:hlink>
      <a:folHlink>
        <a:srgbClr val="A8AFC8"/>
      </a:folHlink>
    </a:clrScheme>
    <a:fontScheme name="Universität">
      <a:majorFont>
        <a:latin typeface="Palatino nova Medium"/>
        <a:ea typeface=""/>
        <a:cs typeface=""/>
      </a:majorFont>
      <a:minorFont>
        <a:latin typeface="Roboto Condensed"/>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80000"/>
          </a:schemeClr>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984</Words>
  <Application>Microsoft Office PowerPoint</Application>
  <PresentationFormat>Benutzerdefiniert</PresentationFormat>
  <Paragraphs>148</Paragraphs>
  <Slides>30</Slides>
  <Notes>30</Notes>
  <HiddenSlides>0</HiddenSlides>
  <MMClips>0</MMClips>
  <ScaleCrop>false</ScaleCrop>
  <HeadingPairs>
    <vt:vector size="8" baseType="variant">
      <vt:variant>
        <vt:lpstr>Verwendete Schriftarten</vt:lpstr>
      </vt:variant>
      <vt:variant>
        <vt:i4>5</vt:i4>
      </vt:variant>
      <vt:variant>
        <vt:lpstr>Design</vt:lpstr>
      </vt:variant>
      <vt:variant>
        <vt:i4>1</vt:i4>
      </vt:variant>
      <vt:variant>
        <vt:lpstr>Eingebettete OLE-Server</vt:lpstr>
      </vt:variant>
      <vt:variant>
        <vt:i4>1</vt:i4>
      </vt:variant>
      <vt:variant>
        <vt:lpstr>Folientitel</vt:lpstr>
      </vt:variant>
      <vt:variant>
        <vt:i4>30</vt:i4>
      </vt:variant>
    </vt:vector>
  </HeadingPairs>
  <TitlesOfParts>
    <vt:vector size="37" baseType="lpstr">
      <vt:lpstr>Wingdings</vt:lpstr>
      <vt:lpstr>Calibri</vt:lpstr>
      <vt:lpstr>Arial</vt:lpstr>
      <vt:lpstr>Roboto Condensed</vt:lpstr>
      <vt:lpstr>Palatino Linotype</vt:lpstr>
      <vt:lpstr>Universität Jena Blau</vt:lpstr>
      <vt:lpstr>Acrobat Document</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FSU Jena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Liana Franke</dc:creator>
  <cp:lastModifiedBy>christine.nussbaum</cp:lastModifiedBy>
  <cp:revision>1048</cp:revision>
  <cp:lastPrinted>2017-04-12T09:06:57Z</cp:lastPrinted>
  <dcterms:created xsi:type="dcterms:W3CDTF">2017-03-23T10:34:48Z</dcterms:created>
  <dcterms:modified xsi:type="dcterms:W3CDTF">2026-07-11T08:58:31Z</dcterms:modified>
</cp:coreProperties>
</file>